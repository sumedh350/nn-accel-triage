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51560"/>
            <a:ext cx="10332720" cy="365760"/>
          </a:xfrm>
          <a:prstGeom prst="rect">
            <a:avLst/>
          </a:prstGeom>
          <a:noFill/>
        </p:spPr>
        <p:txBody>
          <a:bodyPr wrap="square" lIns="0" rIns="0" tIns="0" bIns="0">
            <a:noAutofit/>
          </a:bodyPr>
          <a:lstStyle/>
          <a:p>
            <a:r>
              <a:rPr sz="1400" b="1" i="0">
                <a:solidFill>
                  <a:srgbClr val="F0A500"/>
                </a:solidFill>
                <a:latin typeface="Calibri"/>
              </a:rPr>
              <a:t>AGENTIC AI FOR RTL VERIFICATION</a:t>
            </a:r>
          </a:p>
        </p:txBody>
      </p:sp>
      <p:sp>
        <p:nvSpPr>
          <p:cNvPr id="5" name="TextBox 4"/>
          <p:cNvSpPr txBox="1"/>
          <p:nvPr/>
        </p:nvSpPr>
        <p:spPr>
          <a:xfrm>
            <a:off x="914400" y="1508760"/>
            <a:ext cx="10332720" cy="1828800"/>
          </a:xfrm>
          <a:prstGeom prst="rect">
            <a:avLst/>
          </a:prstGeom>
          <a:noFill/>
        </p:spPr>
        <p:txBody>
          <a:bodyPr wrap="square" lIns="0" rIns="0" tIns="0" bIns="0">
            <a:noAutofit/>
          </a:bodyPr>
          <a:lstStyle/>
          <a:p>
            <a:r>
              <a:rPr sz="3600" b="1" i="0">
                <a:solidFill>
                  <a:srgbClr val="FFFFFF"/>
                </a:solidFill>
                <a:latin typeface="Calibri"/>
              </a:rPr>
              <a:t>Agentic AI for Failure Triage and Root-Cause Hinting in NN Accelerator Verification</a:t>
            </a:r>
          </a:p>
        </p:txBody>
      </p:sp>
      <p:sp>
        <p:nvSpPr>
          <p:cNvPr id="6" name="TextBox 5"/>
          <p:cNvSpPr txBox="1"/>
          <p:nvPr/>
        </p:nvSpPr>
        <p:spPr>
          <a:xfrm>
            <a:off x="914400" y="3520440"/>
            <a:ext cx="10332720" cy="548640"/>
          </a:xfrm>
          <a:prstGeom prst="rect">
            <a:avLst/>
          </a:prstGeom>
          <a:noFill/>
        </p:spPr>
        <p:txBody>
          <a:bodyPr wrap="square" lIns="0" rIns="0" tIns="0" bIns="0">
            <a:noAutofit/>
          </a:bodyPr>
          <a:lstStyle/>
          <a:p>
            <a:r>
              <a:rPr sz="2000" b="0" i="1">
                <a:solidFill>
                  <a:srgbClr val="C7C9D9"/>
                </a:solidFill>
                <a:latin typeface="Calibri"/>
              </a:rPr>
              <a:t>An end-to-end AI pipeline for automated RTL verification triage</a:t>
            </a:r>
          </a:p>
        </p:txBody>
      </p:sp>
      <p:sp>
        <p:nvSpPr>
          <p:cNvPr id="7" name="TextBox 6"/>
          <p:cNvSpPr txBox="1"/>
          <p:nvPr/>
        </p:nvSpPr>
        <p:spPr>
          <a:xfrm>
            <a:off x="914400" y="4069080"/>
            <a:ext cx="10332720" cy="365760"/>
          </a:xfrm>
          <a:prstGeom prst="rect">
            <a:avLst/>
          </a:prstGeom>
          <a:noFill/>
        </p:spPr>
        <p:txBody>
          <a:bodyPr wrap="square" lIns="0" rIns="0" tIns="0" bIns="0">
            <a:noAutofit/>
          </a:bodyPr>
          <a:lstStyle/>
          <a:p>
            <a:r>
              <a:rPr sz="1600" b="0" i="0">
                <a:solidFill>
                  <a:srgbClr val="6F9CC4"/>
                </a:solidFill>
                <a:latin typeface="Calibri"/>
              </a:rPr>
              <a:t>July 2026</a:t>
            </a:r>
          </a:p>
        </p:txBody>
      </p:sp>
      <p:sp>
        <p:nvSpPr>
          <p:cNvPr id="8" name="TextBox 7"/>
          <p:cNvSpPr txBox="1"/>
          <p:nvPr/>
        </p:nvSpPr>
        <p:spPr>
          <a:xfrm>
            <a:off x="640080" y="5760720"/>
            <a:ext cx="2011680" cy="457200"/>
          </a:xfrm>
          <a:prstGeom prst="rect">
            <a:avLst/>
          </a:prstGeom>
          <a:noFill/>
        </p:spPr>
        <p:txBody>
          <a:bodyPr wrap="square" lIns="0" rIns="0" tIns="0" bIns="0">
            <a:noAutofit/>
          </a:bodyPr>
          <a:lstStyle/>
          <a:p>
            <a:pPr algn="ctr"/>
            <a:r>
              <a:rPr sz="1400" b="1" i="0">
                <a:solidFill>
                  <a:srgbClr val="F0A500"/>
                </a:solidFill>
                <a:latin typeface="Calibri"/>
              </a:rPr>
              <a:t>342x speedup</a:t>
            </a:r>
          </a:p>
        </p:txBody>
      </p:sp>
      <p:sp>
        <p:nvSpPr>
          <p:cNvPr id="9" name="TextBox 8"/>
          <p:cNvSpPr txBox="1"/>
          <p:nvPr/>
        </p:nvSpPr>
        <p:spPr>
          <a:xfrm>
            <a:off x="2865043" y="5760720"/>
            <a:ext cx="2011680" cy="457200"/>
          </a:xfrm>
          <a:prstGeom prst="rect">
            <a:avLst/>
          </a:prstGeom>
          <a:noFill/>
        </p:spPr>
        <p:txBody>
          <a:bodyPr wrap="square" lIns="0" rIns="0" tIns="0" bIns="0">
            <a:noAutofit/>
          </a:bodyPr>
          <a:lstStyle/>
          <a:p>
            <a:pPr algn="ctr"/>
            <a:r>
              <a:rPr sz="1400" b="1" i="0">
                <a:solidFill>
                  <a:srgbClr val="F0A500"/>
                </a:solidFill>
                <a:latin typeface="Calibri"/>
              </a:rPr>
              <a:t>96.5% accuracy</a:t>
            </a:r>
          </a:p>
        </p:txBody>
      </p:sp>
      <p:sp>
        <p:nvSpPr>
          <p:cNvPr id="10" name="TextBox 9"/>
          <p:cNvSpPr txBox="1"/>
          <p:nvPr/>
        </p:nvSpPr>
        <p:spPr>
          <a:xfrm>
            <a:off x="5090007" y="5760720"/>
            <a:ext cx="2011680" cy="457200"/>
          </a:xfrm>
          <a:prstGeom prst="rect">
            <a:avLst/>
          </a:prstGeom>
          <a:noFill/>
        </p:spPr>
        <p:txBody>
          <a:bodyPr wrap="square" lIns="0" rIns="0" tIns="0" bIns="0">
            <a:noAutofit/>
          </a:bodyPr>
          <a:lstStyle/>
          <a:p>
            <a:pPr algn="ctr"/>
            <a:r>
              <a:rPr sz="1400" b="1" i="0">
                <a:solidFill>
                  <a:srgbClr val="F0A500"/>
                </a:solidFill>
                <a:latin typeface="Calibri"/>
              </a:rPr>
              <a:t>131 tests</a:t>
            </a:r>
          </a:p>
        </p:txBody>
      </p:sp>
      <p:sp>
        <p:nvSpPr>
          <p:cNvPr id="11" name="TextBox 10"/>
          <p:cNvSpPr txBox="1"/>
          <p:nvPr/>
        </p:nvSpPr>
        <p:spPr>
          <a:xfrm>
            <a:off x="7314971" y="5760720"/>
            <a:ext cx="2011680" cy="457200"/>
          </a:xfrm>
          <a:prstGeom prst="rect">
            <a:avLst/>
          </a:prstGeom>
          <a:noFill/>
        </p:spPr>
        <p:txBody>
          <a:bodyPr wrap="square" lIns="0" rIns="0" tIns="0" bIns="0">
            <a:noAutofit/>
          </a:bodyPr>
          <a:lstStyle/>
          <a:p>
            <a:pPr algn="ctr"/>
            <a:r>
              <a:rPr sz="1400" b="1" i="0">
                <a:solidFill>
                  <a:srgbClr val="F0A500"/>
                </a:solidFill>
                <a:latin typeface="Calibri"/>
              </a:rPr>
              <a:t>255 records</a:t>
            </a:r>
          </a:p>
        </p:txBody>
      </p:sp>
      <p:sp>
        <p:nvSpPr>
          <p:cNvPr id="12" name="TextBox 11"/>
          <p:cNvSpPr txBox="1"/>
          <p:nvPr/>
        </p:nvSpPr>
        <p:spPr>
          <a:xfrm>
            <a:off x="9539935" y="5760720"/>
            <a:ext cx="2011680" cy="457200"/>
          </a:xfrm>
          <a:prstGeom prst="rect">
            <a:avLst/>
          </a:prstGeom>
          <a:noFill/>
        </p:spPr>
        <p:txBody>
          <a:bodyPr wrap="square" lIns="0" rIns="0" tIns="0" bIns="0">
            <a:noAutofit/>
          </a:bodyPr>
          <a:lstStyle/>
          <a:p>
            <a:pPr algn="ctr"/>
            <a:r>
              <a:rPr sz="1400" b="1" i="0">
                <a:solidFill>
                  <a:srgbClr val="F0A500"/>
                </a:solidFill>
                <a:latin typeface="Calibri"/>
              </a:rPr>
              <a:t>13 fault variants</a:t>
            </a:r>
          </a:p>
        </p:txBody>
      </p:sp>
      <p:sp>
        <p:nvSpPr>
          <p:cNvPr id="13" name="Rectangle 12"/>
          <p:cNvSpPr/>
          <p:nvPr/>
        </p:nvSpPr>
        <p:spPr>
          <a:xfrm>
            <a:off x="640080" y="5623560"/>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INTRODUCTION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The Problem</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02 / 40</a:t>
            </a:r>
          </a:p>
        </p:txBody>
      </p:sp>
      <p:sp>
        <p:nvSpPr>
          <p:cNvPr id="9" name="TextBox 8"/>
          <p:cNvSpPr txBox="1"/>
          <p:nvPr/>
        </p:nvSpPr>
        <p:spPr>
          <a:xfrm>
            <a:off x="640080" y="1508760"/>
            <a:ext cx="10911535" cy="1737360"/>
          </a:xfrm>
          <a:prstGeom prst="rect">
            <a:avLst/>
          </a:prstGeom>
          <a:noFill/>
        </p:spPr>
        <p:txBody>
          <a:bodyPr wrap="square" lIns="0" rIns="0" tIns="0" bIns="0">
            <a:noAutofit/>
          </a:bodyPr>
          <a:lstStyle/>
          <a:p>
            <a:pPr>
              <a:lnSpc>
                <a:spcPct val="120000"/>
              </a:lnSpc>
            </a:pPr>
            <a:r>
              <a:rPr sz="1600" b="0" i="0">
                <a:solidFill>
                  <a:srgbClr val="FFFFFF"/>
                </a:solidFill>
                <a:latin typeface="Calibri"/>
              </a:rPr>
              <a:t>Hardware verification is the most time-consuming phase of chip development, consuming 60-</a:t>
            </a:r>
            <a:r>
              <a:rPr sz="1600" b="1" i="0">
                <a:solidFill>
                  <a:srgbClr val="F0A500"/>
                </a:solidFill>
                <a:latin typeface="Calibri"/>
              </a:rPr>
              <a:t>70%</a:t>
            </a:r>
            <a:r>
              <a:rPr sz="1600" b="0" i="0">
                <a:solidFill>
                  <a:srgbClr val="FFFFFF"/>
                </a:solidFill>
                <a:latin typeface="Calibri"/>
              </a:rPr>
              <a:t> of total engineering effort. When a simulation run fails, a verification engineer must manually read hundreds of log lines, form a hypothesis about the root cause, run follow-up directed tests, and document findings — a process that takes 45 minutes per failure cluster on average. As neural network accelerators grow more complex, this bottleneck becomes unsustainable.</a:t>
            </a:r>
          </a:p>
        </p:txBody>
      </p:sp>
      <p:sp>
        <p:nvSpPr>
          <p:cNvPr id="10" name="TextBox 9"/>
          <p:cNvSpPr txBox="1"/>
          <p:nvPr/>
        </p:nvSpPr>
        <p:spPr>
          <a:xfrm>
            <a:off x="640080" y="3246120"/>
            <a:ext cx="10911535" cy="3200400"/>
          </a:xfrm>
          <a:prstGeom prst="rect">
            <a:avLst/>
          </a:prstGeom>
          <a:noFill/>
        </p:spPr>
        <p:txBody>
          <a:bodyPr wrap="square" lIns="0" rIns="0" tIns="0" bIns="0">
            <a:noAutofit/>
          </a:bodyPr>
          <a:lstStyle/>
          <a:p>
            <a:pPr>
              <a:spcAft>
                <a:spcPts val="1200"/>
              </a:spcAft>
            </a:pPr>
            <a:r>
              <a:rPr sz="1500" b="1" i="0">
                <a:solidFill>
                  <a:srgbClr val="F0A500"/>
                </a:solidFill>
                <a:latin typeface="Calibri"/>
              </a:rPr>
              <a:t>•  </a:t>
            </a:r>
            <a:r>
              <a:rPr sz="1500" b="0" i="0">
                <a:solidFill>
                  <a:srgbClr val="FFFFFF"/>
                </a:solidFill>
                <a:latin typeface="Calibri"/>
              </a:rPr>
              <a:t>A single tapeout cycle can generate millions of simulation failures, far more than any team of engineers can triage by hand.</a:t>
            </a:r>
          </a:p>
          <a:p>
            <a:pPr>
              <a:spcAft>
                <a:spcPts val="1200"/>
              </a:spcAft>
            </a:pPr>
            <a:r>
              <a:rPr sz="1500" b="1" i="0">
                <a:solidFill>
                  <a:srgbClr val="F0A500"/>
                </a:solidFill>
                <a:latin typeface="Calibri"/>
              </a:rPr>
              <a:t>•  </a:t>
            </a:r>
            <a:r>
              <a:rPr sz="1500" b="0" i="0">
                <a:solidFill>
                  <a:srgbClr val="FFFFFF"/>
                </a:solidFill>
                <a:latin typeface="Calibri"/>
              </a:rPr>
              <a:t>Every hour spent manually correlating symptoms across logs, waveforms, and scoreboards is an hour not spent finding new bugs.</a:t>
            </a:r>
          </a:p>
          <a:p>
            <a:pPr>
              <a:spcAft>
                <a:spcPts val="1200"/>
              </a:spcAft>
            </a:pPr>
            <a:r>
              <a:rPr sz="1500" b="1" i="0">
                <a:solidFill>
                  <a:srgbClr val="F0A500"/>
                </a:solidFill>
                <a:latin typeface="Calibri"/>
              </a:rPr>
              <a:t>•  </a:t>
            </a:r>
            <a:r>
              <a:rPr sz="1500" b="0" i="0">
                <a:solidFill>
                  <a:srgbClr val="FFFFFF"/>
                </a:solidFill>
                <a:latin typeface="Calibri"/>
              </a:rPr>
              <a:t>The result is a verification bottleneck that is expert-dependent, slow to onboard new engineers into, and fundamentally unable to scale with design complexity.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INTRODUCTION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Why Neural Network Accelerators</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03 / 40</a:t>
            </a:r>
          </a:p>
        </p:txBody>
      </p:sp>
      <p:sp>
        <p:nvSpPr>
          <p:cNvPr id="9" name="TextBox 8"/>
          <p:cNvSpPr txBox="1"/>
          <p:nvPr/>
        </p:nvSpPr>
        <p:spPr>
          <a:xfrm>
            <a:off x="640080" y="1508760"/>
            <a:ext cx="10911535" cy="1737360"/>
          </a:xfrm>
          <a:prstGeom prst="rect">
            <a:avLst/>
          </a:prstGeom>
          <a:noFill/>
        </p:spPr>
        <p:txBody>
          <a:bodyPr wrap="square" lIns="0" rIns="0" tIns="0" bIns="0">
            <a:noAutofit/>
          </a:bodyPr>
          <a:lstStyle/>
          <a:p>
            <a:pPr>
              <a:lnSpc>
                <a:spcPct val="120000"/>
              </a:lnSpc>
            </a:pPr>
            <a:r>
              <a:rPr sz="1600" b="0" i="0">
                <a:solidFill>
                  <a:srgbClr val="FFFFFF"/>
                </a:solidFill>
                <a:latin typeface="Calibri"/>
              </a:rPr>
              <a:t>Neural network accelerators present unique verification challenges because they combine fixed-point arithmetic, per-channel quantization, and complex memory access patterns in a single design. A sign extension error in the weight register, an accumulator that is one bit too narrow, or a quantization shift applied in the wrong direction can all produce subtly incorrect outputs that are hard to distinguish without understanding the full datapath. These are the exact failure modes our system is designed to triage.</a:t>
            </a:r>
          </a:p>
        </p:txBody>
      </p:sp>
      <p:sp>
        <p:nvSpPr>
          <p:cNvPr id="10" name="TextBox 9"/>
          <p:cNvSpPr txBox="1"/>
          <p:nvPr/>
        </p:nvSpPr>
        <p:spPr>
          <a:xfrm>
            <a:off x="640080" y="3246120"/>
            <a:ext cx="10911535" cy="3200400"/>
          </a:xfrm>
          <a:prstGeom prst="rect">
            <a:avLst/>
          </a:prstGeom>
          <a:noFill/>
        </p:spPr>
        <p:txBody>
          <a:bodyPr wrap="square" lIns="0" rIns="0" tIns="0" bIns="0">
            <a:noAutofit/>
          </a:bodyPr>
          <a:lstStyle/>
          <a:p>
            <a:pPr>
              <a:spcAft>
                <a:spcPts val="1200"/>
              </a:spcAft>
            </a:pPr>
            <a:r>
              <a:rPr sz="1500" b="1" i="0">
                <a:solidFill>
                  <a:srgbClr val="F0A500"/>
                </a:solidFill>
                <a:latin typeface="Calibri"/>
              </a:rPr>
              <a:t>•  </a:t>
            </a:r>
            <a:r>
              <a:rPr sz="1500" b="0" i="0">
                <a:solidFill>
                  <a:srgbClr val="FFFFFF"/>
                </a:solidFill>
                <a:latin typeface="Calibri"/>
              </a:rPr>
              <a:t>NN accelerators are the fastest-growing category of custom silicon, spanning data-center GPUs and TPUs down to edge NPUs in phones and sensors.</a:t>
            </a:r>
          </a:p>
          <a:p>
            <a:pPr>
              <a:spcAft>
                <a:spcPts val="1200"/>
              </a:spcAft>
            </a:pPr>
            <a:r>
              <a:rPr sz="1500" b="1" i="0">
                <a:solidFill>
                  <a:srgbClr val="F0A500"/>
                </a:solidFill>
                <a:latin typeface="Calibri"/>
              </a:rPr>
              <a:t>•  </a:t>
            </a:r>
            <a:r>
              <a:rPr sz="1500" b="0" i="0">
                <a:solidFill>
                  <a:srgbClr val="FFFFFF"/>
                </a:solidFill>
                <a:latin typeface="Calibri"/>
              </a:rPr>
              <a:t>Verification complexity scales with model size and numeric precision, so bugs that are invisible at small tensor shapes can reappear at production scale.</a:t>
            </a:r>
          </a:p>
          <a:p>
            <a:pPr>
              <a:spcAft>
                <a:spcPts val="1200"/>
              </a:spcAft>
            </a:pPr>
            <a:r>
              <a:rPr sz="1500" b="1" i="0">
                <a:solidFill>
                  <a:srgbClr val="F0A500"/>
                </a:solidFill>
                <a:latin typeface="Calibri"/>
              </a:rPr>
              <a:t>•  </a:t>
            </a:r>
            <a:r>
              <a:rPr sz="1500" b="0" i="0">
                <a:solidFill>
                  <a:srgbClr val="FFFFFF"/>
                </a:solidFill>
                <a:latin typeface="Calibri"/>
              </a:rPr>
              <a:t>Because the failure symptoms are numeric rather than structural, distinguishing an overflow from a sign error often requires deep datapath knowledge that our triage agent encodes directly.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INTRODUCTION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Our Solution</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04 / 40</a:t>
            </a:r>
          </a:p>
        </p:txBody>
      </p:sp>
      <p:sp>
        <p:nvSpPr>
          <p:cNvPr id="9" name="TextBox 8"/>
          <p:cNvSpPr txBox="1"/>
          <p:nvPr/>
        </p:nvSpPr>
        <p:spPr>
          <a:xfrm>
            <a:off x="640080" y="1508760"/>
            <a:ext cx="10911535" cy="1737360"/>
          </a:xfrm>
          <a:prstGeom prst="rect">
            <a:avLst/>
          </a:prstGeom>
          <a:noFill/>
        </p:spPr>
        <p:txBody>
          <a:bodyPr wrap="square" lIns="0" rIns="0" tIns="0" bIns="0">
            <a:noAutofit/>
          </a:bodyPr>
          <a:lstStyle/>
          <a:p>
            <a:pPr>
              <a:lnSpc>
                <a:spcPct val="120000"/>
              </a:lnSpc>
            </a:pPr>
            <a:r>
              <a:rPr sz="1600" b="0" i="0">
                <a:solidFill>
                  <a:srgbClr val="FFFFFF"/>
                </a:solidFill>
                <a:latin typeface="Calibri"/>
              </a:rPr>
              <a:t>We built NN-Accel-Triage, a complete end-to-end agentic AI system that automates the failure triage process. Starting from raw simulation mismatches, the pipeline extracts 13 structured features per failure, clusters failures by symptom pattern, and uses Claude AI with retrieval-augmented generation and multi-turn reasoning to generate precise root-cause reports with actionable debug steps. The entire process completes in 46 seconds versus 225 minutes manually.</a:t>
            </a:r>
          </a:p>
        </p:txBody>
      </p:sp>
      <p:sp>
        <p:nvSpPr>
          <p:cNvPr id="10" name="TextBox 9"/>
          <p:cNvSpPr txBox="1"/>
          <p:nvPr/>
        </p:nvSpPr>
        <p:spPr>
          <a:xfrm>
            <a:off x="640080" y="3246120"/>
            <a:ext cx="10911535" cy="3200400"/>
          </a:xfrm>
          <a:prstGeom prst="rect">
            <a:avLst/>
          </a:prstGeom>
          <a:noFill/>
        </p:spPr>
        <p:txBody>
          <a:bodyPr wrap="square" lIns="0" rIns="0" tIns="0" bIns="0">
            <a:noAutofit/>
          </a:bodyPr>
          <a:lstStyle/>
          <a:p>
            <a:pPr>
              <a:spcAft>
                <a:spcPts val="1200"/>
              </a:spcAft>
            </a:pPr>
            <a:r>
              <a:rPr sz="1500" b="1" i="0">
                <a:solidFill>
                  <a:srgbClr val="F0A500"/>
                </a:solidFill>
                <a:latin typeface="Calibri"/>
              </a:rPr>
              <a:t>•  </a:t>
            </a:r>
            <a:r>
              <a:rPr sz="1500" b="0" i="0">
                <a:solidFill>
                  <a:srgbClr val="FFFFFF"/>
                </a:solidFill>
                <a:latin typeface="Calibri"/>
              </a:rPr>
              <a:t>We built a layered testbench for a small NN accelerator RTL design and deliberately injected 13 realistic RTL bugs to create a ground-truth regression database.</a:t>
            </a:r>
          </a:p>
          <a:p>
            <a:pPr>
              <a:spcAft>
                <a:spcPts val="1200"/>
              </a:spcAft>
            </a:pPr>
            <a:r>
              <a:rPr sz="1500" b="1" i="0">
                <a:solidFill>
                  <a:srgbClr val="F0A500"/>
                </a:solidFill>
                <a:latin typeface="Calibri"/>
              </a:rPr>
              <a:t>•  </a:t>
            </a:r>
            <a:r>
              <a:rPr sz="1500" b="0" i="0">
                <a:solidFill>
                  <a:srgbClr val="FFFFFF"/>
                </a:solidFill>
                <a:latin typeface="Calibri"/>
              </a:rPr>
              <a:t>A rule-based and DBSCAN clusterer groups failures by symptom before Claude ever sees them, so the LLM only has to explain, not classify from scratch.</a:t>
            </a:r>
          </a:p>
          <a:p>
            <a:pPr>
              <a:spcAft>
                <a:spcPts val="1200"/>
              </a:spcAft>
            </a:pPr>
            <a:r>
              <a:rPr sz="1500" b="1" i="0">
                <a:solidFill>
                  <a:srgbClr val="F0A500"/>
                </a:solidFill>
                <a:latin typeface="Calibri"/>
              </a:rPr>
              <a:t>•  </a:t>
            </a:r>
            <a:r>
              <a:rPr sz="1500" b="0" i="0">
                <a:solidFill>
                  <a:srgbClr val="FFFFFF"/>
                </a:solidFill>
                <a:latin typeface="Calibri"/>
              </a:rPr>
              <a:t>The whole pipeline is benchmarked end-to-end against a manual-triage baseline so the speedup and accuracy claims are measured, not assumed.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INTRODUCTION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Five Core Objectives</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05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1000"/>
              </a:spcAft>
            </a:pPr>
            <a:r>
              <a:rPr sz="1400" b="1" i="0">
                <a:solidFill>
                  <a:srgbClr val="F0A500"/>
                </a:solidFill>
                <a:latin typeface="Calibri"/>
              </a:rPr>
              <a:t>•  </a:t>
            </a:r>
            <a:r>
              <a:rPr sz="1400" b="0" i="0">
                <a:solidFill>
                  <a:srgbClr val="FFFFFF"/>
                </a:solidFill>
                <a:latin typeface="Calibri"/>
              </a:rPr>
              <a:t>Objective (i) is to verify functional correctness across tensor shapes, quantization modes, and memory behaviors, ensuring the RTL matches a NumPy golden reference on every configuration we test.</a:t>
            </a:r>
          </a:p>
          <a:p>
            <a:pPr>
              <a:spcAft>
                <a:spcPts val="1000"/>
              </a:spcAft>
            </a:pPr>
            <a:r>
              <a:rPr sz="1400" b="1" i="0">
                <a:solidFill>
                  <a:srgbClr val="F0A500"/>
                </a:solidFill>
                <a:latin typeface="Calibri"/>
              </a:rPr>
              <a:t>•  </a:t>
            </a:r>
            <a:r>
              <a:rPr sz="1400" b="0" i="0">
                <a:solidFill>
                  <a:srgbClr val="FFFFFF"/>
                </a:solidFill>
                <a:latin typeface="Calibri"/>
              </a:rPr>
              <a:t>Objective (ii) is to cluster regression failures automatically, so hundreds of individual mismatches collapse into a handful of symptom groups an engineer can reason about.</a:t>
            </a:r>
          </a:p>
          <a:p>
            <a:pPr>
              <a:spcAft>
                <a:spcPts val="1000"/>
              </a:spcAft>
            </a:pPr>
            <a:r>
              <a:rPr sz="1400" b="1" i="0">
                <a:solidFill>
                  <a:srgbClr val="F0A500"/>
                </a:solidFill>
                <a:latin typeface="Calibri"/>
              </a:rPr>
              <a:t>•  </a:t>
            </a:r>
            <a:r>
              <a:rPr sz="1400" b="0" i="0">
                <a:solidFill>
                  <a:srgbClr val="FFFFFF"/>
                </a:solidFill>
                <a:latin typeface="Calibri"/>
              </a:rPr>
              <a:t>Objective (iii) is to generate natural-language debug summaries and likely root-cause hints, turning a raw error signature into an explanation a human can act on immediately.</a:t>
            </a:r>
          </a:p>
          <a:p>
            <a:pPr>
              <a:spcAft>
                <a:spcPts val="1000"/>
              </a:spcAft>
            </a:pPr>
            <a:r>
              <a:rPr sz="1400" b="1" i="0">
                <a:solidFill>
                  <a:srgbClr val="F0A500"/>
                </a:solidFill>
                <a:latin typeface="Calibri"/>
              </a:rPr>
              <a:t>•  </a:t>
            </a:r>
            <a:r>
              <a:rPr sz="1400" b="0" i="0">
                <a:solidFill>
                  <a:srgbClr val="FFFFFF"/>
                </a:solidFill>
                <a:latin typeface="Calibri"/>
              </a:rPr>
              <a:t>Objective (iv) is to compare AI triage time against manual methods with a real, measured benchmark rather than an anecdotal estimate.</a:t>
            </a:r>
          </a:p>
          <a:p>
            <a:pPr>
              <a:spcAft>
                <a:spcPts val="1000"/>
              </a:spcAft>
            </a:pPr>
            <a:r>
              <a:rPr sz="1400" b="1" i="0">
                <a:solidFill>
                  <a:srgbClr val="F0A500"/>
                </a:solidFill>
                <a:latin typeface="Calibri"/>
              </a:rPr>
              <a:t>•  </a:t>
            </a:r>
            <a:r>
              <a:rPr sz="1400" b="0" i="0">
                <a:solidFill>
                  <a:srgbClr val="FFFFFF"/>
                </a:solidFill>
                <a:latin typeface="Calibri"/>
              </a:rPr>
              <a:t>Objective (v) is to package the entire failure-analysis benchmark — RTL, faults, database, and pipeline — so other researchers can reproduce and extend our results.</a:t>
            </a:r>
          </a:p>
          <a:p>
            <a:pPr>
              <a:spcAft>
                <a:spcPts val="1000"/>
              </a:spcAft>
            </a:pPr>
            <a:r>
              <a:rPr sz="1400" b="1" i="0">
                <a:solidFill>
                  <a:srgbClr val="F0A500"/>
                </a:solidFill>
                <a:latin typeface="Calibri"/>
              </a:rPr>
              <a:t>•  </a:t>
            </a:r>
            <a:r>
              <a:rPr sz="1400" b="0" i="0">
                <a:solidFill>
                  <a:srgbClr val="FFFFFF"/>
                </a:solidFill>
                <a:latin typeface="Calibri"/>
              </a:rPr>
              <a:t>Together these five objectives span the full verification lifecycle: catching bugs, grouping them, explaining them, measuring the value of automation, and making the whole exercise repeatable.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INTRODUCTION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Key Results Preview</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06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800"/>
              </a:spcAft>
            </a:pPr>
            <a:r>
              <a:rPr sz="1350" b="1" i="0">
                <a:solidFill>
                  <a:srgbClr val="F0A500"/>
                </a:solidFill>
                <a:latin typeface="Calibri"/>
              </a:rPr>
              <a:t>•  </a:t>
            </a:r>
            <a:r>
              <a:rPr sz="1350" b="0" i="0">
                <a:solidFill>
                  <a:srgbClr val="FFFFFF"/>
                </a:solidFill>
                <a:latin typeface="Calibri"/>
              </a:rPr>
              <a:t>Our AI triage pipeline achieves a </a:t>
            </a:r>
            <a:r>
              <a:rPr sz="1350" b="1" i="0">
                <a:solidFill>
                  <a:srgbClr val="F0A500"/>
                </a:solidFill>
                <a:latin typeface="Calibri"/>
              </a:rPr>
              <a:t>342x</a:t>
            </a:r>
            <a:r>
              <a:rPr sz="1350" b="0" i="0">
                <a:solidFill>
                  <a:srgbClr val="FFFFFF"/>
                </a:solidFill>
                <a:latin typeface="Calibri"/>
              </a:rPr>
              <a:t> speedup over manual triage on the original benchmark of </a:t>
            </a:r>
            <a:r>
              <a:rPr sz="1350" b="1" i="0">
                <a:solidFill>
                  <a:srgbClr val="F0A500"/>
                </a:solidFill>
                <a:latin typeface="Calibri"/>
              </a:rPr>
              <a:t>4 fault variants</a:t>
            </a:r>
            <a:r>
              <a:rPr sz="1350" b="0" i="0">
                <a:solidFill>
                  <a:srgbClr val="FFFFFF"/>
                </a:solidFill>
                <a:latin typeface="Calibri"/>
              </a:rPr>
              <a:t> and 27 regression records.</a:t>
            </a:r>
          </a:p>
          <a:p>
            <a:pPr>
              <a:spcAft>
                <a:spcPts val="800"/>
              </a:spcAft>
            </a:pPr>
            <a:r>
              <a:rPr sz="1350" b="1" i="0">
                <a:solidFill>
                  <a:srgbClr val="F0A500"/>
                </a:solidFill>
                <a:latin typeface="Calibri"/>
              </a:rPr>
              <a:t>•  </a:t>
            </a:r>
            <a:r>
              <a:rPr sz="1350" b="0" i="0">
                <a:solidFill>
                  <a:srgbClr val="FFFFFF"/>
                </a:solidFill>
                <a:latin typeface="Calibri"/>
              </a:rPr>
              <a:t>On the expanded benchmark of </a:t>
            </a:r>
            <a:r>
              <a:rPr sz="1350" b="1" i="0">
                <a:solidFill>
                  <a:srgbClr val="F0A500"/>
                </a:solidFill>
                <a:latin typeface="Calibri"/>
              </a:rPr>
              <a:t>13 fault variants</a:t>
            </a:r>
            <a:r>
              <a:rPr sz="1350" b="0" i="0">
                <a:solidFill>
                  <a:srgbClr val="FFFFFF"/>
                </a:solidFill>
                <a:latin typeface="Calibri"/>
              </a:rPr>
              <a:t> and </a:t>
            </a:r>
            <a:r>
              <a:rPr sz="1350" b="1" i="0">
                <a:solidFill>
                  <a:srgbClr val="F0A500"/>
                </a:solidFill>
                <a:latin typeface="Calibri"/>
              </a:rPr>
              <a:t>255 records</a:t>
            </a:r>
            <a:r>
              <a:rPr sz="1350" b="0" i="0">
                <a:solidFill>
                  <a:srgbClr val="FFFFFF"/>
                </a:solidFill>
                <a:latin typeface="Calibri"/>
              </a:rPr>
              <a:t>, the speedup is </a:t>
            </a:r>
            <a:r>
              <a:rPr sz="1350" b="1" i="0">
                <a:solidFill>
                  <a:srgbClr val="F0A500"/>
                </a:solidFill>
                <a:latin typeface="Calibri"/>
              </a:rPr>
              <a:t>293x</a:t>
            </a:r>
            <a:r>
              <a:rPr sz="1350" b="0" i="0">
                <a:solidFill>
                  <a:srgbClr val="FFFFFF"/>
                </a:solidFill>
                <a:latin typeface="Calibri"/>
              </a:rPr>
              <a:t>, reflecting the larger and more realistic failure population.</a:t>
            </a:r>
          </a:p>
          <a:p>
            <a:pPr>
              <a:spcAft>
                <a:spcPts val="800"/>
              </a:spcAft>
            </a:pPr>
            <a:r>
              <a:rPr sz="1350" b="1" i="0">
                <a:solidFill>
                  <a:srgbClr val="F0A500"/>
                </a:solidFill>
                <a:latin typeface="Calibri"/>
              </a:rPr>
              <a:t>•  </a:t>
            </a:r>
            <a:r>
              <a:rPr sz="1350" b="0" i="0">
                <a:solidFill>
                  <a:srgbClr val="FFFFFF"/>
                </a:solidFill>
                <a:latin typeface="Calibri"/>
              </a:rPr>
              <a:t>The clusterer and triage agent together reach </a:t>
            </a:r>
            <a:r>
              <a:rPr sz="1350" b="1" i="0">
                <a:solidFill>
                  <a:srgbClr val="F0A500"/>
                </a:solidFill>
                <a:latin typeface="Calibri"/>
              </a:rPr>
              <a:t>96.5%</a:t>
            </a:r>
            <a:r>
              <a:rPr sz="1350" b="0" i="0">
                <a:solidFill>
                  <a:srgbClr val="FFFFFF"/>
                </a:solidFill>
                <a:latin typeface="Calibri"/>
              </a:rPr>
              <a:t> classification accuracy on all detectable faults in the 255-record dataset.</a:t>
            </a:r>
          </a:p>
          <a:p>
            <a:pPr>
              <a:spcAft>
                <a:spcPts val="800"/>
              </a:spcAft>
            </a:pPr>
            <a:r>
              <a:rPr sz="1350" b="1" i="0">
                <a:solidFill>
                  <a:srgbClr val="F0A500"/>
                </a:solidFill>
                <a:latin typeface="Calibri"/>
              </a:rPr>
              <a:t>•  </a:t>
            </a:r>
            <a:r>
              <a:rPr sz="1350" b="0" i="0">
                <a:solidFill>
                  <a:srgbClr val="FFFFFF"/>
                </a:solidFill>
                <a:latin typeface="Calibri"/>
              </a:rPr>
              <a:t>The system uncovered 33 latent faults — regression records that pass simulation even though the underlying RTL contains an injected bug.</a:t>
            </a:r>
          </a:p>
          <a:p>
            <a:pPr>
              <a:spcAft>
                <a:spcPts val="800"/>
              </a:spcAft>
            </a:pPr>
            <a:r>
              <a:rPr sz="1350" b="1" i="0">
                <a:solidFill>
                  <a:srgbClr val="F0A500"/>
                </a:solidFill>
                <a:latin typeface="Calibri"/>
              </a:rPr>
              <a:t>•  </a:t>
            </a:r>
            <a:r>
              <a:rPr sz="1350" b="0" i="0">
                <a:solidFill>
                  <a:srgbClr val="FFFFFF"/>
                </a:solidFill>
                <a:latin typeface="Calibri"/>
              </a:rPr>
              <a:t>All of these results are backed by a 131-test pytest suite with zero failures, so the pipeline itself is verified, not just the RTL it triages.</a:t>
            </a:r>
          </a:p>
          <a:p>
            <a:pPr>
              <a:spcAft>
                <a:spcPts val="800"/>
              </a:spcAft>
            </a:pPr>
            <a:r>
              <a:rPr sz="1350" b="1" i="0">
                <a:solidFill>
                  <a:srgbClr val="F0A500"/>
                </a:solidFill>
                <a:latin typeface="Calibri"/>
              </a:rPr>
              <a:t>•  </a:t>
            </a:r>
            <a:r>
              <a:rPr sz="1350" b="0" i="0">
                <a:solidFill>
                  <a:srgbClr val="FFFFFF"/>
                </a:solidFill>
                <a:latin typeface="Calibri"/>
              </a:rPr>
              <a:t>The entire project, from RTL to dashboard, is reproducible in a single Docker command, with no manual environment setup required.</a:t>
            </a:r>
          </a:p>
          <a:p>
            <a:pPr>
              <a:spcAft>
                <a:spcPts val="800"/>
              </a:spcAft>
            </a:pPr>
            <a:r>
              <a:rPr sz="1350" b="1" i="0">
                <a:solidFill>
                  <a:srgbClr val="F0A500"/>
                </a:solidFill>
                <a:latin typeface="Calibri"/>
              </a:rPr>
              <a:t>•  </a:t>
            </a:r>
            <a:r>
              <a:rPr sz="1350" b="0" i="0">
                <a:solidFill>
                  <a:srgbClr val="FFFFFF"/>
                </a:solidFill>
                <a:latin typeface="Calibri"/>
              </a:rPr>
              <a:t>We release the full benchmark dataset, fault variants, and triage pipeline as open-source artifacts so others can validate or build on this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PROJECT ARCHITECTURE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Full Pipeline Overview</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07 / 40</a:t>
            </a:r>
          </a:p>
        </p:txBody>
      </p:sp>
      <p:sp>
        <p:nvSpPr>
          <p:cNvPr id="9" name="Rounded Rectangle 8"/>
          <p:cNvSpPr/>
          <p:nvPr/>
        </p:nvSpPr>
        <p:spPr>
          <a:xfrm>
            <a:off x="640080" y="2148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RTL Design</a:t>
            </a:r>
          </a:p>
        </p:txBody>
      </p:sp>
      <p:sp>
        <p:nvSpPr>
          <p:cNvPr id="10" name="Rounded Rectangle 9"/>
          <p:cNvSpPr/>
          <p:nvPr/>
        </p:nvSpPr>
        <p:spPr>
          <a:xfrm>
            <a:off x="2886395" y="2148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CocoTB
Simulation</a:t>
            </a:r>
          </a:p>
        </p:txBody>
      </p:sp>
      <p:sp>
        <p:nvSpPr>
          <p:cNvPr id="11" name="Rounded Rectangle 10"/>
          <p:cNvSpPr/>
          <p:nvPr/>
        </p:nvSpPr>
        <p:spPr>
          <a:xfrm>
            <a:off x="5132710" y="2148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regression_
db.jsonl</a:t>
            </a:r>
          </a:p>
        </p:txBody>
      </p:sp>
      <p:sp>
        <p:nvSpPr>
          <p:cNvPr id="12" name="Rounded Rectangle 11"/>
          <p:cNvSpPr/>
          <p:nvPr/>
        </p:nvSpPr>
        <p:spPr>
          <a:xfrm>
            <a:off x="7379025" y="2148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Feature
Extractor</a:t>
            </a:r>
          </a:p>
        </p:txBody>
      </p:sp>
      <p:sp>
        <p:nvSpPr>
          <p:cNvPr id="13" name="Rounded Rectangle 12"/>
          <p:cNvSpPr/>
          <p:nvPr/>
        </p:nvSpPr>
        <p:spPr>
          <a:xfrm>
            <a:off x="9625340" y="2148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Clusterer</a:t>
            </a:r>
          </a:p>
        </p:txBody>
      </p:sp>
      <p:sp>
        <p:nvSpPr>
          <p:cNvPr id="14" name="Rounded Rectangle 13"/>
          <p:cNvSpPr/>
          <p:nvPr/>
        </p:nvSpPr>
        <p:spPr>
          <a:xfrm>
            <a:off x="640080" y="4434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Triage Agent</a:t>
            </a:r>
          </a:p>
        </p:txBody>
      </p:sp>
      <p:sp>
        <p:nvSpPr>
          <p:cNvPr id="15" name="Rounded Rectangle 14"/>
          <p:cNvSpPr/>
          <p:nvPr/>
        </p:nvSpPr>
        <p:spPr>
          <a:xfrm>
            <a:off x="2886395" y="4434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RAG Store</a:t>
            </a:r>
          </a:p>
        </p:txBody>
      </p:sp>
      <p:sp>
        <p:nvSpPr>
          <p:cNvPr id="16" name="Rounded Rectangle 15"/>
          <p:cNvSpPr/>
          <p:nvPr/>
        </p:nvSpPr>
        <p:spPr>
          <a:xfrm>
            <a:off x="5132710" y="4434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Debug Loop</a:t>
            </a:r>
          </a:p>
        </p:txBody>
      </p:sp>
      <p:sp>
        <p:nvSpPr>
          <p:cNvPr id="17" name="Rounded Rectangle 16"/>
          <p:cNvSpPr/>
          <p:nvPr/>
        </p:nvSpPr>
        <p:spPr>
          <a:xfrm>
            <a:off x="7379025" y="4434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Benchmark</a:t>
            </a:r>
          </a:p>
        </p:txBody>
      </p:sp>
      <p:sp>
        <p:nvSpPr>
          <p:cNvPr id="18" name="Rounded Rectangle 17"/>
          <p:cNvSpPr/>
          <p:nvPr/>
        </p:nvSpPr>
        <p:spPr>
          <a:xfrm>
            <a:off x="9625340" y="4434840"/>
            <a:ext cx="1926275" cy="1051560"/>
          </a:xfrm>
          <a:prstGeom prst="roundRect">
            <a:avLst/>
          </a:prstGeom>
          <a:solidFill>
            <a:srgbClr val="282B4A"/>
          </a:solidFill>
          <a:ln w="1905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r>
              <a:rPr sz="1300" b="1" i="0">
                <a:solidFill>
                  <a:srgbClr val="FFFFFF"/>
                </a:solidFill>
                <a:latin typeface="Calibri"/>
              </a:rPr>
              <a:t>Dashboard</a:t>
            </a:r>
          </a:p>
        </p:txBody>
      </p:sp>
      <p:sp>
        <p:nvSpPr>
          <p:cNvPr id="19" name="Right Arrow 18"/>
          <p:cNvSpPr/>
          <p:nvPr/>
        </p:nvSpPr>
        <p:spPr>
          <a:xfrm>
            <a:off x="2566355" y="2601468"/>
            <a:ext cx="320040" cy="146304"/>
          </a:xfrm>
          <a:prstGeom prst="right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4812670" y="2601468"/>
            <a:ext cx="320040" cy="146304"/>
          </a:xfrm>
          <a:prstGeom prst="right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7058985" y="2601468"/>
            <a:ext cx="320040" cy="146304"/>
          </a:xfrm>
          <a:prstGeom prst="right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9305300" y="2601468"/>
            <a:ext cx="320040" cy="146304"/>
          </a:xfrm>
          <a:prstGeom prst="right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2566355" y="4887468"/>
            <a:ext cx="320040" cy="146304"/>
          </a:xfrm>
          <a:prstGeom prst="right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812670" y="4887468"/>
            <a:ext cx="320040" cy="146304"/>
          </a:xfrm>
          <a:prstGeom prst="right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058985" y="4887468"/>
            <a:ext cx="320040" cy="146304"/>
          </a:xfrm>
          <a:prstGeom prst="right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9305300" y="4887468"/>
            <a:ext cx="320040" cy="146304"/>
          </a:xfrm>
          <a:prstGeom prst="right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wn Arrow 26"/>
          <p:cNvSpPr/>
          <p:nvPr/>
        </p:nvSpPr>
        <p:spPr>
          <a:xfrm>
            <a:off x="1502633" y="3200400"/>
            <a:ext cx="201168" cy="822960"/>
          </a:xfrm>
          <a:prstGeom prst="downArrow">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5623560"/>
            <a:ext cx="10911535" cy="548640"/>
          </a:xfrm>
          <a:prstGeom prst="rect">
            <a:avLst/>
          </a:prstGeom>
          <a:noFill/>
        </p:spPr>
        <p:txBody>
          <a:bodyPr wrap="square" lIns="0" rIns="0" tIns="0" bIns="0">
            <a:noAutofit/>
          </a:bodyPr>
          <a:lstStyle/>
          <a:p>
            <a:pPr algn="ctr"/>
            <a:r>
              <a:rPr sz="1500" b="0" i="0">
                <a:solidFill>
                  <a:srgbClr val="C7C9D9"/>
                </a:solidFill>
                <a:latin typeface="Calibri"/>
              </a:rPr>
              <a:t>One append-only log feeds a fully automated clustering + LLM triage pipeline, ending in a self-contained HTML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PROJECT ARCHITECTURE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Technology Stack</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08 / 40</a:t>
            </a:r>
          </a:p>
        </p:txBody>
      </p:sp>
      <p:sp>
        <p:nvSpPr>
          <p:cNvPr id="9" name="TextBox 8"/>
          <p:cNvSpPr txBox="1"/>
          <p:nvPr/>
        </p:nvSpPr>
        <p:spPr>
          <a:xfrm>
            <a:off x="640080" y="1508760"/>
            <a:ext cx="10911535" cy="960120"/>
          </a:xfrm>
          <a:prstGeom prst="rect">
            <a:avLst/>
          </a:prstGeom>
          <a:noFill/>
        </p:spPr>
        <p:txBody>
          <a:bodyPr wrap="square" lIns="0" rIns="0" tIns="0" bIns="0">
            <a:noAutofit/>
          </a:bodyPr>
          <a:lstStyle/>
          <a:p>
            <a:pPr>
              <a:lnSpc>
                <a:spcPct val="120000"/>
              </a:lnSpc>
            </a:pPr>
            <a:r>
              <a:rPr sz="1600" b="0" i="0">
                <a:solidFill>
                  <a:srgbClr val="FFFFFF"/>
                </a:solidFill>
                <a:latin typeface="Calibri"/>
              </a:rPr>
              <a:t>The pipeline is built entirely on open, widely-available tooling so it can be reproduced without proprietary EDA licenses. Each layer — RTL, simulation, reference models, and AI — was chosen for being both industry-realistic and easy to install in a container.</a:t>
            </a:r>
          </a:p>
        </p:txBody>
      </p:sp>
      <p:sp>
        <p:nvSpPr>
          <p:cNvPr id="10" name="TextBox 9"/>
          <p:cNvSpPr txBox="1"/>
          <p:nvPr/>
        </p:nvSpPr>
        <p:spPr>
          <a:xfrm>
            <a:off x="640080" y="2468880"/>
            <a:ext cx="10911535" cy="3977640"/>
          </a:xfrm>
          <a:prstGeom prst="rect">
            <a:avLst/>
          </a:prstGeom>
          <a:noFill/>
        </p:spPr>
        <p:txBody>
          <a:bodyPr wrap="square" lIns="0" rIns="0" tIns="0" bIns="0">
            <a:noAutofit/>
          </a:bodyPr>
          <a:lstStyle/>
          <a:p>
            <a:pPr>
              <a:spcAft>
                <a:spcPts val="700"/>
              </a:spcAft>
            </a:pPr>
            <a:r>
              <a:rPr sz="1300" b="1" i="0">
                <a:solidFill>
                  <a:srgbClr val="F0A500"/>
                </a:solidFill>
                <a:latin typeface="Calibri"/>
              </a:rPr>
              <a:t>•  </a:t>
            </a:r>
            <a:r>
              <a:rPr sz="1300" b="0" i="0">
                <a:solidFill>
                  <a:srgbClr val="FFFFFF"/>
                </a:solidFill>
                <a:latin typeface="Calibri"/>
              </a:rPr>
              <a:t>The RTL is written in SystemVerilog and simulated with the open-source Verilator </a:t>
            </a:r>
            <a:r>
              <a:rPr sz="1300" b="1" i="0">
                <a:solidFill>
                  <a:srgbClr val="F0A500"/>
                </a:solidFill>
                <a:latin typeface="Calibri"/>
              </a:rPr>
              <a:t>5.x</a:t>
            </a:r>
            <a:r>
              <a:rPr sz="1300" b="0" i="0">
                <a:solidFill>
                  <a:srgbClr val="FFFFFF"/>
                </a:solidFill>
                <a:latin typeface="Calibri"/>
              </a:rPr>
              <a:t> cycle-accurate simulator, avoiding any proprietary simulator dependency.</a:t>
            </a:r>
          </a:p>
          <a:p>
            <a:pPr>
              <a:spcAft>
                <a:spcPts val="700"/>
              </a:spcAft>
            </a:pPr>
            <a:r>
              <a:rPr sz="1300" b="1" i="0">
                <a:solidFill>
                  <a:srgbClr val="F0A500"/>
                </a:solidFill>
                <a:latin typeface="Calibri"/>
              </a:rPr>
              <a:t>•  </a:t>
            </a:r>
            <a:r>
              <a:rPr sz="1300" b="0" i="0">
                <a:solidFill>
                  <a:srgbClr val="FFFFFF"/>
                </a:solidFill>
                <a:latin typeface="Calibri"/>
              </a:rPr>
              <a:t>CocoTB 2.0.1 drives the testbench in Python, letting us generate test vectors and check results with the same NumPy code used for the golden reference models.</a:t>
            </a:r>
          </a:p>
          <a:p>
            <a:pPr>
              <a:spcAft>
                <a:spcPts val="700"/>
              </a:spcAft>
            </a:pPr>
            <a:r>
              <a:rPr sz="1300" b="1" i="0">
                <a:solidFill>
                  <a:srgbClr val="F0A500"/>
                </a:solidFill>
                <a:latin typeface="Calibri"/>
              </a:rPr>
              <a:t>•  </a:t>
            </a:r>
            <a:r>
              <a:rPr sz="1300" b="0" i="0">
                <a:solidFill>
                  <a:srgbClr val="FFFFFF"/>
                </a:solidFill>
                <a:latin typeface="Calibri"/>
              </a:rPr>
              <a:t>The golden reference models are pure NumPy implementations of the MAC array and quantization unit, so every expected value in the test suite is computed, never hardcoded.</a:t>
            </a:r>
          </a:p>
          <a:p>
            <a:pPr>
              <a:spcAft>
                <a:spcPts val="700"/>
              </a:spcAft>
            </a:pPr>
            <a:r>
              <a:rPr sz="1300" b="1" i="0">
                <a:solidFill>
                  <a:srgbClr val="F0A500"/>
                </a:solidFill>
                <a:latin typeface="Calibri"/>
              </a:rPr>
              <a:t>•  </a:t>
            </a:r>
            <a:r>
              <a:rPr sz="1300" b="0" i="0">
                <a:solidFill>
                  <a:srgbClr val="FFFFFF"/>
                </a:solidFill>
                <a:latin typeface="Calibri"/>
              </a:rPr>
              <a:t>Claude Sonnet 4.6, accessed via the Anthropic API, powers the natural-language triage agent that explains each failure cluster.</a:t>
            </a:r>
          </a:p>
          <a:p>
            <a:pPr>
              <a:spcAft>
                <a:spcPts val="700"/>
              </a:spcAft>
            </a:pPr>
            <a:r>
              <a:rPr sz="1300" b="1" i="0">
                <a:solidFill>
                  <a:srgbClr val="F0A500"/>
                </a:solidFill>
                <a:latin typeface="Calibri"/>
              </a:rPr>
              <a:t>•  </a:t>
            </a:r>
            <a:r>
              <a:rPr sz="1300" b="0" i="0">
                <a:solidFill>
                  <a:srgbClr val="FFFFFF"/>
                </a:solidFill>
                <a:latin typeface="Calibri"/>
              </a:rPr>
              <a:t>Failure clustering combines a rule-based classifier with scikit-learn's DBSCAN algorithm to catch both known fault signatures and statistical outliers.</a:t>
            </a:r>
          </a:p>
          <a:p>
            <a:pPr>
              <a:spcAft>
                <a:spcPts val="700"/>
              </a:spcAft>
            </a:pPr>
            <a:r>
              <a:rPr sz="1300" b="1" i="0">
                <a:solidFill>
                  <a:srgbClr val="F0A500"/>
                </a:solidFill>
                <a:latin typeface="Calibri"/>
              </a:rPr>
              <a:t>•  </a:t>
            </a:r>
            <a:r>
              <a:rPr sz="1300" b="0" i="0">
                <a:solidFill>
                  <a:srgbClr val="FFFFFF"/>
                </a:solidFill>
                <a:latin typeface="Calibri"/>
              </a:rPr>
              <a:t>A TF-IDF similarity index from scikit-learn powers the RAG store, retrieving similar historical failures to ground the LLM's reasoning.</a:t>
            </a:r>
          </a:p>
          <a:p>
            <a:pPr>
              <a:spcAft>
                <a:spcPts val="700"/>
              </a:spcAft>
            </a:pPr>
            <a:r>
              <a:rPr sz="1300" b="1" i="0">
                <a:solidFill>
                  <a:srgbClr val="F0A500"/>
                </a:solidFill>
                <a:latin typeface="Calibri"/>
              </a:rPr>
              <a:t>•  </a:t>
            </a:r>
            <a:r>
              <a:rPr sz="1300" b="0" i="0">
                <a:solidFill>
                  <a:srgbClr val="FFFFFF"/>
                </a:solidFill>
                <a:latin typeface="Calibri"/>
              </a:rPr>
              <a:t>The entire pipeline is validated by a 131-test pytest suite and packaged with Docker and docker-compose for one-command reproducibility.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PROJECT ARCHITECTURE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Project Timeline (20 Sessions)</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09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The project was built incrementally over 19 development sessions, each ending in a working, fully-tested milestone rather than one large all-at-once implementation. The table below traces how the RTL, testbench, and AI triage pipeline were layered on top of each other, with the pytest count at each stage showing steady, verified progress.</a:t>
            </a:r>
          </a:p>
        </p:txBody>
      </p:sp>
      <p:graphicFrame>
        <p:nvGraphicFramePr>
          <p:cNvPr id="10" name="Table 9"/>
          <p:cNvGraphicFramePr>
            <a:graphicFrameLocks noGrp="1"/>
          </p:cNvGraphicFramePr>
          <p:nvPr/>
        </p:nvGraphicFramePr>
        <p:xfrm>
          <a:off x="640080" y="2377440"/>
          <a:ext cx="10972800" cy="3794760"/>
        </p:xfrm>
        <a:graphic>
          <a:graphicData uri="http://schemas.openxmlformats.org/drawingml/2006/table">
            <a:tbl>
              <a:tblPr firstRow="1" bandRow="1">
                <a:tableStyleId>{5C22544A-7EE6-4342-B048-85BDC9FD1C3A}</a:tableStyleId>
              </a:tblPr>
              <a:tblGrid>
                <a:gridCol w="914400"/>
                <a:gridCol w="1371600"/>
                <a:gridCol w="2743200"/>
                <a:gridCol w="5943600"/>
              </a:tblGrid>
              <a:tr h="252984">
                <a:tc>
                  <a:txBody>
                    <a:bodyPr wrap="square"/>
                    <a:lstStyle/>
                    <a:p>
                      <a:pPr algn="l"/>
                      <a:r>
                        <a:rPr sz="1300" b="1" i="0">
                          <a:solidFill>
                            <a:srgbClr val="F0A500"/>
                          </a:solidFill>
                          <a:latin typeface="Calibri"/>
                        </a:rPr>
                        <a:t>Session</a:t>
                      </a:r>
                    </a:p>
                  </a:txBody>
                  <a:tcPr marL="76200" marR="76200" marT="38100" marB="38100" anchor="ctr">
                    <a:solidFill>
                      <a:srgbClr val="282B4A"/>
                    </a:solidFill>
                  </a:tcPr>
                </a:tc>
                <a:tc>
                  <a:txBody>
                    <a:bodyPr wrap="square"/>
                    <a:lstStyle/>
                    <a:p>
                      <a:pPr algn="l"/>
                      <a:r>
                        <a:rPr sz="1300" b="1" i="0">
                          <a:solidFill>
                            <a:srgbClr val="F0A500"/>
                          </a:solidFill>
                          <a:latin typeface="Calibri"/>
                        </a:rPr>
                        <a:t>Phase</a:t>
                      </a:r>
                    </a:p>
                  </a:txBody>
                  <a:tcPr marL="76200" marR="76200" marT="38100" marB="38100" anchor="ctr">
                    <a:solidFill>
                      <a:srgbClr val="282B4A"/>
                    </a:solidFill>
                  </a:tcPr>
                </a:tc>
                <a:tc>
                  <a:txBody>
                    <a:bodyPr wrap="square"/>
                    <a:lstStyle/>
                    <a:p>
                      <a:pPr algn="l"/>
                      <a:r>
                        <a:rPr sz="1300" b="1" i="0">
                          <a:solidFill>
                            <a:srgbClr val="F0A500"/>
                          </a:solidFill>
                          <a:latin typeface="Calibri"/>
                        </a:rPr>
                        <a:t>Goal</a:t>
                      </a:r>
                    </a:p>
                  </a:txBody>
                  <a:tcPr marL="76200" marR="76200" marT="38100" marB="38100" anchor="ctr">
                    <a:solidFill>
                      <a:srgbClr val="282B4A"/>
                    </a:solidFill>
                  </a:tcPr>
                </a:tc>
                <a:tc>
                  <a:txBody>
                    <a:bodyPr wrap="square"/>
                    <a:lstStyle/>
                    <a:p>
                      <a:pPr algn="l"/>
                      <a:r>
                        <a:rPr sz="1300" b="1" i="0">
                          <a:solidFill>
                            <a:srgbClr val="F0A500"/>
                          </a:solidFill>
                          <a:latin typeface="Calibri"/>
                        </a:rPr>
                        <a:t>Deliverable</a:t>
                      </a:r>
                    </a:p>
                  </a:txBody>
                  <a:tcPr marL="76200" marR="76200" marT="38100" marB="38100" anchor="ctr">
                    <a:solidFill>
                      <a:srgbClr val="282B4A"/>
                    </a:solidFill>
                  </a:tcPr>
                </a:tc>
              </a:tr>
              <a:tr h="252984">
                <a:tc>
                  <a:txBody>
                    <a:bodyPr wrap="square"/>
                    <a:lstStyle/>
                    <a:p>
                      <a:pPr algn="l"/>
                      <a:r>
                        <a:rPr sz="1100" b="0" i="0">
                          <a:solidFill>
                            <a:srgbClr val="FFFFFF"/>
                          </a:solidFill>
                          <a:latin typeface="Calibri"/>
                        </a:rPr>
                        <a:t>1-4</a:t>
                      </a:r>
                    </a:p>
                  </a:txBody>
                  <a:tcPr marL="76200" marR="76200" marT="25400" marB="25400" anchor="ctr">
                    <a:solidFill>
                      <a:srgbClr val="22223E"/>
                    </a:solidFill>
                  </a:tcPr>
                </a:tc>
                <a:tc>
                  <a:txBody>
                    <a:bodyPr wrap="square"/>
                    <a:lstStyle/>
                    <a:p>
                      <a:pPr algn="l"/>
                      <a:r>
                        <a:rPr sz="1100" b="0" i="0">
                          <a:solidFill>
                            <a:srgbClr val="FFFFFF"/>
                          </a:solidFill>
                          <a:latin typeface="Calibri"/>
                        </a:rPr>
                        <a:t>Phase 1 (RTL)</a:t>
                      </a:r>
                    </a:p>
                  </a:txBody>
                  <a:tcPr marL="76200" marR="76200" marT="25400" marB="25400" anchor="ctr">
                    <a:solidFill>
                      <a:srgbClr val="22223E"/>
                    </a:solidFill>
                  </a:tcPr>
                </a:tc>
                <a:tc>
                  <a:txBody>
                    <a:bodyPr wrap="square"/>
                    <a:lstStyle/>
                    <a:p>
                      <a:pPr algn="l"/>
                      <a:r>
                        <a:rPr sz="1100" b="0" i="0">
                          <a:solidFill>
                            <a:srgbClr val="FFFFFF"/>
                          </a:solidFill>
                          <a:latin typeface="Calibri"/>
                        </a:rPr>
                        <a:t>Write 4 RTL modules</a:t>
                      </a:r>
                    </a:p>
                  </a:txBody>
                  <a:tcPr marL="76200" marR="76200" marT="25400" marB="25400" anchor="ctr">
                    <a:solidFill>
                      <a:srgbClr val="22223E"/>
                    </a:solidFill>
                  </a:tcPr>
                </a:tc>
                <a:tc>
                  <a:txBody>
                    <a:bodyPr wrap="square"/>
                    <a:lstStyle/>
                    <a:p>
                      <a:pPr algn="l"/>
                      <a:r>
                        <a:rPr sz="1100" b="0" i="0">
                          <a:solidFill>
                            <a:srgbClr val="FFFFFF"/>
                          </a:solidFill>
                          <a:latin typeface="Calibri"/>
                        </a:rPr>
                        <a:t>mac_array.sv, quant_unit.sv, mem_arbiter.sv, control_fsm.sv</a:t>
                      </a:r>
                    </a:p>
                  </a:txBody>
                  <a:tcPr marL="76200" marR="76200" marT="25400" marB="25400" anchor="ctr">
                    <a:solidFill>
                      <a:srgbClr val="22223E"/>
                    </a:solidFill>
                  </a:tcPr>
                </a:tc>
              </a:tr>
              <a:tr h="252984">
                <a:tc>
                  <a:txBody>
                    <a:bodyPr wrap="square"/>
                    <a:lstStyle/>
                    <a:p>
                      <a:pPr algn="l"/>
                      <a:r>
                        <a:rPr sz="1100" b="0" i="0">
                          <a:solidFill>
                            <a:srgbClr val="FFFFFF"/>
                          </a:solidFill>
                          <a:latin typeface="Calibri"/>
                        </a:rPr>
                        <a:t>5</a:t>
                      </a:r>
                    </a:p>
                  </a:txBody>
                  <a:tcPr marL="76200" marR="76200" marT="25400" marB="25400" anchor="ctr">
                    <a:solidFill>
                      <a:srgbClr val="1A1A2E"/>
                    </a:solidFill>
                  </a:tcPr>
                </a:tc>
                <a:tc>
                  <a:txBody>
                    <a:bodyPr wrap="square"/>
                    <a:lstStyle/>
                    <a:p>
                      <a:pPr algn="l"/>
                      <a:r>
                        <a:rPr sz="1100" b="0" i="0">
                          <a:solidFill>
                            <a:srgbClr val="FFFFFF"/>
                          </a:solidFill>
                          <a:latin typeface="Calibri"/>
                        </a:rPr>
                        <a:t>Phase 1</a:t>
                      </a:r>
                    </a:p>
                  </a:txBody>
                  <a:tcPr marL="76200" marR="76200" marT="25400" marB="25400" anchor="ctr">
                    <a:solidFill>
                      <a:srgbClr val="1A1A2E"/>
                    </a:solidFill>
                  </a:tcPr>
                </a:tc>
                <a:tc>
                  <a:txBody>
                    <a:bodyPr wrap="square"/>
                    <a:lstStyle/>
                    <a:p>
                      <a:pPr algn="l"/>
                      <a:r>
                        <a:rPr sz="1100" b="0" i="0">
                          <a:solidFill>
                            <a:srgbClr val="FFFFFF"/>
                          </a:solidFill>
                          <a:latin typeface="Calibri"/>
                        </a:rPr>
                        <a:t>NumPy reference models</a:t>
                      </a:r>
                    </a:p>
                  </a:txBody>
                  <a:tcPr marL="76200" marR="76200" marT="25400" marB="25400" anchor="ctr">
                    <a:solidFill>
                      <a:srgbClr val="1A1A2E"/>
                    </a:solidFill>
                  </a:tcPr>
                </a:tc>
                <a:tc>
                  <a:txBody>
                    <a:bodyPr wrap="square"/>
                    <a:lstStyle/>
                    <a:p>
                      <a:pPr algn="l"/>
                      <a:r>
                        <a:rPr sz="1100" b="0" i="0">
                          <a:solidFill>
                            <a:srgbClr val="FFFFFF"/>
                          </a:solidFill>
                          <a:latin typeface="Calibri"/>
                        </a:rPr>
                        <a:t>mac_ref.py, quant_ref.py (36 tests)</a:t>
                      </a:r>
                    </a:p>
                  </a:txBody>
                  <a:tcPr marL="76200" marR="76200" marT="25400" marB="25400" anchor="ctr">
                    <a:solidFill>
                      <a:srgbClr val="1A1A2E"/>
                    </a:solidFill>
                  </a:tcPr>
                </a:tc>
              </a:tr>
              <a:tr h="252984">
                <a:tc>
                  <a:txBody>
                    <a:bodyPr wrap="square"/>
                    <a:lstStyle/>
                    <a:p>
                      <a:pPr algn="l"/>
                      <a:r>
                        <a:rPr sz="1100" b="0" i="0">
                          <a:solidFill>
                            <a:srgbClr val="FFFFFF"/>
                          </a:solidFill>
                          <a:latin typeface="Calibri"/>
                        </a:rPr>
                        <a:t>6-7</a:t>
                      </a:r>
                    </a:p>
                  </a:txBody>
                  <a:tcPr marL="76200" marR="76200" marT="25400" marB="25400" anchor="ctr">
                    <a:solidFill>
                      <a:srgbClr val="22223E"/>
                    </a:solidFill>
                  </a:tcPr>
                </a:tc>
                <a:tc>
                  <a:txBody>
                    <a:bodyPr wrap="square"/>
                    <a:lstStyle/>
                    <a:p>
                      <a:pPr algn="l"/>
                      <a:r>
                        <a:rPr sz="1100" b="0" i="0">
                          <a:solidFill>
                            <a:srgbClr val="FFFFFF"/>
                          </a:solidFill>
                          <a:latin typeface="Calibri"/>
                        </a:rPr>
                        <a:t>Phase 1</a:t>
                      </a:r>
                    </a:p>
                  </a:txBody>
                  <a:tcPr marL="76200" marR="76200" marT="25400" marB="25400" anchor="ctr">
                    <a:solidFill>
                      <a:srgbClr val="22223E"/>
                    </a:solidFill>
                  </a:tcPr>
                </a:tc>
                <a:tc>
                  <a:txBody>
                    <a:bodyPr wrap="square"/>
                    <a:lstStyle/>
                    <a:p>
                      <a:pPr algn="l"/>
                      <a:r>
                        <a:rPr sz="1100" b="0" i="0">
                          <a:solidFill>
                            <a:srgbClr val="FFFFFF"/>
                          </a:solidFill>
                          <a:latin typeface="Calibri"/>
                        </a:rPr>
                        <a:t>CocoTB testbenches</a:t>
                      </a:r>
                    </a:p>
                  </a:txBody>
                  <a:tcPr marL="76200" marR="76200" marT="25400" marB="25400" anchor="ctr">
                    <a:solidFill>
                      <a:srgbClr val="22223E"/>
                    </a:solidFill>
                  </a:tcPr>
                </a:tc>
                <a:tc>
                  <a:txBody>
                    <a:bodyPr wrap="square"/>
                    <a:lstStyle/>
                    <a:p>
                      <a:pPr algn="l"/>
                      <a:r>
                        <a:rPr sz="1100" b="0" i="0">
                          <a:solidFill>
                            <a:srgbClr val="FFFFFF"/>
                          </a:solidFill>
                          <a:latin typeface="Calibri"/>
                        </a:rPr>
                        <a:t>test_mac_array.py, test_quant_unit.py (51 tests)</a:t>
                      </a:r>
                    </a:p>
                  </a:txBody>
                  <a:tcPr marL="76200" marR="76200" marT="25400" marB="25400" anchor="ctr">
                    <a:solidFill>
                      <a:srgbClr val="22223E"/>
                    </a:solidFill>
                  </a:tcPr>
                </a:tc>
              </a:tr>
              <a:tr h="252984">
                <a:tc>
                  <a:txBody>
                    <a:bodyPr wrap="square"/>
                    <a:lstStyle/>
                    <a:p>
                      <a:pPr algn="l"/>
                      <a:r>
                        <a:rPr sz="1100" b="0" i="0">
                          <a:solidFill>
                            <a:srgbClr val="FFFFFF"/>
                          </a:solidFill>
                          <a:latin typeface="Calibri"/>
                        </a:rPr>
                        <a:t>8</a:t>
                      </a:r>
                    </a:p>
                  </a:txBody>
                  <a:tcPr marL="76200" marR="76200" marT="25400" marB="25400" anchor="ctr">
                    <a:solidFill>
                      <a:srgbClr val="1A1A2E"/>
                    </a:solidFill>
                  </a:tcPr>
                </a:tc>
                <a:tc>
                  <a:txBody>
                    <a:bodyPr wrap="square"/>
                    <a:lstStyle/>
                    <a:p>
                      <a:pPr algn="l"/>
                      <a:r>
                        <a:rPr sz="1100" b="0" i="0">
                          <a:solidFill>
                            <a:srgbClr val="FFFFFF"/>
                          </a:solidFill>
                          <a:latin typeface="Calibri"/>
                        </a:rPr>
                        <a:t>Phase 2</a:t>
                      </a:r>
                    </a:p>
                  </a:txBody>
                  <a:tcPr marL="76200" marR="76200" marT="25400" marB="25400" anchor="ctr">
                    <a:solidFill>
                      <a:srgbClr val="1A1A2E"/>
                    </a:solidFill>
                  </a:tcPr>
                </a:tc>
                <a:tc>
                  <a:txBody>
                    <a:bodyPr wrap="square"/>
                    <a:lstStyle/>
                    <a:p>
                      <a:pPr algn="l"/>
                      <a:r>
                        <a:rPr sz="1100" b="0" i="0">
                          <a:solidFill>
                            <a:srgbClr val="FFFFFF"/>
                          </a:solidFill>
                          <a:latin typeface="Calibri"/>
                        </a:rPr>
                        <a:t>Fault injection + regression DB</a:t>
                      </a:r>
                    </a:p>
                  </a:txBody>
                  <a:tcPr marL="76200" marR="76200" marT="25400" marB="25400" anchor="ctr">
                    <a:solidFill>
                      <a:srgbClr val="1A1A2E"/>
                    </a:solidFill>
                  </a:tcPr>
                </a:tc>
                <a:tc>
                  <a:txBody>
                    <a:bodyPr wrap="square"/>
                    <a:lstStyle/>
                    <a:p>
                      <a:pPr algn="l"/>
                      <a:r>
                        <a:rPr sz="1100" b="0" i="0">
                          <a:solidFill>
                            <a:srgbClr val="FFFFFF"/>
                          </a:solidFill>
                          <a:latin typeface="Calibri"/>
                        </a:rPr>
                        <a:t>4 fault variants, 27 records, mismatch schema</a:t>
                      </a:r>
                    </a:p>
                  </a:txBody>
                  <a:tcPr marL="76200" marR="76200" marT="25400" marB="25400" anchor="ctr">
                    <a:solidFill>
                      <a:srgbClr val="1A1A2E"/>
                    </a:solidFill>
                  </a:tcPr>
                </a:tc>
              </a:tr>
              <a:tr h="252984">
                <a:tc>
                  <a:txBody>
                    <a:bodyPr wrap="square"/>
                    <a:lstStyle/>
                    <a:p>
                      <a:pPr algn="l"/>
                      <a:r>
                        <a:rPr sz="1100" b="0" i="0">
                          <a:solidFill>
                            <a:srgbClr val="FFFFFF"/>
                          </a:solidFill>
                          <a:latin typeface="Calibri"/>
                        </a:rPr>
                        <a:t>9</a:t>
                      </a:r>
                    </a:p>
                  </a:txBody>
                  <a:tcPr marL="76200" marR="76200" marT="25400" marB="25400" anchor="ctr">
                    <a:solidFill>
                      <a:srgbClr val="22223E"/>
                    </a:solidFill>
                  </a:tcPr>
                </a:tc>
                <a:tc>
                  <a:txBody>
                    <a:bodyPr wrap="square"/>
                    <a:lstStyle/>
                    <a:p>
                      <a:pPr algn="l"/>
                      <a:r>
                        <a:rPr sz="1100" b="0" i="0">
                          <a:solidFill>
                            <a:srgbClr val="FFFFFF"/>
                          </a:solidFill>
                          <a:latin typeface="Calibri"/>
                        </a:rPr>
                        <a:t>Phase 2</a:t>
                      </a:r>
                    </a:p>
                  </a:txBody>
                  <a:tcPr marL="76200" marR="76200" marT="25400" marB="25400" anchor="ctr">
                    <a:solidFill>
                      <a:srgbClr val="22223E"/>
                    </a:solidFill>
                  </a:tcPr>
                </a:tc>
                <a:tc>
                  <a:txBody>
                    <a:bodyPr wrap="square"/>
                    <a:lstStyle/>
                    <a:p>
                      <a:pPr algn="l"/>
                      <a:r>
                        <a:rPr sz="1100" b="0" i="0">
                          <a:solidFill>
                            <a:srgbClr val="FFFFFF"/>
                          </a:solidFill>
                          <a:latin typeface="Calibri"/>
                        </a:rPr>
                        <a:t>Feature extractor</a:t>
                      </a:r>
                    </a:p>
                  </a:txBody>
                  <a:tcPr marL="76200" marR="76200" marT="25400" marB="25400" anchor="ctr">
                    <a:solidFill>
                      <a:srgbClr val="22223E"/>
                    </a:solidFill>
                  </a:tcPr>
                </a:tc>
                <a:tc>
                  <a:txBody>
                    <a:bodyPr wrap="square"/>
                    <a:lstStyle/>
                    <a:p>
                      <a:pPr algn="l"/>
                      <a:r>
                        <a:rPr sz="1100" b="0" i="0">
                          <a:solidFill>
                            <a:srgbClr val="FFFFFF"/>
                          </a:solidFill>
                          <a:latin typeface="Calibri"/>
                        </a:rPr>
                        <a:t>13 features per record (64 tests)</a:t>
                      </a:r>
                    </a:p>
                  </a:txBody>
                  <a:tcPr marL="76200" marR="76200" marT="25400" marB="25400" anchor="ctr">
                    <a:solidFill>
                      <a:srgbClr val="22223E"/>
                    </a:solidFill>
                  </a:tcPr>
                </a:tc>
              </a:tr>
              <a:tr h="252984">
                <a:tc>
                  <a:txBody>
                    <a:bodyPr wrap="square"/>
                    <a:lstStyle/>
                    <a:p>
                      <a:pPr algn="l"/>
                      <a:r>
                        <a:rPr sz="1100" b="0" i="0">
                          <a:solidFill>
                            <a:srgbClr val="FFFFFF"/>
                          </a:solidFill>
                          <a:latin typeface="Calibri"/>
                        </a:rPr>
                        <a:t>10</a:t>
                      </a:r>
                    </a:p>
                  </a:txBody>
                  <a:tcPr marL="76200" marR="76200" marT="25400" marB="25400" anchor="ctr">
                    <a:solidFill>
                      <a:srgbClr val="1A1A2E"/>
                    </a:solidFill>
                  </a:tcPr>
                </a:tc>
                <a:tc>
                  <a:txBody>
                    <a:bodyPr wrap="square"/>
                    <a:lstStyle/>
                    <a:p>
                      <a:pPr algn="l"/>
                      <a:r>
                        <a:rPr sz="1100" b="0" i="0">
                          <a:solidFill>
                            <a:srgbClr val="FFFFFF"/>
                          </a:solidFill>
                          <a:latin typeface="Calibri"/>
                        </a:rPr>
                        <a:t>Phase 2</a:t>
                      </a:r>
                    </a:p>
                  </a:txBody>
                  <a:tcPr marL="76200" marR="76200" marT="25400" marB="25400" anchor="ctr">
                    <a:solidFill>
                      <a:srgbClr val="1A1A2E"/>
                    </a:solidFill>
                  </a:tcPr>
                </a:tc>
                <a:tc>
                  <a:txBody>
                    <a:bodyPr wrap="square"/>
                    <a:lstStyle/>
                    <a:p>
                      <a:pPr algn="l"/>
                      <a:r>
                        <a:rPr sz="1100" b="0" i="0">
                          <a:solidFill>
                            <a:srgbClr val="FFFFFF"/>
                          </a:solidFill>
                          <a:latin typeface="Calibri"/>
                        </a:rPr>
                        <a:t>Clusterer</a:t>
                      </a:r>
                    </a:p>
                  </a:txBody>
                  <a:tcPr marL="76200" marR="76200" marT="25400" marB="25400" anchor="ctr">
                    <a:solidFill>
                      <a:srgbClr val="1A1A2E"/>
                    </a:solidFill>
                  </a:tcPr>
                </a:tc>
                <a:tc>
                  <a:txBody>
                    <a:bodyPr wrap="square"/>
                    <a:lstStyle/>
                    <a:p>
                      <a:pPr algn="l"/>
                      <a:r>
                        <a:rPr sz="1100" b="0" i="0">
                          <a:solidFill>
                            <a:srgbClr val="FFFFFF"/>
                          </a:solidFill>
                          <a:latin typeface="Calibri"/>
                        </a:rPr>
                        <a:t>DBSCAN + rule-based (79 tests)</a:t>
                      </a:r>
                    </a:p>
                  </a:txBody>
                  <a:tcPr marL="76200" marR="76200" marT="25400" marB="25400" anchor="ctr">
                    <a:solidFill>
                      <a:srgbClr val="1A1A2E"/>
                    </a:solidFill>
                  </a:tcPr>
                </a:tc>
              </a:tr>
              <a:tr h="252984">
                <a:tc>
                  <a:txBody>
                    <a:bodyPr wrap="square"/>
                    <a:lstStyle/>
                    <a:p>
                      <a:pPr algn="l"/>
                      <a:r>
                        <a:rPr sz="1100" b="0" i="0">
                          <a:solidFill>
                            <a:srgbClr val="FFFFFF"/>
                          </a:solidFill>
                          <a:latin typeface="Calibri"/>
                        </a:rPr>
                        <a:t>11</a:t>
                      </a:r>
                    </a:p>
                  </a:txBody>
                  <a:tcPr marL="76200" marR="76200" marT="25400" marB="25400" anchor="ctr">
                    <a:solidFill>
                      <a:srgbClr val="22223E"/>
                    </a:solidFill>
                  </a:tcPr>
                </a:tc>
                <a:tc>
                  <a:txBody>
                    <a:bodyPr wrap="square"/>
                    <a:lstStyle/>
                    <a:p>
                      <a:pPr algn="l"/>
                      <a:r>
                        <a:rPr sz="1100" b="0" i="0">
                          <a:solidFill>
                            <a:srgbClr val="FFFFFF"/>
                          </a:solidFill>
                          <a:latin typeface="Calibri"/>
                        </a:rPr>
                        <a:t>Phase 3</a:t>
                      </a:r>
                    </a:p>
                  </a:txBody>
                  <a:tcPr marL="76200" marR="76200" marT="25400" marB="25400" anchor="ctr">
                    <a:solidFill>
                      <a:srgbClr val="22223E"/>
                    </a:solidFill>
                  </a:tcPr>
                </a:tc>
                <a:tc>
                  <a:txBody>
                    <a:bodyPr wrap="square"/>
                    <a:lstStyle/>
                    <a:p>
                      <a:pPr algn="l"/>
                      <a:r>
                        <a:rPr sz="1100" b="0" i="0">
                          <a:solidFill>
                            <a:srgbClr val="FFFFFF"/>
                          </a:solidFill>
                          <a:latin typeface="Calibri"/>
                        </a:rPr>
                        <a:t>Triage agent</a:t>
                      </a:r>
                    </a:p>
                  </a:txBody>
                  <a:tcPr marL="76200" marR="76200" marT="25400" marB="25400" anchor="ctr">
                    <a:solidFill>
                      <a:srgbClr val="22223E"/>
                    </a:solidFill>
                  </a:tcPr>
                </a:tc>
                <a:tc>
                  <a:txBody>
                    <a:bodyPr wrap="square"/>
                    <a:lstStyle/>
                    <a:p>
                      <a:pPr algn="l"/>
                      <a:r>
                        <a:rPr sz="1100" b="0" i="0">
                          <a:solidFill>
                            <a:srgbClr val="FFFFFF"/>
                          </a:solidFill>
                          <a:latin typeface="Calibri"/>
                        </a:rPr>
                        <a:t>Claude API integration (87 tests)</a:t>
                      </a:r>
                    </a:p>
                  </a:txBody>
                  <a:tcPr marL="76200" marR="76200" marT="25400" marB="25400" anchor="ctr">
                    <a:solidFill>
                      <a:srgbClr val="22223E"/>
                    </a:solidFill>
                  </a:tcPr>
                </a:tc>
              </a:tr>
              <a:tr h="252984">
                <a:tc>
                  <a:txBody>
                    <a:bodyPr wrap="square"/>
                    <a:lstStyle/>
                    <a:p>
                      <a:pPr algn="l"/>
                      <a:r>
                        <a:rPr sz="1100" b="0" i="0">
                          <a:solidFill>
                            <a:srgbClr val="FFFFFF"/>
                          </a:solidFill>
                          <a:latin typeface="Calibri"/>
                        </a:rPr>
                        <a:t>12</a:t>
                      </a:r>
                    </a:p>
                  </a:txBody>
                  <a:tcPr marL="76200" marR="76200" marT="25400" marB="25400" anchor="ctr">
                    <a:solidFill>
                      <a:srgbClr val="1A1A2E"/>
                    </a:solidFill>
                  </a:tcPr>
                </a:tc>
                <a:tc>
                  <a:txBody>
                    <a:bodyPr wrap="square"/>
                    <a:lstStyle/>
                    <a:p>
                      <a:pPr algn="l"/>
                      <a:r>
                        <a:rPr sz="1100" b="0" i="0">
                          <a:solidFill>
                            <a:srgbClr val="FFFFFF"/>
                          </a:solidFill>
                          <a:latin typeface="Calibri"/>
                        </a:rPr>
                        <a:t>Phase 3</a:t>
                      </a:r>
                    </a:p>
                  </a:txBody>
                  <a:tcPr marL="76200" marR="76200" marT="25400" marB="25400" anchor="ctr">
                    <a:solidFill>
                      <a:srgbClr val="1A1A2E"/>
                    </a:solidFill>
                  </a:tcPr>
                </a:tc>
                <a:tc>
                  <a:txBody>
                    <a:bodyPr wrap="square"/>
                    <a:lstStyle/>
                    <a:p>
                      <a:pPr algn="l"/>
                      <a:r>
                        <a:rPr sz="1100" b="0" i="0">
                          <a:solidFill>
                            <a:srgbClr val="FFFFFF"/>
                          </a:solidFill>
                          <a:latin typeface="Calibri"/>
                        </a:rPr>
                        <a:t>RAG store</a:t>
                      </a:r>
                    </a:p>
                  </a:txBody>
                  <a:tcPr marL="76200" marR="76200" marT="25400" marB="25400" anchor="ctr">
                    <a:solidFill>
                      <a:srgbClr val="1A1A2E"/>
                    </a:solidFill>
                  </a:tcPr>
                </a:tc>
                <a:tc>
                  <a:txBody>
                    <a:bodyPr wrap="square"/>
                    <a:lstStyle/>
                    <a:p>
                      <a:pPr algn="l"/>
                      <a:r>
                        <a:rPr sz="1100" b="0" i="0">
                          <a:solidFill>
                            <a:srgbClr val="FFFFFF"/>
                          </a:solidFill>
                          <a:latin typeface="Calibri"/>
                        </a:rPr>
                        <a:t>TF-IDF similarity retrieval (101 tests)</a:t>
                      </a:r>
                    </a:p>
                  </a:txBody>
                  <a:tcPr marL="76200" marR="76200" marT="25400" marB="25400" anchor="ctr">
                    <a:solidFill>
                      <a:srgbClr val="1A1A2E"/>
                    </a:solidFill>
                  </a:tcPr>
                </a:tc>
              </a:tr>
              <a:tr h="252984">
                <a:tc>
                  <a:txBody>
                    <a:bodyPr wrap="square"/>
                    <a:lstStyle/>
                    <a:p>
                      <a:pPr algn="l"/>
                      <a:r>
                        <a:rPr sz="1100" b="0" i="0">
                          <a:solidFill>
                            <a:srgbClr val="FFFFFF"/>
                          </a:solidFill>
                          <a:latin typeface="Calibri"/>
                        </a:rPr>
                        <a:t>13</a:t>
                      </a:r>
                    </a:p>
                  </a:txBody>
                  <a:tcPr marL="76200" marR="76200" marT="25400" marB="25400" anchor="ctr">
                    <a:solidFill>
                      <a:srgbClr val="22223E"/>
                    </a:solidFill>
                  </a:tcPr>
                </a:tc>
                <a:tc>
                  <a:txBody>
                    <a:bodyPr wrap="square"/>
                    <a:lstStyle/>
                    <a:p>
                      <a:pPr algn="l"/>
                      <a:r>
                        <a:rPr sz="1100" b="0" i="0">
                          <a:solidFill>
                            <a:srgbClr val="FFFFFF"/>
                          </a:solidFill>
                          <a:latin typeface="Calibri"/>
                        </a:rPr>
                        <a:t>Phase 3</a:t>
                      </a:r>
                    </a:p>
                  </a:txBody>
                  <a:tcPr marL="76200" marR="76200" marT="25400" marB="25400" anchor="ctr">
                    <a:solidFill>
                      <a:srgbClr val="22223E"/>
                    </a:solidFill>
                  </a:tcPr>
                </a:tc>
                <a:tc>
                  <a:txBody>
                    <a:bodyPr wrap="square"/>
                    <a:lstStyle/>
                    <a:p>
                      <a:pPr algn="l"/>
                      <a:r>
                        <a:rPr sz="1100" b="0" i="0">
                          <a:solidFill>
                            <a:srgbClr val="FFFFFF"/>
                          </a:solidFill>
                          <a:latin typeface="Calibri"/>
                        </a:rPr>
                        <a:t>Multi-turn debug loop</a:t>
                      </a:r>
                    </a:p>
                  </a:txBody>
                  <a:tcPr marL="76200" marR="76200" marT="25400" marB="25400" anchor="ctr">
                    <a:solidFill>
                      <a:srgbClr val="22223E"/>
                    </a:solidFill>
                  </a:tcPr>
                </a:tc>
                <a:tc>
                  <a:txBody>
                    <a:bodyPr wrap="square"/>
                    <a:lstStyle/>
                    <a:p>
                      <a:pPr algn="l"/>
                      <a:r>
                        <a:rPr sz="1100" b="0" i="0">
                          <a:solidFill>
                            <a:srgbClr val="FFFFFF"/>
                          </a:solidFill>
                          <a:latin typeface="Calibri"/>
                        </a:rPr>
                        <a:t>Convergence criteria (106 tests)</a:t>
                      </a:r>
                    </a:p>
                  </a:txBody>
                  <a:tcPr marL="76200" marR="76200" marT="25400" marB="25400" anchor="ctr">
                    <a:solidFill>
                      <a:srgbClr val="22223E"/>
                    </a:solidFill>
                  </a:tcPr>
                </a:tc>
              </a:tr>
              <a:tr h="252984">
                <a:tc>
                  <a:txBody>
                    <a:bodyPr wrap="square"/>
                    <a:lstStyle/>
                    <a:p>
                      <a:pPr algn="l"/>
                      <a:r>
                        <a:rPr sz="1100" b="0" i="0">
                          <a:solidFill>
                            <a:srgbClr val="FFFFFF"/>
                          </a:solidFill>
                          <a:latin typeface="Calibri"/>
                        </a:rPr>
                        <a:t>14</a:t>
                      </a:r>
                    </a:p>
                  </a:txBody>
                  <a:tcPr marL="76200" marR="76200" marT="25400" marB="25400" anchor="ctr">
                    <a:solidFill>
                      <a:srgbClr val="1A1A2E"/>
                    </a:solidFill>
                  </a:tcPr>
                </a:tc>
                <a:tc>
                  <a:txBody>
                    <a:bodyPr wrap="square"/>
                    <a:lstStyle/>
                    <a:p>
                      <a:pPr algn="l"/>
                      <a:r>
                        <a:rPr sz="1100" b="0" i="0">
                          <a:solidFill>
                            <a:srgbClr val="FFFFFF"/>
                          </a:solidFill>
                          <a:latin typeface="Calibri"/>
                        </a:rPr>
                        <a:t>Phase 4</a:t>
                      </a:r>
                    </a:p>
                  </a:txBody>
                  <a:tcPr marL="76200" marR="76200" marT="25400" marB="25400" anchor="ctr">
                    <a:solidFill>
                      <a:srgbClr val="1A1A2E"/>
                    </a:solidFill>
                  </a:tcPr>
                </a:tc>
                <a:tc>
                  <a:txBody>
                    <a:bodyPr wrap="square"/>
                    <a:lstStyle/>
                    <a:p>
                      <a:pPr algn="l"/>
                      <a:r>
                        <a:rPr sz="1100" b="0" i="0">
                          <a:solidFill>
                            <a:srgbClr val="FFFFFF"/>
                          </a:solidFill>
                          <a:latin typeface="Calibri"/>
                        </a:rPr>
                        <a:t>Ground truth + eval metrics</a:t>
                      </a:r>
                    </a:p>
                  </a:txBody>
                  <a:tcPr marL="76200" marR="76200" marT="25400" marB="25400" anchor="ctr">
                    <a:solidFill>
                      <a:srgbClr val="1A1A2E"/>
                    </a:solidFill>
                  </a:tcPr>
                </a:tc>
                <a:tc>
                  <a:txBody>
                    <a:bodyPr wrap="square"/>
                    <a:lstStyle/>
                    <a:p>
                      <a:pPr algn="l"/>
                      <a:r>
                        <a:rPr sz="1100" b="0" i="0">
                          <a:solidFill>
                            <a:srgbClr val="FFFFFF"/>
                          </a:solidFill>
                          <a:latin typeface="Calibri"/>
                        </a:rPr>
                        <a:t>precision/recall/F1 (111 tests)</a:t>
                      </a:r>
                    </a:p>
                  </a:txBody>
                  <a:tcPr marL="76200" marR="76200" marT="25400" marB="25400" anchor="ctr">
                    <a:solidFill>
                      <a:srgbClr val="1A1A2E"/>
                    </a:solidFill>
                  </a:tcPr>
                </a:tc>
              </a:tr>
              <a:tr h="252984">
                <a:tc>
                  <a:txBody>
                    <a:bodyPr wrap="square"/>
                    <a:lstStyle/>
                    <a:p>
                      <a:pPr algn="l"/>
                      <a:r>
                        <a:rPr sz="1100" b="0" i="0">
                          <a:solidFill>
                            <a:srgbClr val="FFFFFF"/>
                          </a:solidFill>
                          <a:latin typeface="Calibri"/>
                        </a:rPr>
                        <a:t>15</a:t>
                      </a:r>
                    </a:p>
                  </a:txBody>
                  <a:tcPr marL="76200" marR="76200" marT="25400" marB="25400" anchor="ctr">
                    <a:solidFill>
                      <a:srgbClr val="22223E"/>
                    </a:solidFill>
                  </a:tcPr>
                </a:tc>
                <a:tc>
                  <a:txBody>
                    <a:bodyPr wrap="square"/>
                    <a:lstStyle/>
                    <a:p>
                      <a:pPr algn="l"/>
                      <a:r>
                        <a:rPr sz="1100" b="0" i="0">
                          <a:solidFill>
                            <a:srgbClr val="FFFFFF"/>
                          </a:solidFill>
                          <a:latin typeface="Calibri"/>
                        </a:rPr>
                        <a:t>Phase 4</a:t>
                      </a:r>
                    </a:p>
                  </a:txBody>
                  <a:tcPr marL="76200" marR="76200" marT="25400" marB="25400" anchor="ctr">
                    <a:solidFill>
                      <a:srgbClr val="22223E"/>
                    </a:solidFill>
                  </a:tcPr>
                </a:tc>
                <a:tc>
                  <a:txBody>
                    <a:bodyPr wrap="square"/>
                    <a:lstStyle/>
                    <a:p>
                      <a:pPr algn="l"/>
                      <a:r>
                        <a:rPr sz="1100" b="0" i="0">
                          <a:solidFill>
                            <a:srgbClr val="FFFFFF"/>
                          </a:solidFill>
                          <a:latin typeface="Calibri"/>
                        </a:rPr>
                        <a:t>Benchmark runner</a:t>
                      </a:r>
                    </a:p>
                  </a:txBody>
                  <a:tcPr marL="76200" marR="76200" marT="25400" marB="25400" anchor="ctr">
                    <a:solidFill>
                      <a:srgbClr val="22223E"/>
                    </a:solidFill>
                  </a:tcPr>
                </a:tc>
                <a:tc>
                  <a:txBody>
                    <a:bodyPr wrap="square"/>
                    <a:lstStyle/>
                    <a:p>
                      <a:pPr algn="l"/>
                      <a:r>
                        <a:rPr sz="1100" b="0" i="0">
                          <a:solidFill>
                            <a:srgbClr val="FFFFFF"/>
                          </a:solidFill>
                          <a:latin typeface="Calibri"/>
                        </a:rPr>
                        <a:t>342x speedup result (116 tests)</a:t>
                      </a:r>
                    </a:p>
                  </a:txBody>
                  <a:tcPr marL="76200" marR="76200" marT="25400" marB="25400" anchor="ctr">
                    <a:solidFill>
                      <a:srgbClr val="22223E"/>
                    </a:solidFill>
                  </a:tcPr>
                </a:tc>
              </a:tr>
              <a:tr h="252984">
                <a:tc>
                  <a:txBody>
                    <a:bodyPr wrap="square"/>
                    <a:lstStyle/>
                    <a:p>
                      <a:pPr algn="l"/>
                      <a:r>
                        <a:rPr sz="1100" b="0" i="0">
                          <a:solidFill>
                            <a:srgbClr val="FFFFFF"/>
                          </a:solidFill>
                          <a:latin typeface="Calibri"/>
                        </a:rPr>
                        <a:t>16</a:t>
                      </a:r>
                    </a:p>
                  </a:txBody>
                  <a:tcPr marL="76200" marR="76200" marT="25400" marB="25400" anchor="ctr">
                    <a:solidFill>
                      <a:srgbClr val="1A1A2E"/>
                    </a:solidFill>
                  </a:tcPr>
                </a:tc>
                <a:tc>
                  <a:txBody>
                    <a:bodyPr wrap="square"/>
                    <a:lstStyle/>
                    <a:p>
                      <a:pPr algn="l"/>
                      <a:r>
                        <a:rPr sz="1100" b="0" i="0">
                          <a:solidFill>
                            <a:srgbClr val="FFFFFF"/>
                          </a:solidFill>
                          <a:latin typeface="Calibri"/>
                        </a:rPr>
                        <a:t>Phase 4</a:t>
                      </a:r>
                    </a:p>
                  </a:txBody>
                  <a:tcPr marL="76200" marR="76200" marT="25400" marB="25400" anchor="ctr">
                    <a:solidFill>
                      <a:srgbClr val="1A1A2E"/>
                    </a:solidFill>
                  </a:tcPr>
                </a:tc>
                <a:tc>
                  <a:txBody>
                    <a:bodyPr wrap="square"/>
                    <a:lstStyle/>
                    <a:p>
                      <a:pPr algn="l"/>
                      <a:r>
                        <a:rPr sz="1100" b="0" i="0">
                          <a:solidFill>
                            <a:srgbClr val="FFFFFF"/>
                          </a:solidFill>
                          <a:latin typeface="Calibri"/>
                        </a:rPr>
                        <a:t>Dashboard</a:t>
                      </a:r>
                    </a:p>
                  </a:txBody>
                  <a:tcPr marL="76200" marR="76200" marT="25400" marB="25400" anchor="ctr">
                    <a:solidFill>
                      <a:srgbClr val="1A1A2E"/>
                    </a:solidFill>
                  </a:tcPr>
                </a:tc>
                <a:tc>
                  <a:txBody>
                    <a:bodyPr wrap="square"/>
                    <a:lstStyle/>
                    <a:p>
                      <a:pPr algn="l"/>
                      <a:r>
                        <a:rPr sz="1100" b="0" i="0">
                          <a:solidFill>
                            <a:srgbClr val="FFFFFF"/>
                          </a:solidFill>
                          <a:latin typeface="Calibri"/>
                        </a:rPr>
                        <a:t>Static HTML dashboard (120 tests)</a:t>
                      </a:r>
                    </a:p>
                  </a:txBody>
                  <a:tcPr marL="76200" marR="76200" marT="25400" marB="25400" anchor="ctr">
                    <a:solidFill>
                      <a:srgbClr val="1A1A2E"/>
                    </a:solidFill>
                  </a:tcPr>
                </a:tc>
              </a:tr>
              <a:tr h="252984">
                <a:tc>
                  <a:txBody>
                    <a:bodyPr wrap="square"/>
                    <a:lstStyle/>
                    <a:p>
                      <a:pPr algn="l"/>
                      <a:r>
                        <a:rPr sz="1100" b="0" i="0">
                          <a:solidFill>
                            <a:srgbClr val="FFFFFF"/>
                          </a:solidFill>
                          <a:latin typeface="Calibri"/>
                        </a:rPr>
                        <a:t>17</a:t>
                      </a:r>
                    </a:p>
                  </a:txBody>
                  <a:tcPr marL="76200" marR="76200" marT="25400" marB="25400" anchor="ctr">
                    <a:solidFill>
                      <a:srgbClr val="22223E"/>
                    </a:solidFill>
                  </a:tcPr>
                </a:tc>
                <a:tc>
                  <a:txBody>
                    <a:bodyPr wrap="square"/>
                    <a:lstStyle/>
                    <a:p>
                      <a:pPr algn="l"/>
                      <a:r>
                        <a:rPr sz="1100" b="0" i="0">
                          <a:solidFill>
                            <a:srgbClr val="FFFFFF"/>
                          </a:solidFill>
                          <a:latin typeface="Calibri"/>
                        </a:rPr>
                        <a:t>Phase 4</a:t>
                      </a:r>
                    </a:p>
                  </a:txBody>
                  <a:tcPr marL="76200" marR="76200" marT="25400" marB="25400" anchor="ctr">
                    <a:solidFill>
                      <a:srgbClr val="22223E"/>
                    </a:solidFill>
                  </a:tcPr>
                </a:tc>
                <a:tc>
                  <a:txBody>
                    <a:bodyPr wrap="square"/>
                    <a:lstStyle/>
                    <a:p>
                      <a:pPr algn="l"/>
                      <a:r>
                        <a:rPr sz="1100" b="0" i="0">
                          <a:solidFill>
                            <a:srgbClr val="FFFFFF"/>
                          </a:solidFill>
                          <a:latin typeface="Calibri"/>
                        </a:rPr>
                        <a:t>Docker + README</a:t>
                      </a:r>
                    </a:p>
                  </a:txBody>
                  <a:tcPr marL="76200" marR="76200" marT="25400" marB="25400" anchor="ctr">
                    <a:solidFill>
                      <a:srgbClr val="22223E"/>
                    </a:solidFill>
                  </a:tcPr>
                </a:tc>
                <a:tc>
                  <a:txBody>
                    <a:bodyPr wrap="square"/>
                    <a:lstStyle/>
                    <a:p>
                      <a:pPr algn="l"/>
                      <a:r>
                        <a:rPr sz="1100" b="0" i="0">
                          <a:solidFill>
                            <a:srgbClr val="FFFFFF"/>
                          </a:solidFill>
                          <a:latin typeface="Calibri"/>
                        </a:rPr>
                        <a:t>One-command reproduce (120 tests)</a:t>
                      </a:r>
                    </a:p>
                  </a:txBody>
                  <a:tcPr marL="76200" marR="76200" marT="25400" marB="25400" anchor="ctr">
                    <a:solidFill>
                      <a:srgbClr val="22223E"/>
                    </a:solidFill>
                  </a:tcPr>
                </a:tc>
              </a:tr>
              <a:tr h="252984">
                <a:tc>
                  <a:txBody>
                    <a:bodyPr wrap="square"/>
                    <a:lstStyle/>
                    <a:p>
                      <a:pPr algn="l"/>
                      <a:r>
                        <a:rPr sz="1100" b="0" i="0">
                          <a:solidFill>
                            <a:srgbClr val="FFFFFF"/>
                          </a:solidFill>
                          <a:latin typeface="Calibri"/>
                        </a:rPr>
                        <a:t>18-19</a:t>
                      </a:r>
                    </a:p>
                  </a:txBody>
                  <a:tcPr marL="76200" marR="76200" marT="25400" marB="25400" anchor="ctr">
                    <a:solidFill>
                      <a:srgbClr val="1A1A2E"/>
                    </a:solidFill>
                  </a:tcPr>
                </a:tc>
                <a:tc>
                  <a:txBody>
                    <a:bodyPr wrap="square"/>
                    <a:lstStyle/>
                    <a:p>
                      <a:pPr algn="l"/>
                      <a:r>
                        <a:rPr sz="1100" b="0" i="0">
                          <a:solidFill>
                            <a:srgbClr val="FFFFFF"/>
                          </a:solidFill>
                          <a:latin typeface="Calibri"/>
                        </a:rPr>
                        <a:t>Sprint</a:t>
                      </a:r>
                    </a:p>
                  </a:txBody>
                  <a:tcPr marL="76200" marR="76200" marT="25400" marB="25400" anchor="ctr">
                    <a:solidFill>
                      <a:srgbClr val="1A1A2E"/>
                    </a:solidFill>
                  </a:tcPr>
                </a:tc>
                <a:tc>
                  <a:txBody>
                    <a:bodyPr wrap="square"/>
                    <a:lstStyle/>
                    <a:p>
                      <a:pPr algn="l"/>
                      <a:r>
                        <a:rPr sz="1100" b="0" i="0">
                          <a:solidFill>
                            <a:srgbClr val="FFFFFF"/>
                          </a:solidFill>
                          <a:latin typeface="Calibri"/>
                        </a:rPr>
                        <a:t>13 faults + VCD parser + abstract</a:t>
                      </a:r>
                    </a:p>
                  </a:txBody>
                  <a:tcPr marL="76200" marR="76200" marT="25400" marB="25400" anchor="ctr">
                    <a:solidFill>
                      <a:srgbClr val="1A1A2E"/>
                    </a:solidFill>
                  </a:tcPr>
                </a:tc>
                <a:tc>
                  <a:txBody>
                    <a:bodyPr wrap="square"/>
                    <a:lstStyle/>
                    <a:p>
                      <a:pPr algn="l"/>
                      <a:r>
                        <a:rPr sz="1100" b="0" i="0">
                          <a:solidFill>
                            <a:srgbClr val="FFFFFF"/>
                          </a:solidFill>
                          <a:latin typeface="Calibri"/>
                        </a:rPr>
                        <a:t>96.5% accuracy (131 tests)</a:t>
                      </a:r>
                    </a:p>
                  </a:txBody>
                  <a:tcPr marL="76200" marR="76200" marT="25400" marB="25400" anchor="ctr">
                    <a:solidFill>
                      <a:srgbClr val="1A1A2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PROJECT ARCHITECTURE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Repository Structure</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10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The repository is organized so each stage of the pipeline — RTL, testbench, triage engine, and benchmark — lives in its own top-level directory with a single clear responsibility. This makes it straightforward for a new contributor to find the exact file that owns a given piece of behavior.</a:t>
            </a:r>
          </a:p>
        </p:txBody>
      </p:sp>
      <p:sp>
        <p:nvSpPr>
          <p:cNvPr id="10" name="TextBox 9"/>
          <p:cNvSpPr txBox="1"/>
          <p:nvPr/>
        </p:nvSpPr>
        <p:spPr>
          <a:xfrm>
            <a:off x="640080" y="2377440"/>
            <a:ext cx="10911535" cy="4023360"/>
          </a:xfrm>
          <a:prstGeom prst="rect">
            <a:avLst/>
          </a:prstGeom>
          <a:noFill/>
        </p:spPr>
        <p:txBody>
          <a:bodyPr wrap="square" lIns="0" rIns="0" tIns="0" bIns="0">
            <a:noAutofit/>
          </a:bodyPr>
          <a:lstStyle/>
          <a:p>
            <a:pPr>
              <a:spcAft>
                <a:spcPts val="1100"/>
              </a:spcAft>
            </a:pPr>
            <a:r>
              <a:rPr sz="1350" b="1" i="0">
                <a:solidFill>
                  <a:srgbClr val="F0A500"/>
                </a:solidFill>
                <a:latin typeface="Calibri"/>
              </a:rPr>
              <a:t>•  rtl/:  </a:t>
            </a:r>
            <a:r>
              <a:rPr sz="1350" b="0" i="0">
                <a:solidFill>
                  <a:srgbClr val="FFFFFF"/>
                </a:solidFill>
                <a:latin typeface="Calibri"/>
              </a:rPr>
              <a:t>SystemVerilog RTL modules for the accelerator, plus the 13 frozen fault variants used to build the ground-truth dataset.</a:t>
            </a:r>
          </a:p>
          <a:p>
            <a:pPr>
              <a:spcAft>
                <a:spcPts val="1100"/>
              </a:spcAft>
            </a:pPr>
            <a:r>
              <a:rPr sz="1350" b="1" i="0">
                <a:solidFill>
                  <a:srgbClr val="F0A500"/>
                </a:solidFill>
                <a:latin typeface="Calibri"/>
              </a:rPr>
              <a:t>•  tb/:  </a:t>
            </a:r>
            <a:r>
              <a:rPr sz="1350" b="0" i="0">
                <a:solidFill>
                  <a:srgbClr val="FFFFFF"/>
                </a:solidFill>
                <a:latin typeface="Calibri"/>
              </a:rPr>
              <a:t>CocoTB testbench drivers and monitors, alongside the NumPy reference models that generate every expected value.</a:t>
            </a:r>
          </a:p>
          <a:p>
            <a:pPr>
              <a:spcAft>
                <a:spcPts val="1100"/>
              </a:spcAft>
            </a:pPr>
            <a:r>
              <a:rPr sz="1350" b="1" i="0">
                <a:solidFill>
                  <a:srgbClr val="F0A500"/>
                </a:solidFill>
                <a:latin typeface="Calibri"/>
              </a:rPr>
              <a:t>•  triage/:  </a:t>
            </a:r>
            <a:r>
              <a:rPr sz="1350" b="0" i="0">
                <a:solidFill>
                  <a:srgbClr val="FFFFFF"/>
                </a:solidFill>
                <a:latin typeface="Calibri"/>
              </a:rPr>
              <a:t>The AI triage engine itself: feature extractor, clusterer, triage agent, RAG store, and multi-turn debug loop.</a:t>
            </a:r>
          </a:p>
          <a:p>
            <a:pPr>
              <a:spcAft>
                <a:spcPts val="1100"/>
              </a:spcAft>
            </a:pPr>
            <a:r>
              <a:rPr sz="1350" b="1" i="0">
                <a:solidFill>
                  <a:srgbClr val="F0A500"/>
                </a:solidFill>
                <a:latin typeface="Calibri"/>
              </a:rPr>
              <a:t>•  benchmark/:  </a:t>
            </a:r>
            <a:r>
              <a:rPr sz="1350" b="0" i="0">
                <a:solidFill>
                  <a:srgbClr val="FFFFFF"/>
                </a:solidFill>
                <a:latin typeface="Calibri"/>
              </a:rPr>
              <a:t>Benchmark runner, evaluator, and the human-verified ground truth labels used to score accuracy.</a:t>
            </a:r>
          </a:p>
          <a:p>
            <a:pPr>
              <a:spcAft>
                <a:spcPts val="1100"/>
              </a:spcAft>
            </a:pPr>
            <a:r>
              <a:rPr sz="1350" b="1" i="0">
                <a:solidFill>
                  <a:srgbClr val="F0A500"/>
                </a:solidFill>
                <a:latin typeface="Calibri"/>
              </a:rPr>
              <a:t>•  dashboard/:  </a:t>
            </a:r>
            <a:r>
              <a:rPr sz="1350" b="0" i="0">
                <a:solidFill>
                  <a:srgbClr val="FFFFFF"/>
                </a:solidFill>
                <a:latin typeface="Calibri"/>
              </a:rPr>
              <a:t>Generator for the self-contained static HTML dashboard, no server or JS framework required.</a:t>
            </a:r>
          </a:p>
          <a:p>
            <a:pPr>
              <a:spcAft>
                <a:spcPts val="1100"/>
              </a:spcAft>
            </a:pPr>
            <a:r>
              <a:rPr sz="1350" b="1" i="0">
                <a:solidFill>
                  <a:srgbClr val="F0A500"/>
                </a:solidFill>
                <a:latin typeface="Calibri"/>
              </a:rPr>
              <a:t>•  reports/:  </a:t>
            </a:r>
            <a:r>
              <a:rPr sz="1350" b="0" i="0">
                <a:solidFill>
                  <a:srgbClr val="FFFFFF"/>
                </a:solidFill>
                <a:latin typeface="Calibri"/>
              </a:rPr>
              <a:t>Generated outputs: dashboard.html, dated benchmark JSON files, and the written technical report.</a:t>
            </a:r>
          </a:p>
          <a:p>
            <a:pPr>
              <a:spcAft>
                <a:spcPts val="1100"/>
              </a:spcAft>
            </a:pPr>
            <a:r>
              <a:rPr sz="1350" b="1" i="0">
                <a:solidFill>
                  <a:srgbClr val="F0A500"/>
                </a:solidFill>
                <a:latin typeface="Calibri"/>
              </a:rPr>
              <a:t>•  docker/:  </a:t>
            </a:r>
            <a:r>
              <a:rPr sz="1350" b="0" i="0">
                <a:solidFill>
                  <a:srgbClr val="FFFFFF"/>
                </a:solidFill>
                <a:latin typeface="Calibri"/>
              </a:rPr>
              <a:t>Dockerfile, run_pipeline.sh, and docker-compose.yml for one-command reproduction on any machine.</a:t>
            </a:r>
          </a:p>
          <a:p>
            <a:pPr>
              <a:spcAft>
                <a:spcPts val="1100"/>
              </a:spcAft>
            </a:pPr>
            <a:r>
              <a:rPr sz="1350" b="1" i="0">
                <a:solidFill>
                  <a:srgbClr val="F0A500"/>
                </a:solidFill>
                <a:latin typeface="Calibri"/>
              </a:rPr>
              <a:t>•  regression_db.jsonl:  </a:t>
            </a:r>
            <a:r>
              <a:rPr sz="1350" b="0" i="0">
                <a:solidFill>
                  <a:srgbClr val="FFFFFF"/>
                </a:solidFill>
                <a:latin typeface="Calibri"/>
              </a:rPr>
              <a:t>The 255-record append-only central log that every other component reads from.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RTL DESIGN &amp; TESTBENCH</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RTL Module 1: mac_array.sv</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11 / 40</a:t>
            </a:r>
          </a:p>
        </p:txBody>
      </p:sp>
      <p:sp>
        <p:nvSpPr>
          <p:cNvPr id="9" name="TextBox 8"/>
          <p:cNvSpPr txBox="1"/>
          <p:nvPr/>
        </p:nvSpPr>
        <p:spPr>
          <a:xfrm>
            <a:off x="640080" y="1508760"/>
            <a:ext cx="10911535" cy="960120"/>
          </a:xfrm>
          <a:prstGeom prst="rect">
            <a:avLst/>
          </a:prstGeom>
          <a:noFill/>
        </p:spPr>
        <p:txBody>
          <a:bodyPr wrap="square" lIns="0" rIns="0" tIns="0" bIns="0">
            <a:noAutofit/>
          </a:bodyPr>
          <a:lstStyle/>
          <a:p>
            <a:pPr>
              <a:lnSpc>
                <a:spcPct val="120000"/>
              </a:lnSpc>
            </a:pPr>
            <a:r>
              <a:rPr sz="1600" b="0" i="0">
                <a:solidFill>
                  <a:srgbClr val="FFFFFF"/>
                </a:solidFill>
                <a:latin typeface="Calibri"/>
              </a:rPr>
              <a:t>mac_array.sv is the computational heart of the accelerator: a parameterized NxN array of multiply-accumulate units that performs the core matrix multiplication for each tile. It was designed to be flexible enough to test multiple data types and array sizes while remaining small enough to simulate quickly.</a:t>
            </a:r>
          </a:p>
        </p:txBody>
      </p:sp>
      <p:sp>
        <p:nvSpPr>
          <p:cNvPr id="10" name="TextBox 9"/>
          <p:cNvSpPr txBox="1"/>
          <p:nvPr/>
        </p:nvSpPr>
        <p:spPr>
          <a:xfrm>
            <a:off x="640080" y="2468880"/>
            <a:ext cx="10911535" cy="3977640"/>
          </a:xfrm>
          <a:prstGeom prst="rect">
            <a:avLst/>
          </a:prstGeom>
          <a:noFill/>
        </p:spPr>
        <p:txBody>
          <a:bodyPr wrap="square" lIns="0" rIns="0" tIns="0" bIns="0">
            <a:noAutofit/>
          </a:bodyPr>
          <a:lstStyle/>
          <a:p>
            <a:pPr>
              <a:spcAft>
                <a:spcPts val="900"/>
              </a:spcAft>
            </a:pPr>
            <a:r>
              <a:rPr sz="1400" b="1" i="0">
                <a:solidFill>
                  <a:srgbClr val="F0A500"/>
                </a:solidFill>
                <a:latin typeface="Calibri"/>
              </a:rPr>
              <a:t>•  </a:t>
            </a:r>
            <a:r>
              <a:rPr sz="1400" b="0" i="0">
                <a:solidFill>
                  <a:srgbClr val="FFFFFF"/>
                </a:solidFill>
                <a:latin typeface="Calibri"/>
              </a:rPr>
              <a:t>The array is parameterized by N, defaulting to a 4x4 systolic-style grid of MAC units that can be resized for different experiments.</a:t>
            </a:r>
          </a:p>
          <a:p>
            <a:pPr>
              <a:spcAft>
                <a:spcPts val="900"/>
              </a:spcAft>
            </a:pPr>
            <a:r>
              <a:rPr sz="1400" b="1" i="0">
                <a:solidFill>
                  <a:srgbClr val="F0A500"/>
                </a:solidFill>
                <a:latin typeface="Calibri"/>
              </a:rPr>
              <a:t>•  </a:t>
            </a:r>
            <a:r>
              <a:rPr sz="1400" b="0" i="0">
                <a:solidFill>
                  <a:srgbClr val="FFFFFF"/>
                </a:solidFill>
                <a:latin typeface="Calibri"/>
              </a:rPr>
              <a:t>Three data types are supported: INT8 with an 8-bit input and 32-bit accumulator, INT16 with a 16-bit input and 48-bit accumulator, and a placeholder FP16 mode.</a:t>
            </a:r>
          </a:p>
          <a:p>
            <a:pPr>
              <a:spcAft>
                <a:spcPts val="900"/>
              </a:spcAft>
            </a:pPr>
            <a:r>
              <a:rPr sz="1400" b="1" i="0">
                <a:solidFill>
                  <a:srgbClr val="F0A500"/>
                </a:solidFill>
                <a:latin typeface="Calibri"/>
              </a:rPr>
              <a:t>•  </a:t>
            </a:r>
            <a:r>
              <a:rPr sz="1400" b="0" i="0">
                <a:solidFill>
                  <a:srgbClr val="FFFFFF"/>
                </a:solidFill>
                <a:latin typeface="Calibri"/>
              </a:rPr>
              <a:t>A simple three-state FSM — IDLE, COMPUTE for N cycles, then DONE — keeps the control logic easy to reason about and easy to inject faults into.</a:t>
            </a:r>
          </a:p>
          <a:p>
            <a:pPr>
              <a:spcAft>
                <a:spcPts val="900"/>
              </a:spcAft>
            </a:pPr>
            <a:r>
              <a:rPr sz="1400" b="1" i="0">
                <a:solidFill>
                  <a:srgbClr val="F0A500"/>
                </a:solidFill>
                <a:latin typeface="Calibri"/>
              </a:rPr>
              <a:t>•  </a:t>
            </a:r>
            <a:r>
              <a:rPr sz="1400" b="0" i="0">
                <a:solidFill>
                  <a:srgbClr val="FFFFFF"/>
                </a:solidFill>
                <a:latin typeface="Calibri"/>
              </a:rPr>
              <a:t>Input and output ports use an AXI-style valid/ready handshake so the array can stall cleanly when downstream logic is not ready.</a:t>
            </a:r>
          </a:p>
          <a:p>
            <a:pPr>
              <a:spcAft>
                <a:spcPts val="900"/>
              </a:spcAft>
            </a:pPr>
            <a:r>
              <a:rPr sz="1400" b="1" i="0">
                <a:solidFill>
                  <a:srgbClr val="F0A500"/>
                </a:solidFill>
                <a:latin typeface="Calibri"/>
              </a:rPr>
              <a:t>•  </a:t>
            </a:r>
            <a:r>
              <a:rPr sz="1400" b="0" i="0">
                <a:solidFill>
                  <a:srgbClr val="FFFFFF"/>
                </a:solidFill>
                <a:latin typeface="Calibri"/>
              </a:rPr>
              <a:t>The module is lint-clean under Verilator with zero warnings, which matters because every fault variant is a one-line edit to this same clean baseline.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RTL DESIGN &amp; TESTBENCH</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RTL Module 2: quant_unit.sv</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12 / 40</a:t>
            </a:r>
          </a:p>
        </p:txBody>
      </p:sp>
      <p:sp>
        <p:nvSpPr>
          <p:cNvPr id="9" name="TextBox 8"/>
          <p:cNvSpPr txBox="1"/>
          <p:nvPr/>
        </p:nvSpPr>
        <p:spPr>
          <a:xfrm>
            <a:off x="640080" y="1508760"/>
            <a:ext cx="10911535" cy="1051560"/>
          </a:xfrm>
          <a:prstGeom prst="rect">
            <a:avLst/>
          </a:prstGeom>
          <a:noFill/>
        </p:spPr>
        <p:txBody>
          <a:bodyPr wrap="square" lIns="0" rIns="0" tIns="0" bIns="0">
            <a:noAutofit/>
          </a:bodyPr>
          <a:lstStyle/>
          <a:p>
            <a:pPr>
              <a:lnSpc>
                <a:spcPct val="120000"/>
              </a:lnSpc>
            </a:pPr>
            <a:r>
              <a:rPr sz="1600" b="0" i="0">
                <a:solidFill>
                  <a:srgbClr val="FFFFFF"/>
                </a:solidFill>
                <a:latin typeface="Calibri"/>
              </a:rPr>
              <a:t>quant_unit.sv converts the wide accumulator output of the MAC array back down to INT8, the format the rest of the accelerator expects. This per-channel asymmetric quantization step is also where several of our most subtle injected faults live, because a shift or clamp error only shows up in a narrow range of output values.</a:t>
            </a:r>
          </a:p>
        </p:txBody>
      </p:sp>
      <p:sp>
        <p:nvSpPr>
          <p:cNvPr id="10" name="TextBox 9"/>
          <p:cNvSpPr txBox="1"/>
          <p:nvPr/>
        </p:nvSpPr>
        <p:spPr>
          <a:xfrm>
            <a:off x="640080" y="2560320"/>
            <a:ext cx="10911535" cy="3886200"/>
          </a:xfrm>
          <a:prstGeom prst="rect">
            <a:avLst/>
          </a:prstGeom>
          <a:noFill/>
        </p:spPr>
        <p:txBody>
          <a:bodyPr wrap="square" lIns="0" rIns="0" tIns="0" bIns="0">
            <a:noAutofit/>
          </a:bodyPr>
          <a:lstStyle/>
          <a:p>
            <a:pPr>
              <a:spcAft>
                <a:spcPts val="800"/>
              </a:spcAft>
            </a:pPr>
            <a:r>
              <a:rPr sz="1350" b="1" i="0">
                <a:solidFill>
                  <a:srgbClr val="F0A500"/>
                </a:solidFill>
                <a:latin typeface="Calibri"/>
              </a:rPr>
              <a:t>•  </a:t>
            </a:r>
            <a:r>
              <a:rPr sz="1350" b="0" i="0">
                <a:solidFill>
                  <a:srgbClr val="FFFFFF"/>
                </a:solidFill>
                <a:latin typeface="Calibri"/>
              </a:rPr>
              <a:t>The quantization formula is q[i][j] = clamp(((acc[i][j] * scale[i]) &gt;&gt;&gt; shift[i]) + zero_pt[i], -128, 127), applied independently per output channel.</a:t>
            </a:r>
          </a:p>
          <a:p>
            <a:pPr>
              <a:spcAft>
                <a:spcPts val="800"/>
              </a:spcAft>
            </a:pPr>
            <a:r>
              <a:rPr sz="1350" b="1" i="0">
                <a:solidFill>
                  <a:srgbClr val="F0A500"/>
                </a:solidFill>
                <a:latin typeface="Calibri"/>
              </a:rPr>
              <a:t>•  </a:t>
            </a:r>
            <a:r>
              <a:rPr sz="1350" b="0" i="0">
                <a:solidFill>
                  <a:srgbClr val="FFFFFF"/>
                </a:solidFill>
                <a:latin typeface="Calibri"/>
              </a:rPr>
              <a:t>The channel axis is the output row index i, and each channel carries its own 16-bit scale, 5-bit shift, and signed INT8 zero-point.</a:t>
            </a:r>
          </a:p>
          <a:p>
            <a:pPr>
              <a:spcAft>
                <a:spcPts val="800"/>
              </a:spcAft>
            </a:pPr>
            <a:r>
              <a:rPr sz="1350" b="1" i="0">
                <a:solidFill>
                  <a:srgbClr val="F0A500"/>
                </a:solidFill>
                <a:latin typeface="Calibri"/>
              </a:rPr>
              <a:t>•  </a:t>
            </a:r>
            <a:r>
              <a:rPr sz="1350" b="0" i="0">
                <a:solidFill>
                  <a:srgbClr val="FFFFFF"/>
                </a:solidFill>
                <a:latin typeface="Calibri"/>
              </a:rPr>
              <a:t>Quantization is combinational, so the unit adds only a single cycle of latency to the pipeline.</a:t>
            </a:r>
          </a:p>
          <a:p>
            <a:pPr>
              <a:spcAft>
                <a:spcPts val="800"/>
              </a:spcAft>
            </a:pPr>
            <a:r>
              <a:rPr sz="1350" b="1" i="0">
                <a:solidFill>
                  <a:srgbClr val="F0A500"/>
                </a:solidFill>
                <a:latin typeface="Calibri"/>
              </a:rPr>
              <a:t>•  </a:t>
            </a:r>
            <a:r>
              <a:rPr sz="1350" b="0" i="0">
                <a:solidFill>
                  <a:srgbClr val="FFFFFF"/>
                </a:solidFill>
                <a:latin typeface="Calibri"/>
              </a:rPr>
              <a:t>The internal product width is PROD_W = ACC_W + SCALE_W + 1 = 49 bits, wide enough that the multiply-and-shift never itself overflows.</a:t>
            </a:r>
          </a:p>
          <a:p>
            <a:pPr>
              <a:spcAft>
                <a:spcPts val="800"/>
              </a:spcAft>
            </a:pPr>
            <a:r>
              <a:rPr sz="1350" b="1" i="0">
                <a:solidFill>
                  <a:srgbClr val="F0A500"/>
                </a:solidFill>
                <a:latin typeface="Calibri"/>
              </a:rPr>
              <a:t>•  </a:t>
            </a:r>
            <a:r>
              <a:rPr sz="1350" b="0" i="0">
                <a:solidFill>
                  <a:srgbClr val="FFFFFF"/>
                </a:solidFill>
                <a:latin typeface="Calibri"/>
              </a:rPr>
              <a:t>Because the formula has three independent operands — scale, shift, and zero-point — each is a natural target for a distinct class of injected fault.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RTL DESIGN &amp; TESTBENCH</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RTL Modules 3 and 4</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13 / 40</a:t>
            </a:r>
          </a:p>
        </p:txBody>
      </p:sp>
      <p:sp>
        <p:nvSpPr>
          <p:cNvPr id="9" name="TextBox 8"/>
          <p:cNvSpPr txBox="1"/>
          <p:nvPr/>
        </p:nvSpPr>
        <p:spPr>
          <a:xfrm>
            <a:off x="640080" y="1508760"/>
            <a:ext cx="10911535" cy="685800"/>
          </a:xfrm>
          <a:prstGeom prst="rect">
            <a:avLst/>
          </a:prstGeom>
          <a:noFill/>
        </p:spPr>
        <p:txBody>
          <a:bodyPr wrap="square" lIns="0" rIns="0" tIns="0" bIns="0">
            <a:noAutofit/>
          </a:bodyPr>
          <a:lstStyle/>
          <a:p>
            <a:pPr>
              <a:lnSpc>
                <a:spcPct val="115000"/>
              </a:lnSpc>
            </a:pPr>
            <a:r>
              <a:rPr sz="1400" b="0" i="0">
                <a:solidFill>
                  <a:srgbClr val="C7C9D9"/>
                </a:solidFill>
                <a:latin typeface="Calibri"/>
              </a:rPr>
              <a:t>Two supporting modules round out the accelerator: a memory arbiter that resolves contention for shared SRAM, and a top-level FSM that sequences the whole tile through load, compute, quantize, and store.</a:t>
            </a:r>
          </a:p>
        </p:txBody>
      </p:sp>
      <p:sp>
        <p:nvSpPr>
          <p:cNvPr id="10" name="Rectangle 9"/>
          <p:cNvSpPr/>
          <p:nvPr/>
        </p:nvSpPr>
        <p:spPr>
          <a:xfrm>
            <a:off x="640080" y="2286000"/>
            <a:ext cx="5227167" cy="50292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286000"/>
            <a:ext cx="4952847" cy="502920"/>
          </a:xfrm>
          <a:prstGeom prst="rect">
            <a:avLst/>
          </a:prstGeom>
          <a:noFill/>
        </p:spPr>
        <p:txBody>
          <a:bodyPr wrap="square" anchor="ctr" lIns="0" rIns="0" tIns="0" bIns="0">
            <a:noAutofit/>
          </a:bodyPr>
          <a:lstStyle/>
          <a:p>
            <a:r>
              <a:rPr sz="1800" b="1" i="0">
                <a:solidFill>
                  <a:srgbClr val="F0A500"/>
                </a:solidFill>
                <a:latin typeface="Consolas"/>
              </a:rPr>
              <a:t>mem_arbiter.sv</a:t>
            </a:r>
          </a:p>
        </p:txBody>
      </p:sp>
      <p:sp>
        <p:nvSpPr>
          <p:cNvPr id="12" name="TextBox 11"/>
          <p:cNvSpPr txBox="1"/>
          <p:nvPr/>
        </p:nvSpPr>
        <p:spPr>
          <a:xfrm>
            <a:off x="731520" y="2971800"/>
            <a:ext cx="5044287" cy="3063240"/>
          </a:xfrm>
          <a:prstGeom prst="rect">
            <a:avLst/>
          </a:prstGeom>
          <a:noFill/>
        </p:spPr>
        <p:txBody>
          <a:bodyPr wrap="square" lIns="0" rIns="0" tIns="0" bIns="0">
            <a:noAutofit/>
          </a:bodyPr>
          <a:lstStyle/>
          <a:p>
            <a:pPr>
              <a:spcAft>
                <a:spcPts val="1000"/>
              </a:spcAft>
            </a:pPr>
            <a:r>
              <a:rPr sz="1450" b="1" i="0">
                <a:solidFill>
                  <a:srgbClr val="F0A500"/>
                </a:solidFill>
                <a:latin typeface="Calibri"/>
              </a:rPr>
              <a:t>•  </a:t>
            </a:r>
            <a:r>
              <a:rPr sz="1450" b="0" i="0">
                <a:solidFill>
                  <a:srgbClr val="FFFFFF"/>
                </a:solidFill>
                <a:latin typeface="Calibri"/>
              </a:rPr>
              <a:t>It arbitrates a single shared SRAM port between the weight (A) and activation (B) requestors using simple round-robin priority.</a:t>
            </a:r>
          </a:p>
          <a:p>
            <a:pPr>
              <a:spcAft>
                <a:spcPts val="1000"/>
              </a:spcAft>
            </a:pPr>
            <a:r>
              <a:rPr sz="1450" b="1" i="0">
                <a:solidFill>
                  <a:srgbClr val="F0A500"/>
                </a:solidFill>
                <a:latin typeface="Calibri"/>
              </a:rPr>
              <a:t>•  </a:t>
            </a:r>
            <a:r>
              <a:rPr sz="1450" b="0" i="0">
                <a:solidFill>
                  <a:srgbClr val="FFFFFF"/>
                </a:solidFill>
                <a:latin typeface="Calibri"/>
              </a:rPr>
              <a:t>Bank-conflict detection compares the low address bits of both requests and flags a conflict when they collide.</a:t>
            </a:r>
          </a:p>
          <a:p>
            <a:pPr>
              <a:spcAft>
                <a:spcPts val="1000"/>
              </a:spcAft>
            </a:pPr>
            <a:r>
              <a:rPr sz="1450" b="1" i="0">
                <a:solidFill>
                  <a:srgbClr val="F0A500"/>
                </a:solidFill>
                <a:latin typeface="Calibri"/>
              </a:rPr>
              <a:t>•  </a:t>
            </a:r>
            <a:r>
              <a:rPr sz="1450" b="0" i="0">
                <a:solidFill>
                  <a:srgbClr val="FFFFFF"/>
                </a:solidFill>
                <a:latin typeface="Calibri"/>
              </a:rPr>
              <a:t>A conflict costs exactly one cycle of stall, keeping the timing model simple and predictable for the testbench.</a:t>
            </a:r>
          </a:p>
        </p:txBody>
      </p:sp>
      <p:sp>
        <p:nvSpPr>
          <p:cNvPr id="13" name="Rectangle 12"/>
          <p:cNvSpPr/>
          <p:nvPr/>
        </p:nvSpPr>
        <p:spPr>
          <a:xfrm>
            <a:off x="6324447" y="2286000"/>
            <a:ext cx="5227167" cy="50292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1607" y="2286000"/>
            <a:ext cx="4952847" cy="502920"/>
          </a:xfrm>
          <a:prstGeom prst="rect">
            <a:avLst/>
          </a:prstGeom>
          <a:noFill/>
        </p:spPr>
        <p:txBody>
          <a:bodyPr wrap="square" anchor="ctr" lIns="0" rIns="0" tIns="0" bIns="0">
            <a:noAutofit/>
          </a:bodyPr>
          <a:lstStyle/>
          <a:p>
            <a:r>
              <a:rPr sz="1800" b="1" i="0">
                <a:solidFill>
                  <a:srgbClr val="F0A500"/>
                </a:solidFill>
                <a:latin typeface="Consolas"/>
              </a:rPr>
              <a:t>control_fsm.sv</a:t>
            </a:r>
          </a:p>
        </p:txBody>
      </p:sp>
      <p:sp>
        <p:nvSpPr>
          <p:cNvPr id="15" name="TextBox 14"/>
          <p:cNvSpPr txBox="1"/>
          <p:nvPr/>
        </p:nvSpPr>
        <p:spPr>
          <a:xfrm>
            <a:off x="6415887" y="2971800"/>
            <a:ext cx="5044287" cy="3063240"/>
          </a:xfrm>
          <a:prstGeom prst="rect">
            <a:avLst/>
          </a:prstGeom>
          <a:noFill/>
        </p:spPr>
        <p:txBody>
          <a:bodyPr wrap="square" lIns="0" rIns="0" tIns="0" bIns="0">
            <a:noAutofit/>
          </a:bodyPr>
          <a:lstStyle/>
          <a:p>
            <a:pPr>
              <a:spcAft>
                <a:spcPts val="1000"/>
              </a:spcAft>
            </a:pPr>
            <a:r>
              <a:rPr sz="1450" b="1" i="0">
                <a:solidFill>
                  <a:srgbClr val="F0A500"/>
                </a:solidFill>
                <a:latin typeface="Calibri"/>
              </a:rPr>
              <a:t>•  </a:t>
            </a:r>
            <a:r>
              <a:rPr sz="1450" b="0" i="0">
                <a:solidFill>
                  <a:srgbClr val="FFFFFF"/>
                </a:solidFill>
                <a:latin typeface="Calibri"/>
              </a:rPr>
              <a:t>It instantiates and sequences all three other modules — mac_array, quant_unit, and mem_arbiter — behind a single start/done interface.</a:t>
            </a:r>
          </a:p>
          <a:p>
            <a:pPr>
              <a:spcAft>
                <a:spcPts val="1000"/>
              </a:spcAft>
            </a:pPr>
            <a:r>
              <a:rPr sz="1450" b="1" i="0">
                <a:solidFill>
                  <a:srgbClr val="F0A500"/>
                </a:solidFill>
                <a:latin typeface="Calibri"/>
              </a:rPr>
              <a:t>•  </a:t>
            </a:r>
            <a:r>
              <a:rPr sz="1450" b="0" i="0">
                <a:solidFill>
                  <a:srgbClr val="FFFFFF"/>
                </a:solidFill>
                <a:latin typeface="Calibri"/>
              </a:rPr>
              <a:t>The FSM moves through IDLE, LOAD, COMPUTE, QUANTIZE, and STORE states to process one full tile end-to-end.</a:t>
            </a:r>
          </a:p>
          <a:p>
            <a:pPr>
              <a:spcAft>
                <a:spcPts val="1000"/>
              </a:spcAft>
            </a:pPr>
            <a:r>
              <a:rPr sz="1450" b="1" i="0">
                <a:solidFill>
                  <a:srgbClr val="F0A500"/>
                </a:solidFill>
                <a:latin typeface="Calibri"/>
              </a:rPr>
              <a:t>•  </a:t>
            </a:r>
            <a:r>
              <a:rPr sz="1450" b="0" i="0">
                <a:solidFill>
                  <a:srgbClr val="FFFFFF"/>
                </a:solidFill>
                <a:latin typeface="Calibri"/>
              </a:rPr>
              <a:t>A single-cycle start/done pulse handshake lets a higher-level controller treat the whole tile computation as one atomic operation.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RTL DESIGN &amp; TESTBENCH</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CocoTB Testbench</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14 / 40</a:t>
            </a:r>
          </a:p>
        </p:txBody>
      </p:sp>
      <p:sp>
        <p:nvSpPr>
          <p:cNvPr id="9" name="TextBox 8"/>
          <p:cNvSpPr txBox="1"/>
          <p:nvPr/>
        </p:nvSpPr>
        <p:spPr>
          <a:xfrm>
            <a:off x="640080" y="1508760"/>
            <a:ext cx="10911535" cy="1051560"/>
          </a:xfrm>
          <a:prstGeom prst="rect">
            <a:avLst/>
          </a:prstGeom>
          <a:noFill/>
        </p:spPr>
        <p:txBody>
          <a:bodyPr wrap="square" lIns="0" rIns="0" tIns="0" bIns="0">
            <a:noAutofit/>
          </a:bodyPr>
          <a:lstStyle/>
          <a:p>
            <a:pPr>
              <a:lnSpc>
                <a:spcPct val="120000"/>
              </a:lnSpc>
            </a:pPr>
            <a:r>
              <a:rPr sz="1600" b="0" i="0">
                <a:solidFill>
                  <a:srgbClr val="FFFFFF"/>
                </a:solidFill>
                <a:latin typeface="Calibri"/>
              </a:rPr>
              <a:t>The CocoTB testbench drives every RTL module from Python, using the same NumPy reference models that generate the regression database's expected values. This means a test failure is always a genuine RTL/reference mismatch, never a stale hardcoded number going out of sync with the design.</a:t>
            </a:r>
          </a:p>
        </p:txBody>
      </p:sp>
      <p:sp>
        <p:nvSpPr>
          <p:cNvPr id="10" name="TextBox 9"/>
          <p:cNvSpPr txBox="1"/>
          <p:nvPr/>
        </p:nvSpPr>
        <p:spPr>
          <a:xfrm>
            <a:off x="640080" y="2560320"/>
            <a:ext cx="10911535" cy="3886200"/>
          </a:xfrm>
          <a:prstGeom prst="rect">
            <a:avLst/>
          </a:prstGeom>
          <a:noFill/>
        </p:spPr>
        <p:txBody>
          <a:bodyPr wrap="square" lIns="0" rIns="0" tIns="0" bIns="0">
            <a:noAutofit/>
          </a:bodyPr>
          <a:lstStyle/>
          <a:p>
            <a:pPr>
              <a:spcAft>
                <a:spcPts val="800"/>
              </a:spcAft>
            </a:pPr>
            <a:r>
              <a:rPr sz="1350" b="1" i="0">
                <a:solidFill>
                  <a:srgbClr val="F0A500"/>
                </a:solidFill>
                <a:latin typeface="Calibri"/>
              </a:rPr>
              <a:t>•  </a:t>
            </a:r>
            <a:r>
              <a:rPr sz="1350" b="0" i="0">
                <a:solidFill>
                  <a:srgbClr val="FFFFFF"/>
                </a:solidFill>
                <a:latin typeface="Calibri"/>
              </a:rPr>
              <a:t>CocoTB 2.0.1 runs on top of a Verilator </a:t>
            </a:r>
            <a:r>
              <a:rPr sz="1350" b="1" i="0">
                <a:solidFill>
                  <a:srgbClr val="F0A500"/>
                </a:solidFill>
                <a:latin typeface="Calibri"/>
              </a:rPr>
              <a:t>5.x</a:t>
            </a:r>
            <a:r>
              <a:rPr sz="1350" b="0" i="0">
                <a:solidFill>
                  <a:srgbClr val="FFFFFF"/>
                </a:solidFill>
                <a:latin typeface="Calibri"/>
              </a:rPr>
              <a:t> backend, giving fast, open-source, cycle-accurate simulation.</a:t>
            </a:r>
          </a:p>
          <a:p>
            <a:pPr>
              <a:spcAft>
                <a:spcPts val="800"/>
              </a:spcAft>
            </a:pPr>
            <a:r>
              <a:rPr sz="1350" b="1" i="0">
                <a:solidFill>
                  <a:srgbClr val="F0A500"/>
                </a:solidFill>
                <a:latin typeface="Calibri"/>
              </a:rPr>
              <a:t>•  </a:t>
            </a:r>
            <a:r>
              <a:rPr sz="1350" b="0" i="0">
                <a:solidFill>
                  <a:srgbClr val="FFFFFF"/>
                </a:solidFill>
                <a:latin typeface="Calibri"/>
              </a:rPr>
              <a:t>Because Verilator's VPI cannot see unpacked 2-D SystemVerilog ports directly, thin SV wrapper modules flatten them into packed flat buses before CocoTB drives them.</a:t>
            </a:r>
          </a:p>
          <a:p>
            <a:pPr>
              <a:spcAft>
                <a:spcPts val="800"/>
              </a:spcAft>
            </a:pPr>
            <a:r>
              <a:rPr sz="1350" b="1" i="0">
                <a:solidFill>
                  <a:srgbClr val="F0A500"/>
                </a:solidFill>
                <a:latin typeface="Calibri"/>
              </a:rPr>
              <a:t>•  </a:t>
            </a:r>
            <a:r>
              <a:rPr sz="1350" b="0" i="0">
                <a:solidFill>
                  <a:srgbClr val="FFFFFF"/>
                </a:solidFill>
                <a:latin typeface="Calibri"/>
              </a:rPr>
              <a:t>Every test follows the same valid/ready handshake protocol and CocoTB </a:t>
            </a:r>
            <a:r>
              <a:rPr sz="1350" b="1" i="0">
                <a:solidFill>
                  <a:srgbClr val="F0A500"/>
                </a:solidFill>
                <a:latin typeface="Calibri"/>
              </a:rPr>
              <a:t>2.x</a:t>
            </a:r>
            <a:r>
              <a:rPr sz="1350" b="0" i="0">
                <a:solidFill>
                  <a:srgbClr val="FFFFFF"/>
                </a:solidFill>
                <a:latin typeface="Calibri"/>
              </a:rPr>
              <a:t> ReadOnly() phase discipline to avoid simulator race conditions.</a:t>
            </a:r>
          </a:p>
          <a:p>
            <a:pPr>
              <a:spcAft>
                <a:spcPts val="800"/>
              </a:spcAft>
            </a:pPr>
            <a:r>
              <a:rPr sz="1350" b="1" i="0">
                <a:solidFill>
                  <a:srgbClr val="F0A500"/>
                </a:solidFill>
                <a:latin typeface="Calibri"/>
              </a:rPr>
              <a:t>•  </a:t>
            </a:r>
            <a:r>
              <a:rPr sz="1350" b="0" i="0">
                <a:solidFill>
                  <a:srgbClr val="FFFFFF"/>
                </a:solidFill>
                <a:latin typeface="Calibri"/>
              </a:rPr>
              <a:t>The mac_array suite runs 21 distinct tests across 3 configurations, for 63 total test runs covering INT8, INT16, and the N=1 edge case.</a:t>
            </a:r>
          </a:p>
          <a:p>
            <a:pPr>
              <a:spcAft>
                <a:spcPts val="800"/>
              </a:spcAft>
            </a:pPr>
            <a:r>
              <a:rPr sz="1350" b="1" i="0">
                <a:solidFill>
                  <a:srgbClr val="F0A500"/>
                </a:solidFill>
                <a:latin typeface="Calibri"/>
              </a:rPr>
              <a:t>•  </a:t>
            </a:r>
            <a:r>
              <a:rPr sz="1350" b="0" i="0">
                <a:solidFill>
                  <a:srgbClr val="FFFFFF"/>
                </a:solidFill>
                <a:latin typeface="Calibri"/>
              </a:rPr>
              <a:t>The quant_unit suite runs </a:t>
            </a:r>
            <a:r>
              <a:rPr sz="1350" b="1" i="0">
                <a:solidFill>
                  <a:srgbClr val="F0A500"/>
                </a:solidFill>
                <a:latin typeface="Calibri"/>
              </a:rPr>
              <a:t>30 tests</a:t>
            </a:r>
            <a:r>
              <a:rPr sz="1350" b="0" i="0">
                <a:solidFill>
                  <a:srgbClr val="FFFFFF"/>
                </a:solidFill>
                <a:latin typeface="Calibri"/>
              </a:rPr>
              <a:t> across 3 accumulator-width configurations, for 90 total test runs, with every expected value computed rather than hardcoded.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RTL DESIGN &amp; TESTBENCH</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NumPy Reference Models</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15 / 40</a:t>
            </a:r>
          </a:p>
        </p:txBody>
      </p:sp>
      <p:sp>
        <p:nvSpPr>
          <p:cNvPr id="9" name="TextBox 8"/>
          <p:cNvSpPr txBox="1"/>
          <p:nvPr/>
        </p:nvSpPr>
        <p:spPr>
          <a:xfrm>
            <a:off x="640080" y="1508760"/>
            <a:ext cx="10911535" cy="685800"/>
          </a:xfrm>
          <a:prstGeom prst="rect">
            <a:avLst/>
          </a:prstGeom>
          <a:noFill/>
        </p:spPr>
        <p:txBody>
          <a:bodyPr wrap="square" lIns="0" rIns="0" tIns="0" bIns="0">
            <a:noAutofit/>
          </a:bodyPr>
          <a:lstStyle/>
          <a:p>
            <a:pPr>
              <a:lnSpc>
                <a:spcPct val="115000"/>
              </a:lnSpc>
            </a:pPr>
            <a:r>
              <a:rPr sz="1400" b="0" i="0">
                <a:solidFill>
                  <a:srgbClr val="C7C9D9"/>
                </a:solidFill>
                <a:latin typeface="Calibri"/>
              </a:rPr>
              <a:t>Before any RTL was written, we implemented golden reference models in pure NumPy so every expected value in the test suite — and every ground-truth label in the fault dataset — is computed from first principles rather than hand-derived.</a:t>
            </a:r>
          </a:p>
        </p:txBody>
      </p:sp>
      <p:sp>
        <p:nvSpPr>
          <p:cNvPr id="10" name="Rectangle 9"/>
          <p:cNvSpPr/>
          <p:nvPr/>
        </p:nvSpPr>
        <p:spPr>
          <a:xfrm>
            <a:off x="640080" y="2286000"/>
            <a:ext cx="5227167" cy="50292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286000"/>
            <a:ext cx="4952847" cy="502920"/>
          </a:xfrm>
          <a:prstGeom prst="rect">
            <a:avLst/>
          </a:prstGeom>
          <a:noFill/>
        </p:spPr>
        <p:txBody>
          <a:bodyPr wrap="square" anchor="ctr" lIns="0" rIns="0" tIns="0" bIns="0">
            <a:noAutofit/>
          </a:bodyPr>
          <a:lstStyle/>
          <a:p>
            <a:r>
              <a:rPr sz="1800" b="1" i="0">
                <a:solidFill>
                  <a:srgbClr val="F0A500"/>
                </a:solidFill>
                <a:latin typeface="Consolas"/>
              </a:rPr>
              <a:t>mac_ref.py</a:t>
            </a:r>
          </a:p>
        </p:txBody>
      </p:sp>
      <p:sp>
        <p:nvSpPr>
          <p:cNvPr id="12" name="TextBox 11"/>
          <p:cNvSpPr txBox="1"/>
          <p:nvPr/>
        </p:nvSpPr>
        <p:spPr>
          <a:xfrm>
            <a:off x="731520" y="2971800"/>
            <a:ext cx="5044287" cy="3063240"/>
          </a:xfrm>
          <a:prstGeom prst="rect">
            <a:avLst/>
          </a:prstGeom>
          <a:noFill/>
        </p:spPr>
        <p:txBody>
          <a:bodyPr wrap="square" lIns="0" rIns="0" tIns="0" bIns="0">
            <a:noAutofit/>
          </a:bodyPr>
          <a:lstStyle/>
          <a:p>
            <a:pPr>
              <a:spcAft>
                <a:spcPts val="1000"/>
              </a:spcAft>
            </a:pPr>
            <a:r>
              <a:rPr sz="1450" b="1" i="0">
                <a:solidFill>
                  <a:srgbClr val="F0A500"/>
                </a:solidFill>
                <a:latin typeface="Calibri"/>
              </a:rPr>
              <a:t>•  </a:t>
            </a:r>
            <a:r>
              <a:rPr sz="1450" b="0" i="0">
                <a:solidFill>
                  <a:srgbClr val="FFFFFF"/>
                </a:solidFill>
                <a:latin typeface="Calibri"/>
              </a:rPr>
              <a:t>It performs a straightforward NxN matrix multiply using standard NumPy operations, with no hardware-specific tricks.</a:t>
            </a:r>
          </a:p>
          <a:p>
            <a:pPr>
              <a:spcAft>
                <a:spcPts val="1000"/>
              </a:spcAft>
            </a:pPr>
            <a:r>
              <a:rPr sz="1450" b="1" i="0">
                <a:solidFill>
                  <a:srgbClr val="F0A500"/>
                </a:solidFill>
                <a:latin typeface="Calibri"/>
              </a:rPr>
              <a:t>•  </a:t>
            </a:r>
            <a:r>
              <a:rPr sz="1450" b="0" i="0">
                <a:solidFill>
                  <a:srgbClr val="FFFFFF"/>
                </a:solidFill>
                <a:latin typeface="Calibri"/>
              </a:rPr>
              <a:t>INT8 inputs accumulate into a 32-bit result, INT16 inputs accumulate into a 64-bit value wrapped to the RTL's 48-bit accumulator, and the FP16 path is a stub returning zeros.</a:t>
            </a:r>
          </a:p>
          <a:p>
            <a:pPr>
              <a:spcAft>
                <a:spcPts val="1000"/>
              </a:spcAft>
            </a:pPr>
            <a:r>
              <a:rPr sz="1450" b="1" i="0">
                <a:solidFill>
                  <a:srgbClr val="F0A500"/>
                </a:solidFill>
                <a:latin typeface="Calibri"/>
              </a:rPr>
              <a:t>•  </a:t>
            </a:r>
            <a:r>
              <a:rPr sz="1450" b="0" i="0">
                <a:solidFill>
                  <a:srgbClr val="FFFFFF"/>
                </a:solidFill>
                <a:latin typeface="Calibri"/>
              </a:rPr>
              <a:t>Every detail — sign extension behavior and accumulator wraparound — is matched bit-for-bit against mac_array.sv.</a:t>
            </a:r>
          </a:p>
        </p:txBody>
      </p:sp>
      <p:sp>
        <p:nvSpPr>
          <p:cNvPr id="13" name="Rectangle 12"/>
          <p:cNvSpPr/>
          <p:nvPr/>
        </p:nvSpPr>
        <p:spPr>
          <a:xfrm>
            <a:off x="6324447" y="2286000"/>
            <a:ext cx="5227167" cy="50292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1607" y="2286000"/>
            <a:ext cx="4952847" cy="502920"/>
          </a:xfrm>
          <a:prstGeom prst="rect">
            <a:avLst/>
          </a:prstGeom>
          <a:noFill/>
        </p:spPr>
        <p:txBody>
          <a:bodyPr wrap="square" anchor="ctr" lIns="0" rIns="0" tIns="0" bIns="0">
            <a:noAutofit/>
          </a:bodyPr>
          <a:lstStyle/>
          <a:p>
            <a:r>
              <a:rPr sz="1800" b="1" i="0">
                <a:solidFill>
                  <a:srgbClr val="F0A500"/>
                </a:solidFill>
                <a:latin typeface="Consolas"/>
              </a:rPr>
              <a:t>quant_ref.py</a:t>
            </a:r>
          </a:p>
        </p:txBody>
      </p:sp>
      <p:sp>
        <p:nvSpPr>
          <p:cNvPr id="15" name="TextBox 14"/>
          <p:cNvSpPr txBox="1"/>
          <p:nvPr/>
        </p:nvSpPr>
        <p:spPr>
          <a:xfrm>
            <a:off x="6415887" y="2971800"/>
            <a:ext cx="5044287" cy="3063240"/>
          </a:xfrm>
          <a:prstGeom prst="rect">
            <a:avLst/>
          </a:prstGeom>
          <a:noFill/>
        </p:spPr>
        <p:txBody>
          <a:bodyPr wrap="square" lIns="0" rIns="0" tIns="0" bIns="0">
            <a:noAutofit/>
          </a:bodyPr>
          <a:lstStyle/>
          <a:p>
            <a:pPr>
              <a:spcAft>
                <a:spcPts val="1000"/>
              </a:spcAft>
            </a:pPr>
            <a:r>
              <a:rPr sz="1450" b="1" i="0">
                <a:solidFill>
                  <a:srgbClr val="F0A500"/>
                </a:solidFill>
                <a:latin typeface="Calibri"/>
              </a:rPr>
              <a:t>•  </a:t>
            </a:r>
            <a:r>
              <a:rPr sz="1450" b="0" i="0">
                <a:solidFill>
                  <a:srgbClr val="FFFFFF"/>
                </a:solidFill>
                <a:latin typeface="Calibri"/>
              </a:rPr>
              <a:t>It reproduces the per-channel asymmetric INT8 quantization formula exactly, including the clamp to the signed INT8 range.</a:t>
            </a:r>
          </a:p>
          <a:p>
            <a:pPr>
              <a:spcAft>
                <a:spcPts val="1000"/>
              </a:spcAft>
            </a:pPr>
            <a:r>
              <a:rPr sz="1450" b="1" i="0">
                <a:solidFill>
                  <a:srgbClr val="F0A500"/>
                </a:solidFill>
                <a:latin typeface="Calibri"/>
              </a:rPr>
              <a:t>•  </a:t>
            </a:r>
            <a:r>
              <a:rPr sz="1450" b="0" i="0">
                <a:solidFill>
                  <a:srgbClr val="FFFFFF"/>
                </a:solidFill>
                <a:latin typeface="Calibri"/>
              </a:rPr>
              <a:t>The arithmetic right-shift is implemented using Python's arbitrary-precision integers, avoiding the int64 overflow bugs a naive implementation would introduce.</a:t>
            </a:r>
          </a:p>
          <a:p>
            <a:pPr>
              <a:spcAft>
                <a:spcPts val="1000"/>
              </a:spcAft>
            </a:pPr>
            <a:r>
              <a:rPr sz="1450" b="1" i="0">
                <a:solidFill>
                  <a:srgbClr val="F0A500"/>
                </a:solidFill>
                <a:latin typeface="Calibri"/>
              </a:rPr>
              <a:t>•  </a:t>
            </a:r>
            <a:r>
              <a:rPr sz="1450" b="0" i="0">
                <a:solidFill>
                  <a:srgbClr val="FFFFFF"/>
                </a:solidFill>
                <a:latin typeface="Calibri"/>
              </a:rPr>
              <a:t>This model matches quant_unit.sv's formula, including the 49-bit intermediate product width, precisely.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RTL DESIGN &amp; TESTBENCH</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Test Suite Growth</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16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Test count grew steadily and monotonically across all 19 development sessions, because each new pipeline stage shipped with its own dedicated pytest coverage before the project moved on. The chart below shows that growth trajectory — every session added tests, and none of the 131 final tests have ever failed.</a:t>
            </a:r>
          </a:p>
        </p:txBody>
      </p:sp>
      <p:sp>
        <p:nvSpPr>
          <p:cNvPr id="10" name="TextBox 9"/>
          <p:cNvSpPr txBox="1"/>
          <p:nvPr/>
        </p:nvSpPr>
        <p:spPr>
          <a:xfrm>
            <a:off x="640080" y="2377440"/>
            <a:ext cx="2651760" cy="384048"/>
          </a:xfrm>
          <a:prstGeom prst="rect">
            <a:avLst/>
          </a:prstGeom>
          <a:noFill/>
        </p:spPr>
        <p:txBody>
          <a:bodyPr wrap="square" anchor="ctr" lIns="0" rIns="0" tIns="0" bIns="0">
            <a:noAutofit/>
          </a:bodyPr>
          <a:lstStyle/>
          <a:p>
            <a:r>
              <a:rPr sz="1400" b="1" i="0">
                <a:solidFill>
                  <a:srgbClr val="FFFFFF"/>
                </a:solidFill>
                <a:latin typeface="Calibri"/>
              </a:rPr>
              <a:t>After Session 5</a:t>
            </a:r>
          </a:p>
        </p:txBody>
      </p:sp>
      <p:sp>
        <p:nvSpPr>
          <p:cNvPr id="11" name="Rectangle 10"/>
          <p:cNvSpPr/>
          <p:nvPr/>
        </p:nvSpPr>
        <p:spPr>
          <a:xfrm>
            <a:off x="3474720" y="2450592"/>
            <a:ext cx="1817547" cy="23774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01995" y="2377440"/>
            <a:ext cx="1463040" cy="384048"/>
          </a:xfrm>
          <a:prstGeom prst="rect">
            <a:avLst/>
          </a:prstGeom>
          <a:noFill/>
        </p:spPr>
        <p:txBody>
          <a:bodyPr wrap="square" anchor="ctr" lIns="0" rIns="0" tIns="0" bIns="0">
            <a:noAutofit/>
          </a:bodyPr>
          <a:lstStyle/>
          <a:p>
            <a:r>
              <a:rPr sz="1300" b="1" i="0">
                <a:solidFill>
                  <a:srgbClr val="F0A500"/>
                </a:solidFill>
                <a:latin typeface="Calibri"/>
              </a:rPr>
              <a:t>36 tests</a:t>
            </a:r>
          </a:p>
        </p:txBody>
      </p:sp>
      <p:sp>
        <p:nvSpPr>
          <p:cNvPr id="13" name="TextBox 12"/>
          <p:cNvSpPr txBox="1"/>
          <p:nvPr/>
        </p:nvSpPr>
        <p:spPr>
          <a:xfrm>
            <a:off x="640080" y="2834640"/>
            <a:ext cx="2651760" cy="384048"/>
          </a:xfrm>
          <a:prstGeom prst="rect">
            <a:avLst/>
          </a:prstGeom>
          <a:noFill/>
        </p:spPr>
        <p:txBody>
          <a:bodyPr wrap="square" anchor="ctr" lIns="0" rIns="0" tIns="0" bIns="0">
            <a:noAutofit/>
          </a:bodyPr>
          <a:lstStyle/>
          <a:p>
            <a:r>
              <a:rPr sz="1400" b="1" i="0">
                <a:solidFill>
                  <a:srgbClr val="FFFFFF"/>
                </a:solidFill>
                <a:latin typeface="Calibri"/>
              </a:rPr>
              <a:t>After Session 7</a:t>
            </a:r>
            <a:r>
              <a:rPr sz="1100" b="0" i="0">
                <a:solidFill>
                  <a:srgbClr val="C7C9D9"/>
                </a:solidFill>
                <a:latin typeface="Calibri"/>
              </a:rPr>
              <a:t>  (CocoTB added)</a:t>
            </a:r>
          </a:p>
        </p:txBody>
      </p:sp>
      <p:sp>
        <p:nvSpPr>
          <p:cNvPr id="14" name="Rectangle 13"/>
          <p:cNvSpPr/>
          <p:nvPr/>
        </p:nvSpPr>
        <p:spPr>
          <a:xfrm>
            <a:off x="3474720" y="2907792"/>
            <a:ext cx="2574859" cy="23774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59307" y="2834640"/>
            <a:ext cx="1463040" cy="384048"/>
          </a:xfrm>
          <a:prstGeom prst="rect">
            <a:avLst/>
          </a:prstGeom>
          <a:noFill/>
        </p:spPr>
        <p:txBody>
          <a:bodyPr wrap="square" anchor="ctr" lIns="0" rIns="0" tIns="0" bIns="0">
            <a:noAutofit/>
          </a:bodyPr>
          <a:lstStyle/>
          <a:p>
            <a:r>
              <a:rPr sz="1300" b="1" i="0">
                <a:solidFill>
                  <a:srgbClr val="F0A500"/>
                </a:solidFill>
                <a:latin typeface="Calibri"/>
              </a:rPr>
              <a:t>51 tests</a:t>
            </a:r>
          </a:p>
        </p:txBody>
      </p:sp>
      <p:sp>
        <p:nvSpPr>
          <p:cNvPr id="16" name="TextBox 15"/>
          <p:cNvSpPr txBox="1"/>
          <p:nvPr/>
        </p:nvSpPr>
        <p:spPr>
          <a:xfrm>
            <a:off x="640080" y="3291840"/>
            <a:ext cx="2651760" cy="384048"/>
          </a:xfrm>
          <a:prstGeom prst="rect">
            <a:avLst/>
          </a:prstGeom>
          <a:noFill/>
        </p:spPr>
        <p:txBody>
          <a:bodyPr wrap="square" anchor="ctr" lIns="0" rIns="0" tIns="0" bIns="0">
            <a:noAutofit/>
          </a:bodyPr>
          <a:lstStyle/>
          <a:p>
            <a:r>
              <a:rPr sz="1400" b="1" i="0">
                <a:solidFill>
                  <a:srgbClr val="FFFFFF"/>
                </a:solidFill>
                <a:latin typeface="Calibri"/>
              </a:rPr>
              <a:t>After Session 8</a:t>
            </a:r>
            <a:r>
              <a:rPr sz="1100" b="0" i="0">
                <a:solidFill>
                  <a:srgbClr val="C7C9D9"/>
                </a:solidFill>
                <a:latin typeface="Calibri"/>
              </a:rPr>
              <a:t>  (TestGenerator added)</a:t>
            </a:r>
          </a:p>
        </p:txBody>
      </p:sp>
      <p:sp>
        <p:nvSpPr>
          <p:cNvPr id="17" name="Rectangle 16"/>
          <p:cNvSpPr/>
          <p:nvPr/>
        </p:nvSpPr>
        <p:spPr>
          <a:xfrm>
            <a:off x="3474720" y="3364992"/>
            <a:ext cx="2827296" cy="23774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1744" y="3291840"/>
            <a:ext cx="1463040" cy="384048"/>
          </a:xfrm>
          <a:prstGeom prst="rect">
            <a:avLst/>
          </a:prstGeom>
          <a:noFill/>
        </p:spPr>
        <p:txBody>
          <a:bodyPr wrap="square" anchor="ctr" lIns="0" rIns="0" tIns="0" bIns="0">
            <a:noAutofit/>
          </a:bodyPr>
          <a:lstStyle/>
          <a:p>
            <a:r>
              <a:rPr sz="1300" b="1" i="0">
                <a:solidFill>
                  <a:srgbClr val="F0A500"/>
                </a:solidFill>
                <a:latin typeface="Calibri"/>
              </a:rPr>
              <a:t>56 tests</a:t>
            </a:r>
          </a:p>
        </p:txBody>
      </p:sp>
      <p:sp>
        <p:nvSpPr>
          <p:cNvPr id="19" name="TextBox 18"/>
          <p:cNvSpPr txBox="1"/>
          <p:nvPr/>
        </p:nvSpPr>
        <p:spPr>
          <a:xfrm>
            <a:off x="640080" y="3749040"/>
            <a:ext cx="2651760" cy="384048"/>
          </a:xfrm>
          <a:prstGeom prst="rect">
            <a:avLst/>
          </a:prstGeom>
          <a:noFill/>
        </p:spPr>
        <p:txBody>
          <a:bodyPr wrap="square" anchor="ctr" lIns="0" rIns="0" tIns="0" bIns="0">
            <a:noAutofit/>
          </a:bodyPr>
          <a:lstStyle/>
          <a:p>
            <a:r>
              <a:rPr sz="1400" b="1" i="0">
                <a:solidFill>
                  <a:srgbClr val="FFFFFF"/>
                </a:solidFill>
                <a:latin typeface="Calibri"/>
              </a:rPr>
              <a:t>After Session 9</a:t>
            </a:r>
            <a:r>
              <a:rPr sz="1100" b="0" i="0">
                <a:solidFill>
                  <a:srgbClr val="C7C9D9"/>
                </a:solidFill>
                <a:latin typeface="Calibri"/>
              </a:rPr>
              <a:t>  (feature extractor added)</a:t>
            </a:r>
          </a:p>
        </p:txBody>
      </p:sp>
      <p:sp>
        <p:nvSpPr>
          <p:cNvPr id="20" name="Rectangle 19"/>
          <p:cNvSpPr/>
          <p:nvPr/>
        </p:nvSpPr>
        <p:spPr>
          <a:xfrm>
            <a:off x="3474720" y="3822192"/>
            <a:ext cx="3231196" cy="23774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5644" y="3749040"/>
            <a:ext cx="1463040" cy="384048"/>
          </a:xfrm>
          <a:prstGeom prst="rect">
            <a:avLst/>
          </a:prstGeom>
          <a:noFill/>
        </p:spPr>
        <p:txBody>
          <a:bodyPr wrap="square" anchor="ctr" lIns="0" rIns="0" tIns="0" bIns="0">
            <a:noAutofit/>
          </a:bodyPr>
          <a:lstStyle/>
          <a:p>
            <a:r>
              <a:rPr sz="1300" b="1" i="0">
                <a:solidFill>
                  <a:srgbClr val="F0A500"/>
                </a:solidFill>
                <a:latin typeface="Calibri"/>
              </a:rPr>
              <a:t>64 tests</a:t>
            </a:r>
          </a:p>
        </p:txBody>
      </p:sp>
      <p:sp>
        <p:nvSpPr>
          <p:cNvPr id="22" name="TextBox 21"/>
          <p:cNvSpPr txBox="1"/>
          <p:nvPr/>
        </p:nvSpPr>
        <p:spPr>
          <a:xfrm>
            <a:off x="640080" y="4206240"/>
            <a:ext cx="2651760" cy="384048"/>
          </a:xfrm>
          <a:prstGeom prst="rect">
            <a:avLst/>
          </a:prstGeom>
          <a:noFill/>
        </p:spPr>
        <p:txBody>
          <a:bodyPr wrap="square" anchor="ctr" lIns="0" rIns="0" tIns="0" bIns="0">
            <a:noAutofit/>
          </a:bodyPr>
          <a:lstStyle/>
          <a:p>
            <a:r>
              <a:rPr sz="1400" b="1" i="0">
                <a:solidFill>
                  <a:srgbClr val="FFFFFF"/>
                </a:solidFill>
                <a:latin typeface="Calibri"/>
              </a:rPr>
              <a:t>After Session 10</a:t>
            </a:r>
            <a:r>
              <a:rPr sz="1100" b="0" i="0">
                <a:solidFill>
                  <a:srgbClr val="C7C9D9"/>
                </a:solidFill>
                <a:latin typeface="Calibri"/>
              </a:rPr>
              <a:t>  (clusterer added)</a:t>
            </a:r>
          </a:p>
        </p:txBody>
      </p:sp>
      <p:sp>
        <p:nvSpPr>
          <p:cNvPr id="23" name="Rectangle 22"/>
          <p:cNvSpPr/>
          <p:nvPr/>
        </p:nvSpPr>
        <p:spPr>
          <a:xfrm>
            <a:off x="3474720" y="4279392"/>
            <a:ext cx="3988507" cy="23774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2955" y="4206240"/>
            <a:ext cx="1463040" cy="384048"/>
          </a:xfrm>
          <a:prstGeom prst="rect">
            <a:avLst/>
          </a:prstGeom>
          <a:noFill/>
        </p:spPr>
        <p:txBody>
          <a:bodyPr wrap="square" anchor="ctr" lIns="0" rIns="0" tIns="0" bIns="0">
            <a:noAutofit/>
          </a:bodyPr>
          <a:lstStyle/>
          <a:p>
            <a:r>
              <a:rPr sz="1300" b="1" i="0">
                <a:solidFill>
                  <a:srgbClr val="F0A500"/>
                </a:solidFill>
                <a:latin typeface="Calibri"/>
              </a:rPr>
              <a:t>79 tests</a:t>
            </a:r>
          </a:p>
        </p:txBody>
      </p:sp>
      <p:sp>
        <p:nvSpPr>
          <p:cNvPr id="25" name="TextBox 24"/>
          <p:cNvSpPr txBox="1"/>
          <p:nvPr/>
        </p:nvSpPr>
        <p:spPr>
          <a:xfrm>
            <a:off x="640080" y="4663440"/>
            <a:ext cx="2651760" cy="384048"/>
          </a:xfrm>
          <a:prstGeom prst="rect">
            <a:avLst/>
          </a:prstGeom>
          <a:noFill/>
        </p:spPr>
        <p:txBody>
          <a:bodyPr wrap="square" anchor="ctr" lIns="0" rIns="0" tIns="0" bIns="0">
            <a:noAutofit/>
          </a:bodyPr>
          <a:lstStyle/>
          <a:p>
            <a:r>
              <a:rPr sz="1400" b="1" i="0">
                <a:solidFill>
                  <a:srgbClr val="FFFFFF"/>
                </a:solidFill>
                <a:latin typeface="Calibri"/>
              </a:rPr>
              <a:t>After Session 13</a:t>
            </a:r>
            <a:r>
              <a:rPr sz="1100" b="0" i="0">
                <a:solidFill>
                  <a:srgbClr val="C7C9D9"/>
                </a:solidFill>
                <a:latin typeface="Calibri"/>
              </a:rPr>
              <a:t>  (full triage pipeline)</a:t>
            </a:r>
          </a:p>
        </p:txBody>
      </p:sp>
      <p:sp>
        <p:nvSpPr>
          <p:cNvPr id="26" name="Rectangle 25"/>
          <p:cNvSpPr/>
          <p:nvPr/>
        </p:nvSpPr>
        <p:spPr>
          <a:xfrm>
            <a:off x="3474720" y="4736592"/>
            <a:ext cx="5351668" cy="23774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6116" y="4663440"/>
            <a:ext cx="1463040" cy="384048"/>
          </a:xfrm>
          <a:prstGeom prst="rect">
            <a:avLst/>
          </a:prstGeom>
          <a:noFill/>
        </p:spPr>
        <p:txBody>
          <a:bodyPr wrap="square" anchor="ctr" lIns="0" rIns="0" tIns="0" bIns="0">
            <a:noAutofit/>
          </a:bodyPr>
          <a:lstStyle/>
          <a:p>
            <a:r>
              <a:rPr sz="1300" b="1" i="0">
                <a:solidFill>
                  <a:srgbClr val="F0A500"/>
                </a:solidFill>
                <a:latin typeface="Calibri"/>
              </a:rPr>
              <a:t>106 tests</a:t>
            </a:r>
          </a:p>
        </p:txBody>
      </p:sp>
      <p:sp>
        <p:nvSpPr>
          <p:cNvPr id="28" name="TextBox 27"/>
          <p:cNvSpPr txBox="1"/>
          <p:nvPr/>
        </p:nvSpPr>
        <p:spPr>
          <a:xfrm>
            <a:off x="640080" y="5120640"/>
            <a:ext cx="2651760" cy="384048"/>
          </a:xfrm>
          <a:prstGeom prst="rect">
            <a:avLst/>
          </a:prstGeom>
          <a:noFill/>
        </p:spPr>
        <p:txBody>
          <a:bodyPr wrap="square" anchor="ctr" lIns="0" rIns="0" tIns="0" bIns="0">
            <a:noAutofit/>
          </a:bodyPr>
          <a:lstStyle/>
          <a:p>
            <a:r>
              <a:rPr sz="1400" b="1" i="0">
                <a:solidFill>
                  <a:srgbClr val="FFFFFF"/>
                </a:solidFill>
                <a:latin typeface="Calibri"/>
              </a:rPr>
              <a:t>After Session 17</a:t>
            </a:r>
            <a:r>
              <a:rPr sz="1100" b="0" i="0">
                <a:solidFill>
                  <a:srgbClr val="C7C9D9"/>
                </a:solidFill>
                <a:latin typeface="Calibri"/>
              </a:rPr>
              <a:t>  (benchmark + dashboard)</a:t>
            </a:r>
          </a:p>
        </p:txBody>
      </p:sp>
      <p:sp>
        <p:nvSpPr>
          <p:cNvPr id="29" name="Rectangle 28"/>
          <p:cNvSpPr/>
          <p:nvPr/>
        </p:nvSpPr>
        <p:spPr>
          <a:xfrm>
            <a:off x="3474720" y="5193792"/>
            <a:ext cx="6058493" cy="23774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42941" y="5120640"/>
            <a:ext cx="1463040" cy="384048"/>
          </a:xfrm>
          <a:prstGeom prst="rect">
            <a:avLst/>
          </a:prstGeom>
          <a:noFill/>
        </p:spPr>
        <p:txBody>
          <a:bodyPr wrap="square" anchor="ctr" lIns="0" rIns="0" tIns="0" bIns="0">
            <a:noAutofit/>
          </a:bodyPr>
          <a:lstStyle/>
          <a:p>
            <a:r>
              <a:rPr sz="1300" b="1" i="0">
                <a:solidFill>
                  <a:srgbClr val="F0A500"/>
                </a:solidFill>
                <a:latin typeface="Calibri"/>
              </a:rPr>
              <a:t>120 tests</a:t>
            </a:r>
          </a:p>
        </p:txBody>
      </p:sp>
      <p:sp>
        <p:nvSpPr>
          <p:cNvPr id="31" name="TextBox 30"/>
          <p:cNvSpPr txBox="1"/>
          <p:nvPr/>
        </p:nvSpPr>
        <p:spPr>
          <a:xfrm>
            <a:off x="640080" y="5577840"/>
            <a:ext cx="2651760" cy="384048"/>
          </a:xfrm>
          <a:prstGeom prst="rect">
            <a:avLst/>
          </a:prstGeom>
          <a:noFill/>
        </p:spPr>
        <p:txBody>
          <a:bodyPr wrap="square" anchor="ctr" lIns="0" rIns="0" tIns="0" bIns="0">
            <a:noAutofit/>
          </a:bodyPr>
          <a:lstStyle/>
          <a:p>
            <a:r>
              <a:rPr sz="1400" b="1" i="0">
                <a:solidFill>
                  <a:srgbClr val="FFFFFF"/>
                </a:solidFill>
                <a:latin typeface="Calibri"/>
              </a:rPr>
              <a:t>Final (Session 18-19)</a:t>
            </a:r>
          </a:p>
        </p:txBody>
      </p:sp>
      <p:sp>
        <p:nvSpPr>
          <p:cNvPr id="32" name="Rectangle 31"/>
          <p:cNvSpPr/>
          <p:nvPr/>
        </p:nvSpPr>
        <p:spPr>
          <a:xfrm>
            <a:off x="3474720" y="5650992"/>
            <a:ext cx="6613855" cy="23774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98303" y="5577840"/>
            <a:ext cx="1463040" cy="384048"/>
          </a:xfrm>
          <a:prstGeom prst="rect">
            <a:avLst/>
          </a:prstGeom>
          <a:noFill/>
        </p:spPr>
        <p:txBody>
          <a:bodyPr wrap="square" anchor="ctr" lIns="0" rIns="0" tIns="0" bIns="0">
            <a:noAutofit/>
          </a:bodyPr>
          <a:lstStyle/>
          <a:p>
            <a:r>
              <a:rPr sz="1300" b="1" i="0">
                <a:solidFill>
                  <a:srgbClr val="F0A500"/>
                </a:solidFill>
                <a:latin typeface="Calibri"/>
              </a:rPr>
              <a:t>131 tests</a:t>
            </a:r>
          </a:p>
        </p:txBody>
      </p:sp>
      <p:sp>
        <p:nvSpPr>
          <p:cNvPr id="34" name="TextBox 33"/>
          <p:cNvSpPr txBox="1"/>
          <p:nvPr/>
        </p:nvSpPr>
        <p:spPr>
          <a:xfrm>
            <a:off x="640080" y="6126480"/>
            <a:ext cx="10911535" cy="457200"/>
          </a:xfrm>
          <a:prstGeom prst="rect">
            <a:avLst/>
          </a:prstGeom>
          <a:noFill/>
        </p:spPr>
        <p:txBody>
          <a:bodyPr wrap="square" lIns="0" rIns="0" tIns="0" bIns="0">
            <a:noAutofit/>
          </a:bodyPr>
          <a:lstStyle/>
          <a:p>
            <a:r>
              <a:rPr sz="1400" b="1" i="0">
                <a:solidFill>
                  <a:srgbClr val="F0A500"/>
                </a:solidFill>
                <a:latin typeface="Calibri"/>
              </a:rPr>
              <a:t>All sessions: 0 failures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FAULT INJECTION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Fault Injection Methodology</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17 / 40</a:t>
            </a:r>
          </a:p>
        </p:txBody>
      </p:sp>
      <p:sp>
        <p:nvSpPr>
          <p:cNvPr id="9" name="TextBox 8"/>
          <p:cNvSpPr txBox="1"/>
          <p:nvPr/>
        </p:nvSpPr>
        <p:spPr>
          <a:xfrm>
            <a:off x="640080" y="1508760"/>
            <a:ext cx="10911535" cy="1417320"/>
          </a:xfrm>
          <a:prstGeom prst="rect">
            <a:avLst/>
          </a:prstGeom>
          <a:noFill/>
        </p:spPr>
        <p:txBody>
          <a:bodyPr wrap="square" lIns="0" rIns="0" tIns="0" bIns="0">
            <a:noAutofit/>
          </a:bodyPr>
          <a:lstStyle/>
          <a:p>
            <a:pPr>
              <a:lnSpc>
                <a:spcPct val="120000"/>
              </a:lnSpc>
            </a:pPr>
            <a:r>
              <a:rPr sz="1600" b="0" i="0">
                <a:solidFill>
                  <a:srgbClr val="FFFFFF"/>
                </a:solidFill>
                <a:latin typeface="Calibri"/>
              </a:rPr>
              <a:t>To build a realistic ground-truth dataset, we deliberately introduced 13 distinct bugs into copies of the golden RTL rather than relying on random mutation. Each fault targets a specific, plausible engineering mistake — the kind a human designer might actually make — so the resulting failure signatures are representative of real verification work.</a:t>
            </a:r>
          </a:p>
        </p:txBody>
      </p:sp>
      <p:sp>
        <p:nvSpPr>
          <p:cNvPr id="10" name="TextBox 9"/>
          <p:cNvSpPr txBox="1"/>
          <p:nvPr/>
        </p:nvSpPr>
        <p:spPr>
          <a:xfrm>
            <a:off x="640080" y="2926080"/>
            <a:ext cx="10911535" cy="3520440"/>
          </a:xfrm>
          <a:prstGeom prst="rect">
            <a:avLst/>
          </a:prstGeom>
          <a:noFill/>
        </p:spPr>
        <p:txBody>
          <a:bodyPr wrap="square" lIns="0" rIns="0" tIns="0" bIns="0">
            <a:noAutofit/>
          </a:bodyPr>
          <a:lstStyle/>
          <a:p>
            <a:pPr>
              <a:spcAft>
                <a:spcPts val="900"/>
              </a:spcAft>
            </a:pPr>
            <a:r>
              <a:rPr sz="1400" b="1" i="0">
                <a:solidFill>
                  <a:srgbClr val="F0A500"/>
                </a:solidFill>
                <a:latin typeface="Calibri"/>
              </a:rPr>
              <a:t>•  </a:t>
            </a:r>
            <a:r>
              <a:rPr sz="1400" b="1" i="0">
                <a:solidFill>
                  <a:srgbClr val="F0A500"/>
                </a:solidFill>
                <a:latin typeface="Calibri"/>
              </a:rPr>
              <a:t>13 fault variants</a:t>
            </a:r>
            <a:r>
              <a:rPr sz="1400" b="0" i="0">
                <a:solidFill>
                  <a:srgbClr val="FFFFFF"/>
                </a:solidFill>
                <a:latin typeface="Calibri"/>
              </a:rPr>
              <a:t> span both mac_array.sv and quant_unit.sv, covering sign extension, accumulator width, loop boundaries, reset polarity, and quantization arithmetic.</a:t>
            </a:r>
          </a:p>
          <a:p>
            <a:pPr>
              <a:spcAft>
                <a:spcPts val="900"/>
              </a:spcAft>
            </a:pPr>
            <a:r>
              <a:rPr sz="1400" b="1" i="0">
                <a:solidFill>
                  <a:srgbClr val="F0A500"/>
                </a:solidFill>
                <a:latin typeface="Calibri"/>
              </a:rPr>
              <a:t>•  </a:t>
            </a:r>
            <a:r>
              <a:rPr sz="1400" b="0" i="0">
                <a:solidFill>
                  <a:srgbClr val="FFFFFF"/>
                </a:solidFill>
                <a:latin typeface="Calibri"/>
              </a:rPr>
              <a:t>Each fault is exactly one targeted string substitution applied to the golden RTL, keeping the change minimal and auditable.</a:t>
            </a:r>
          </a:p>
          <a:p>
            <a:pPr>
              <a:spcAft>
                <a:spcPts val="900"/>
              </a:spcAft>
            </a:pPr>
            <a:r>
              <a:rPr sz="1400" b="1" i="0">
                <a:solidFill>
                  <a:srgbClr val="F0A500"/>
                </a:solidFill>
                <a:latin typeface="Calibri"/>
              </a:rPr>
              <a:t>•  </a:t>
            </a:r>
            <a:r>
              <a:rPr sz="1400" b="0" i="0">
                <a:solidFill>
                  <a:srgbClr val="FFFFFF"/>
                </a:solidFill>
                <a:latin typeface="Calibri"/>
              </a:rPr>
              <a:t>scripts/generate_faults.py programmatically applies each substitution and asserts that exactly one diff hunk changed, preventing accidental multi-line edits.</a:t>
            </a:r>
          </a:p>
          <a:p>
            <a:pPr>
              <a:spcAft>
                <a:spcPts val="900"/>
              </a:spcAft>
            </a:pPr>
            <a:r>
              <a:rPr sz="1400" b="1" i="0">
                <a:solidFill>
                  <a:srgbClr val="F0A500"/>
                </a:solidFill>
                <a:latin typeface="Calibri"/>
              </a:rPr>
              <a:t>•  </a:t>
            </a:r>
            <a:r>
              <a:rPr sz="1400" b="0" i="0">
                <a:solidFill>
                  <a:srgbClr val="FFFFFF"/>
                </a:solidFill>
                <a:latin typeface="Calibri"/>
              </a:rPr>
              <a:t>Every RTL fault has a matching software fault model in Python, so the regression database can be populated without re-running Verilator for every seed.</a:t>
            </a:r>
          </a:p>
          <a:p>
            <a:pPr>
              <a:spcAft>
                <a:spcPts val="900"/>
              </a:spcAft>
            </a:pPr>
            <a:r>
              <a:rPr sz="1400" b="1" i="0">
                <a:solidFill>
                  <a:srgbClr val="F0A500"/>
                </a:solidFill>
                <a:latin typeface="Calibri"/>
              </a:rPr>
              <a:t>•  </a:t>
            </a:r>
            <a:r>
              <a:rPr sz="1400" b="0" i="0">
                <a:solidFill>
                  <a:srgbClr val="FFFFFF"/>
                </a:solidFill>
                <a:latin typeface="Calibri"/>
              </a:rPr>
              <a:t>Faults fall into two categories: detectable faults that cause simulation mismatches, and latent faults that pass simulation despite containing a real bug.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FAULT INJECTION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mac_array Fault Variants</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18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Nine of the thirteen fault variants live in mac_array.sv, each modifying one aspect of the accumulation datapath — sign handling, loop bounds, reset, or accumulator width. The Detectable column shows whether our N=4 INT8 test vectors are strong enough to expose the bug in simulation; two of the accumulator-width faults are not.</a:t>
            </a:r>
          </a:p>
        </p:txBody>
      </p:sp>
      <p:graphicFrame>
        <p:nvGraphicFramePr>
          <p:cNvPr id="10" name="Table 9"/>
          <p:cNvGraphicFramePr>
            <a:graphicFrameLocks noGrp="1"/>
          </p:cNvGraphicFramePr>
          <p:nvPr/>
        </p:nvGraphicFramePr>
        <p:xfrm>
          <a:off x="640080" y="2377440"/>
          <a:ext cx="10972800" cy="3246120"/>
        </p:xfrm>
        <a:graphic>
          <a:graphicData uri="http://schemas.openxmlformats.org/drawingml/2006/table">
            <a:tbl>
              <a:tblPr firstRow="1" bandRow="1">
                <a:tableStyleId>{5C22544A-7EE6-4342-B048-85BDC9FD1C3A}</a:tableStyleId>
              </a:tblPr>
              <a:tblGrid>
                <a:gridCol w="2743200"/>
                <a:gridCol w="2926080"/>
                <a:gridCol w="3291840"/>
                <a:gridCol w="2011680"/>
              </a:tblGrid>
              <a:tr h="324612">
                <a:tc>
                  <a:txBody>
                    <a:bodyPr wrap="square"/>
                    <a:lstStyle/>
                    <a:p>
                      <a:pPr algn="l"/>
                      <a:r>
                        <a:rPr sz="1400" b="1" i="0">
                          <a:solidFill>
                            <a:srgbClr val="F0A500"/>
                          </a:solidFill>
                          <a:latin typeface="Calibri"/>
                        </a:rPr>
                        <a:t>Variant</a:t>
                      </a:r>
                    </a:p>
                  </a:txBody>
                  <a:tcPr marL="76200" marR="76200" marT="38100" marB="38100" anchor="ctr">
                    <a:solidFill>
                      <a:srgbClr val="282B4A"/>
                    </a:solidFill>
                  </a:tcPr>
                </a:tc>
                <a:tc>
                  <a:txBody>
                    <a:bodyPr wrap="square"/>
                    <a:lstStyle/>
                    <a:p>
                      <a:pPr algn="l"/>
                      <a:r>
                        <a:rPr sz="1400" b="1" i="0">
                          <a:solidFill>
                            <a:srgbClr val="F0A500"/>
                          </a:solidFill>
                          <a:latin typeface="Calibri"/>
                        </a:rPr>
                        <a:t>Change</a:t>
                      </a:r>
                    </a:p>
                  </a:txBody>
                  <a:tcPr marL="76200" marR="76200" marT="38100" marB="38100" anchor="ctr">
                    <a:solidFill>
                      <a:srgbClr val="282B4A"/>
                    </a:solidFill>
                  </a:tcPr>
                </a:tc>
                <a:tc>
                  <a:txBody>
                    <a:bodyPr wrap="square"/>
                    <a:lstStyle/>
                    <a:p>
                      <a:pPr algn="l"/>
                      <a:r>
                        <a:rPr sz="1400" b="1" i="0">
                          <a:solidFill>
                            <a:srgbClr val="F0A500"/>
                          </a:solidFill>
                          <a:latin typeface="Calibri"/>
                        </a:rPr>
                        <a:t>Effect</a:t>
                      </a:r>
                    </a:p>
                  </a:txBody>
                  <a:tcPr marL="76200" marR="76200" marT="38100" marB="38100" anchor="ctr">
                    <a:solidFill>
                      <a:srgbClr val="282B4A"/>
                    </a:solidFill>
                  </a:tcPr>
                </a:tc>
                <a:tc>
                  <a:txBody>
                    <a:bodyPr wrap="square"/>
                    <a:lstStyle/>
                    <a:p>
                      <a:pPr algn="l"/>
                      <a:r>
                        <a:rPr sz="1400" b="1" i="0">
                          <a:solidFill>
                            <a:srgbClr val="F0A500"/>
                          </a:solidFill>
                          <a:latin typeface="Calibri"/>
                        </a:rPr>
                        <a:t>Detectable?</a:t>
                      </a:r>
                    </a:p>
                  </a:txBody>
                  <a:tcPr marL="76200" marR="76200" marT="38100" marB="38100" anchor="ctr">
                    <a:solidFill>
                      <a:srgbClr val="282B4A"/>
                    </a:solidFill>
                  </a:tcPr>
                </a:tc>
              </a:tr>
              <a:tr h="324612">
                <a:tc>
                  <a:txBody>
                    <a:bodyPr wrap="square"/>
                    <a:lstStyle/>
                    <a:p>
                      <a:pPr algn="l"/>
                      <a:r>
                        <a:rPr sz="1300" b="0" i="0">
                          <a:solidFill>
                            <a:srgbClr val="FFFFFF"/>
                          </a:solidFill>
                          <a:latin typeface="Calibri"/>
                        </a:rPr>
                        <a:t>fault_acc_overflow</a:t>
                      </a:r>
                    </a:p>
                  </a:txBody>
                  <a:tcPr marL="76200" marR="76200" marT="25400" marB="25400" anchor="ctr">
                    <a:solidFill>
                      <a:srgbClr val="22223E"/>
                    </a:solidFill>
                  </a:tcPr>
                </a:tc>
                <a:tc>
                  <a:txBody>
                    <a:bodyPr wrap="square"/>
                    <a:lstStyle/>
                    <a:p>
                      <a:pPr algn="l"/>
                      <a:r>
                        <a:rPr sz="1300" b="0" i="0">
                          <a:solidFill>
                            <a:srgbClr val="FFFFFF"/>
                          </a:solidFill>
                          <a:latin typeface="Calibri"/>
                        </a:rPr>
                        <a:t>ACC_W 32→16</a:t>
                      </a:r>
                    </a:p>
                  </a:txBody>
                  <a:tcPr marL="76200" marR="76200" marT="25400" marB="25400" anchor="ctr">
                    <a:solidFill>
                      <a:srgbClr val="22223E"/>
                    </a:solidFill>
                  </a:tcPr>
                </a:tc>
                <a:tc>
                  <a:txBody>
                    <a:bodyPr wrap="square"/>
                    <a:lstStyle/>
                    <a:p>
                      <a:pPr algn="l"/>
                      <a:r>
                        <a:rPr sz="1300" b="0" i="0">
                          <a:solidFill>
                            <a:srgbClr val="FFFFFF"/>
                          </a:solidFill>
                          <a:latin typeface="Calibri"/>
                        </a:rPr>
                        <a:t>Wraps at ±32,767</a:t>
                      </a:r>
                    </a:p>
                  </a:txBody>
                  <a:tcPr marL="76200" marR="76200" marT="25400" marB="25400" anchor="ctr">
                    <a:solidFill>
                      <a:srgbClr val="22223E"/>
                    </a:solidFill>
                  </a:tcPr>
                </a:tc>
                <a:tc>
                  <a:txBody>
                    <a:bodyPr wrap="square"/>
                    <a:lstStyle/>
                    <a:p>
                      <a:pPr algn="l"/>
                      <a:r>
                        <a:rPr sz="1300" b="0" i="0">
                          <a:solidFill>
                            <a:srgbClr val="FFFFFF"/>
                          </a:solidFill>
                          <a:latin typeface="Calibri"/>
                        </a:rPr>
                        <a:t>Yes</a:t>
                      </a:r>
                    </a:p>
                  </a:txBody>
                  <a:tcPr marL="76200" marR="76200" marT="25400" marB="25400" anchor="ctr">
                    <a:solidFill>
                      <a:srgbClr val="22223E"/>
                    </a:solidFill>
                  </a:tcPr>
                </a:tc>
              </a:tr>
              <a:tr h="324612">
                <a:tc>
                  <a:txBody>
                    <a:bodyPr wrap="square"/>
                    <a:lstStyle/>
                    <a:p>
                      <a:pPr algn="l"/>
                      <a:r>
                        <a:rPr sz="1300" b="0" i="0">
                          <a:solidFill>
                            <a:srgbClr val="FFFFFF"/>
                          </a:solidFill>
                          <a:latin typeface="Calibri"/>
                        </a:rPr>
                        <a:t>fault_wrong_sign</a:t>
                      </a:r>
                    </a:p>
                  </a:txBody>
                  <a:tcPr marL="76200" marR="76200" marT="25400" marB="25400" anchor="ctr">
                    <a:solidFill>
                      <a:srgbClr val="1A1A2E"/>
                    </a:solidFill>
                  </a:tcPr>
                </a:tc>
                <a:tc>
                  <a:txBody>
                    <a:bodyPr wrap="square"/>
                    <a:lstStyle/>
                    <a:p>
                      <a:pPr algn="l"/>
                      <a:r>
                        <a:rPr sz="1300" b="0" i="0">
                          <a:solidFill>
                            <a:srgbClr val="FFFFFF"/>
                          </a:solidFill>
                          <a:latin typeface="Calibri"/>
                        </a:rPr>
                        <a:t>A_reg signed→unsigned</a:t>
                      </a:r>
                    </a:p>
                  </a:txBody>
                  <a:tcPr marL="76200" marR="76200" marT="25400" marB="25400" anchor="ctr">
                    <a:solidFill>
                      <a:srgbClr val="1A1A2E"/>
                    </a:solidFill>
                  </a:tcPr>
                </a:tc>
                <a:tc>
                  <a:txBody>
                    <a:bodyPr wrap="square"/>
                    <a:lstStyle/>
                    <a:p>
                      <a:pPr algn="l"/>
                      <a:r>
                        <a:rPr sz="1300" b="0" i="0">
                          <a:solidFill>
                            <a:srgbClr val="FFFFFF"/>
                          </a:solidFill>
                          <a:latin typeface="Calibri"/>
                        </a:rPr>
                        <a:t>Zero-extends A</a:t>
                      </a:r>
                    </a:p>
                  </a:txBody>
                  <a:tcPr marL="76200" marR="76200" marT="25400" marB="25400" anchor="ctr">
                    <a:solidFill>
                      <a:srgbClr val="1A1A2E"/>
                    </a:solidFill>
                  </a:tcPr>
                </a:tc>
                <a:tc>
                  <a:txBody>
                    <a:bodyPr wrap="square"/>
                    <a:lstStyle/>
                    <a:p>
                      <a:pPr algn="l"/>
                      <a:r>
                        <a:rPr sz="1300" b="0" i="0">
                          <a:solidFill>
                            <a:srgbClr val="FFFFFF"/>
                          </a:solidFill>
                          <a:latin typeface="Calibri"/>
                        </a:rPr>
                        <a:t>Yes</a:t>
                      </a:r>
                    </a:p>
                  </a:txBody>
                  <a:tcPr marL="76200" marR="76200" marT="25400" marB="25400" anchor="ctr">
                    <a:solidFill>
                      <a:srgbClr val="1A1A2E"/>
                    </a:solidFill>
                  </a:tcPr>
                </a:tc>
              </a:tr>
              <a:tr h="324612">
                <a:tc>
                  <a:txBody>
                    <a:bodyPr wrap="square"/>
                    <a:lstStyle/>
                    <a:p>
                      <a:pPr algn="l"/>
                      <a:r>
                        <a:rPr sz="1300" b="0" i="0">
                          <a:solidFill>
                            <a:srgbClr val="FFFFFF"/>
                          </a:solidFill>
                          <a:latin typeface="Calibri"/>
                        </a:rPr>
                        <a:t>fault_off_by_one</a:t>
                      </a:r>
                    </a:p>
                  </a:txBody>
                  <a:tcPr marL="76200" marR="76200" marT="25400" marB="25400" anchor="ctr">
                    <a:solidFill>
                      <a:srgbClr val="22223E"/>
                    </a:solidFill>
                  </a:tcPr>
                </a:tc>
                <a:tc>
                  <a:txBody>
                    <a:bodyPr wrap="square"/>
                    <a:lstStyle/>
                    <a:p>
                      <a:pPr algn="l"/>
                      <a:r>
                        <a:rPr sz="1300" b="0" i="0">
                          <a:solidFill>
                            <a:srgbClr val="FFFFFF"/>
                          </a:solidFill>
                          <a:latin typeface="Calibri"/>
                        </a:rPr>
                        <a:t>loop exit N-1→N-2</a:t>
                      </a:r>
                    </a:p>
                  </a:txBody>
                  <a:tcPr marL="76200" marR="76200" marT="25400" marB="25400" anchor="ctr">
                    <a:solidFill>
                      <a:srgbClr val="22223E"/>
                    </a:solidFill>
                  </a:tcPr>
                </a:tc>
                <a:tc>
                  <a:txBody>
                    <a:bodyPr wrap="square"/>
                    <a:lstStyle/>
                    <a:p>
                      <a:pPr algn="l"/>
                      <a:r>
                        <a:rPr sz="1300" b="0" i="0">
                          <a:solidFill>
                            <a:srgbClr val="FFFFFF"/>
                          </a:solidFill>
                          <a:latin typeface="Calibri"/>
                        </a:rPr>
                        <a:t>Misses last product</a:t>
                      </a:r>
                    </a:p>
                  </a:txBody>
                  <a:tcPr marL="76200" marR="76200" marT="25400" marB="25400" anchor="ctr">
                    <a:solidFill>
                      <a:srgbClr val="22223E"/>
                    </a:solidFill>
                  </a:tcPr>
                </a:tc>
                <a:tc>
                  <a:txBody>
                    <a:bodyPr wrap="square"/>
                    <a:lstStyle/>
                    <a:p>
                      <a:pPr algn="l"/>
                      <a:r>
                        <a:rPr sz="1300" b="0" i="0">
                          <a:solidFill>
                            <a:srgbClr val="FFFFFF"/>
                          </a:solidFill>
                          <a:latin typeface="Calibri"/>
                        </a:rPr>
                        <a:t>Yes</a:t>
                      </a:r>
                    </a:p>
                  </a:txBody>
                  <a:tcPr marL="76200" marR="76200" marT="25400" marB="25400" anchor="ctr">
                    <a:solidFill>
                      <a:srgbClr val="22223E"/>
                    </a:solidFill>
                  </a:tcPr>
                </a:tc>
              </a:tr>
              <a:tr h="324612">
                <a:tc>
                  <a:txBody>
                    <a:bodyPr wrap="square"/>
                    <a:lstStyle/>
                    <a:p>
                      <a:pPr algn="l"/>
                      <a:r>
                        <a:rPr sz="1300" b="0" i="0">
                          <a:solidFill>
                            <a:srgbClr val="FFFFFF"/>
                          </a:solidFill>
                          <a:latin typeface="Calibri"/>
                        </a:rPr>
                        <a:t>fault_reset</a:t>
                      </a:r>
                    </a:p>
                  </a:txBody>
                  <a:tcPr marL="76200" marR="76200" marT="25400" marB="25400" anchor="ctr">
                    <a:solidFill>
                      <a:srgbClr val="1A1A2E"/>
                    </a:solidFill>
                  </a:tcPr>
                </a:tc>
                <a:tc>
                  <a:txBody>
                    <a:bodyPr wrap="square"/>
                    <a:lstStyle/>
                    <a:p>
                      <a:pPr algn="l"/>
                      <a:r>
                        <a:rPr sz="1300" b="0" i="0">
                          <a:solidFill>
                            <a:srgbClr val="FFFFFF"/>
                          </a:solidFill>
                          <a:latin typeface="Calibri"/>
                        </a:rPr>
                        <a:t>!rst_n→rst_n</a:t>
                      </a:r>
                    </a:p>
                  </a:txBody>
                  <a:tcPr marL="76200" marR="76200" marT="25400" marB="25400" anchor="ctr">
                    <a:solidFill>
                      <a:srgbClr val="1A1A2E"/>
                    </a:solidFill>
                  </a:tcPr>
                </a:tc>
                <a:tc>
                  <a:txBody>
                    <a:bodyPr wrap="square"/>
                    <a:lstStyle/>
                    <a:p>
                      <a:pPr algn="l"/>
                      <a:r>
                        <a:rPr sz="1300" b="0" i="0">
                          <a:solidFill>
                            <a:srgbClr val="FFFFFF"/>
                          </a:solidFill>
                          <a:latin typeface="Calibri"/>
                        </a:rPr>
                        <a:t>Never resets</a:t>
                      </a:r>
                    </a:p>
                  </a:txBody>
                  <a:tcPr marL="76200" marR="76200" marT="25400" marB="25400" anchor="ctr">
                    <a:solidFill>
                      <a:srgbClr val="1A1A2E"/>
                    </a:solidFill>
                  </a:tcPr>
                </a:tc>
                <a:tc>
                  <a:txBody>
                    <a:bodyPr wrap="square"/>
                    <a:lstStyle/>
                    <a:p>
                      <a:pPr algn="l"/>
                      <a:r>
                        <a:rPr sz="1300" b="0" i="0">
                          <a:solidFill>
                            <a:srgbClr val="FFFFFF"/>
                          </a:solidFill>
                          <a:latin typeface="Calibri"/>
                        </a:rPr>
                        <a:t>Yes</a:t>
                      </a:r>
                    </a:p>
                  </a:txBody>
                  <a:tcPr marL="76200" marR="76200" marT="25400" marB="25400" anchor="ctr">
                    <a:solidFill>
                      <a:srgbClr val="1A1A2E"/>
                    </a:solidFill>
                  </a:tcPr>
                </a:tc>
              </a:tr>
              <a:tr h="324612">
                <a:tc>
                  <a:txBody>
                    <a:bodyPr wrap="square"/>
                    <a:lstStyle/>
                    <a:p>
                      <a:pPr algn="l"/>
                      <a:r>
                        <a:rPr sz="1300" b="0" i="0">
                          <a:solidFill>
                            <a:srgbClr val="FFFFFF"/>
                          </a:solidFill>
                          <a:latin typeface="Calibri"/>
                        </a:rPr>
                        <a:t>fault_acc_w24</a:t>
                      </a:r>
                    </a:p>
                  </a:txBody>
                  <a:tcPr marL="76200" marR="76200" marT="25400" marB="25400" anchor="ctr">
                    <a:solidFill>
                      <a:srgbClr val="22223E"/>
                    </a:solidFill>
                  </a:tcPr>
                </a:tc>
                <a:tc>
                  <a:txBody>
                    <a:bodyPr wrap="square"/>
                    <a:lstStyle/>
                    <a:p>
                      <a:pPr algn="l"/>
                      <a:r>
                        <a:rPr sz="1300" b="0" i="0">
                          <a:solidFill>
                            <a:srgbClr val="FFFFFF"/>
                          </a:solidFill>
                          <a:latin typeface="Calibri"/>
                        </a:rPr>
                        <a:t>ACC_W 32→24</a:t>
                      </a:r>
                    </a:p>
                  </a:txBody>
                  <a:tcPr marL="76200" marR="76200" marT="25400" marB="25400" anchor="ctr">
                    <a:solidFill>
                      <a:srgbClr val="22223E"/>
                    </a:solidFill>
                  </a:tcPr>
                </a:tc>
                <a:tc>
                  <a:txBody>
                    <a:bodyPr wrap="square"/>
                    <a:lstStyle/>
                    <a:p>
                      <a:pPr algn="l"/>
                      <a:r>
                        <a:rPr sz="1300" b="0" i="0">
                          <a:solidFill>
                            <a:srgbClr val="FFFFFF"/>
                          </a:solidFill>
                          <a:latin typeface="Calibri"/>
                        </a:rPr>
                        <a:t>Latent for N=4 INT8</a:t>
                      </a:r>
                    </a:p>
                  </a:txBody>
                  <a:tcPr marL="76200" marR="76200" marT="25400" marB="25400" anchor="ctr">
                    <a:solidFill>
                      <a:srgbClr val="22223E"/>
                    </a:solidFill>
                  </a:tcPr>
                </a:tc>
                <a:tc>
                  <a:txBody>
                    <a:bodyPr wrap="square"/>
                    <a:lstStyle/>
                    <a:p>
                      <a:pPr algn="l"/>
                      <a:r>
                        <a:rPr sz="1300" b="1" i="0">
                          <a:solidFill>
                            <a:srgbClr val="F0A500"/>
                          </a:solidFill>
                          <a:latin typeface="Calibri"/>
                        </a:rPr>
                        <a:t>No</a:t>
                      </a:r>
                    </a:p>
                  </a:txBody>
                  <a:tcPr marL="76200" marR="76200" marT="25400" marB="25400" anchor="ctr">
                    <a:solidFill>
                      <a:srgbClr val="22223E"/>
                    </a:solidFill>
                  </a:tcPr>
                </a:tc>
              </a:tr>
              <a:tr h="324612">
                <a:tc>
                  <a:txBody>
                    <a:bodyPr wrap="square"/>
                    <a:lstStyle/>
                    <a:p>
                      <a:pPr algn="l"/>
                      <a:r>
                        <a:rPr sz="1300" b="0" i="0">
                          <a:solidFill>
                            <a:srgbClr val="FFFFFF"/>
                          </a:solidFill>
                          <a:latin typeface="Calibri"/>
                        </a:rPr>
                        <a:t>fault_acc_w20</a:t>
                      </a:r>
                    </a:p>
                  </a:txBody>
                  <a:tcPr marL="76200" marR="76200" marT="25400" marB="25400" anchor="ctr">
                    <a:solidFill>
                      <a:srgbClr val="1A1A2E"/>
                    </a:solidFill>
                  </a:tcPr>
                </a:tc>
                <a:tc>
                  <a:txBody>
                    <a:bodyPr wrap="square"/>
                    <a:lstStyle/>
                    <a:p>
                      <a:pPr algn="l"/>
                      <a:r>
                        <a:rPr sz="1300" b="0" i="0">
                          <a:solidFill>
                            <a:srgbClr val="FFFFFF"/>
                          </a:solidFill>
                          <a:latin typeface="Calibri"/>
                        </a:rPr>
                        <a:t>ACC_W 32→20</a:t>
                      </a:r>
                    </a:p>
                  </a:txBody>
                  <a:tcPr marL="76200" marR="76200" marT="25400" marB="25400" anchor="ctr">
                    <a:solidFill>
                      <a:srgbClr val="1A1A2E"/>
                    </a:solidFill>
                  </a:tcPr>
                </a:tc>
                <a:tc>
                  <a:txBody>
                    <a:bodyPr wrap="square"/>
                    <a:lstStyle/>
                    <a:p>
                      <a:pPr algn="l"/>
                      <a:r>
                        <a:rPr sz="1300" b="0" i="0">
                          <a:solidFill>
                            <a:srgbClr val="FFFFFF"/>
                          </a:solidFill>
                          <a:latin typeface="Calibri"/>
                        </a:rPr>
                        <a:t>Latent for N=4 INT8</a:t>
                      </a:r>
                    </a:p>
                  </a:txBody>
                  <a:tcPr marL="76200" marR="76200" marT="25400" marB="25400" anchor="ctr">
                    <a:solidFill>
                      <a:srgbClr val="1A1A2E"/>
                    </a:solidFill>
                  </a:tcPr>
                </a:tc>
                <a:tc>
                  <a:txBody>
                    <a:bodyPr wrap="square"/>
                    <a:lstStyle/>
                    <a:p>
                      <a:pPr algn="l"/>
                      <a:r>
                        <a:rPr sz="1300" b="1" i="0">
                          <a:solidFill>
                            <a:srgbClr val="F0A500"/>
                          </a:solidFill>
                          <a:latin typeface="Calibri"/>
                        </a:rPr>
                        <a:t>No</a:t>
                      </a:r>
                    </a:p>
                  </a:txBody>
                  <a:tcPr marL="76200" marR="76200" marT="25400" marB="25400" anchor="ctr">
                    <a:solidFill>
                      <a:srgbClr val="1A1A2E"/>
                    </a:solidFill>
                  </a:tcPr>
                </a:tc>
              </a:tr>
              <a:tr h="324612">
                <a:tc>
                  <a:txBody>
                    <a:bodyPr wrap="square"/>
                    <a:lstStyle/>
                    <a:p>
                      <a:pPr algn="l"/>
                      <a:r>
                        <a:rPr sz="1300" b="0" i="0">
                          <a:solidFill>
                            <a:srgbClr val="FFFFFF"/>
                          </a:solidFill>
                          <a:latin typeface="Calibri"/>
                        </a:rPr>
                        <a:t>fault_loop_over</a:t>
                      </a:r>
                    </a:p>
                  </a:txBody>
                  <a:tcPr marL="76200" marR="76200" marT="25400" marB="25400" anchor="ctr">
                    <a:solidFill>
                      <a:srgbClr val="22223E"/>
                    </a:solidFill>
                  </a:tcPr>
                </a:tc>
                <a:tc>
                  <a:txBody>
                    <a:bodyPr wrap="square"/>
                    <a:lstStyle/>
                    <a:p>
                      <a:pPr algn="l"/>
                      <a:r>
                        <a:rPr sz="1300" b="0" i="0">
                          <a:solidFill>
                            <a:srgbClr val="FFFFFF"/>
                          </a:solidFill>
                          <a:latin typeface="Calibri"/>
                        </a:rPr>
                        <a:t>i&lt;N → i&lt;=N</a:t>
                      </a:r>
                    </a:p>
                  </a:txBody>
                  <a:tcPr marL="76200" marR="76200" marT="25400" marB="25400" anchor="ctr">
                    <a:solidFill>
                      <a:srgbClr val="22223E"/>
                    </a:solidFill>
                  </a:tcPr>
                </a:tc>
                <a:tc>
                  <a:txBody>
                    <a:bodyPr wrap="square"/>
                    <a:lstStyle/>
                    <a:p>
                      <a:pPr algn="l"/>
                      <a:r>
                        <a:rPr sz="1300" b="0" i="0">
                          <a:solidFill>
                            <a:srgbClr val="FFFFFF"/>
                          </a:solidFill>
                          <a:latin typeface="Calibri"/>
                        </a:rPr>
                        <a:t>OOB write row 0</a:t>
                      </a:r>
                    </a:p>
                  </a:txBody>
                  <a:tcPr marL="76200" marR="76200" marT="25400" marB="25400" anchor="ctr">
                    <a:solidFill>
                      <a:srgbClr val="22223E"/>
                    </a:solidFill>
                  </a:tcPr>
                </a:tc>
                <a:tc>
                  <a:txBody>
                    <a:bodyPr wrap="square"/>
                    <a:lstStyle/>
                    <a:p>
                      <a:pPr algn="l"/>
                      <a:r>
                        <a:rPr sz="1300" b="0" i="0">
                          <a:solidFill>
                            <a:srgbClr val="FFFFFF"/>
                          </a:solidFill>
                          <a:latin typeface="Calibri"/>
                        </a:rPr>
                        <a:t>Yes</a:t>
                      </a:r>
                    </a:p>
                  </a:txBody>
                  <a:tcPr marL="76200" marR="76200" marT="25400" marB="25400" anchor="ctr">
                    <a:solidFill>
                      <a:srgbClr val="22223E"/>
                    </a:solidFill>
                  </a:tcPr>
                </a:tc>
              </a:tr>
              <a:tr h="324612">
                <a:tc>
                  <a:txBody>
                    <a:bodyPr wrap="square"/>
                    <a:lstStyle/>
                    <a:p>
                      <a:pPr algn="l"/>
                      <a:r>
                        <a:rPr sz="1300" b="0" i="0">
                          <a:solidFill>
                            <a:srgbClr val="FFFFFF"/>
                          </a:solidFill>
                          <a:latin typeface="Calibri"/>
                        </a:rPr>
                        <a:t>fault_subtract</a:t>
                      </a:r>
                    </a:p>
                  </a:txBody>
                  <a:tcPr marL="76200" marR="76200" marT="25400" marB="25400" anchor="ctr">
                    <a:solidFill>
                      <a:srgbClr val="1A1A2E"/>
                    </a:solidFill>
                  </a:tcPr>
                </a:tc>
                <a:tc>
                  <a:txBody>
                    <a:bodyPr wrap="square"/>
                    <a:lstStyle/>
                    <a:p>
                      <a:pPr algn="l"/>
                      <a:r>
                        <a:rPr sz="1300" b="0" i="0">
                          <a:solidFill>
                            <a:srgbClr val="FFFFFF"/>
                          </a:solidFill>
                          <a:latin typeface="Calibri"/>
                        </a:rPr>
                        <a:t>acc + → acc -</a:t>
                      </a:r>
                    </a:p>
                  </a:txBody>
                  <a:tcPr marL="76200" marR="76200" marT="25400" marB="25400" anchor="ctr">
                    <a:solidFill>
                      <a:srgbClr val="1A1A2E"/>
                    </a:solidFill>
                  </a:tcPr>
                </a:tc>
                <a:tc>
                  <a:txBody>
                    <a:bodyPr wrap="square"/>
                    <a:lstStyle/>
                    <a:p>
                      <a:pPr algn="l"/>
                      <a:r>
                        <a:rPr sz="1300" b="0" i="0">
                          <a:solidFill>
                            <a:srgbClr val="FFFFFF"/>
                          </a:solidFill>
                          <a:latin typeface="Calibri"/>
                        </a:rPr>
                        <a:t>Negated products</a:t>
                      </a:r>
                    </a:p>
                  </a:txBody>
                  <a:tcPr marL="76200" marR="76200" marT="25400" marB="25400" anchor="ctr">
                    <a:solidFill>
                      <a:srgbClr val="1A1A2E"/>
                    </a:solidFill>
                  </a:tcPr>
                </a:tc>
                <a:tc>
                  <a:txBody>
                    <a:bodyPr wrap="square"/>
                    <a:lstStyle/>
                    <a:p>
                      <a:pPr algn="l"/>
                      <a:r>
                        <a:rPr sz="1300" b="0" i="0">
                          <a:solidFill>
                            <a:srgbClr val="FFFFFF"/>
                          </a:solidFill>
                          <a:latin typeface="Calibri"/>
                        </a:rPr>
                        <a:t>Yes</a:t>
                      </a:r>
                    </a:p>
                  </a:txBody>
                  <a:tcPr marL="76200" marR="76200" marT="25400" marB="25400" anchor="ctr">
                    <a:solidFill>
                      <a:srgbClr val="1A1A2E"/>
                    </a:solidFill>
                  </a:tcPr>
                </a:tc>
              </a:tr>
              <a:tr h="324612">
                <a:tc>
                  <a:txBody>
                    <a:bodyPr wrap="square"/>
                    <a:lstStyle/>
                    <a:p>
                      <a:pPr algn="l"/>
                      <a:r>
                        <a:rPr sz="1300" b="0" i="0">
                          <a:solidFill>
                            <a:srgbClr val="FFFFFF"/>
                          </a:solidFill>
                          <a:latin typeface="Calibri"/>
                        </a:rPr>
                        <a:t>fault_b_unsigned</a:t>
                      </a:r>
                    </a:p>
                  </a:txBody>
                  <a:tcPr marL="76200" marR="76200" marT="25400" marB="25400" anchor="ctr">
                    <a:solidFill>
                      <a:srgbClr val="22223E"/>
                    </a:solidFill>
                  </a:tcPr>
                </a:tc>
                <a:tc>
                  <a:txBody>
                    <a:bodyPr wrap="square"/>
                    <a:lstStyle/>
                    <a:p>
                      <a:pPr algn="l"/>
                      <a:r>
                        <a:rPr sz="1300" b="0" i="0">
                          <a:solidFill>
                            <a:srgbClr val="FFFFFF"/>
                          </a:solidFill>
                          <a:latin typeface="Calibri"/>
                        </a:rPr>
                        <a:t>B_reg signed→unsigned</a:t>
                      </a:r>
                    </a:p>
                  </a:txBody>
                  <a:tcPr marL="76200" marR="76200" marT="25400" marB="25400" anchor="ctr">
                    <a:solidFill>
                      <a:srgbClr val="22223E"/>
                    </a:solidFill>
                  </a:tcPr>
                </a:tc>
                <a:tc>
                  <a:txBody>
                    <a:bodyPr wrap="square"/>
                    <a:lstStyle/>
                    <a:p>
                      <a:pPr algn="l"/>
                      <a:r>
                        <a:rPr sz="1300" b="0" i="0">
                          <a:solidFill>
                            <a:srgbClr val="FFFFFF"/>
                          </a:solidFill>
                          <a:latin typeface="Calibri"/>
                        </a:rPr>
                        <a:t>Zero-extends B</a:t>
                      </a:r>
                    </a:p>
                  </a:txBody>
                  <a:tcPr marL="76200" marR="76200" marT="25400" marB="25400" anchor="ctr">
                    <a:solidFill>
                      <a:srgbClr val="22223E"/>
                    </a:solidFill>
                  </a:tcPr>
                </a:tc>
                <a:tc>
                  <a:txBody>
                    <a:bodyPr wrap="square"/>
                    <a:lstStyle/>
                    <a:p>
                      <a:pPr algn="l"/>
                      <a:r>
                        <a:rPr sz="1300" b="0" i="0">
                          <a:solidFill>
                            <a:srgbClr val="FFFFFF"/>
                          </a:solidFill>
                          <a:latin typeface="Calibri"/>
                        </a:rPr>
                        <a:t>Yes</a:t>
                      </a:r>
                    </a:p>
                  </a:txBody>
                  <a:tcPr marL="76200" marR="76200" marT="25400" marB="25400" anchor="ctr">
                    <a:solidFill>
                      <a:srgbClr val="22223E"/>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FAULT INJECTION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quant_unit Fault Variants</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19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The remaining four fault variants target quant_unit.sv, each corrupting one term of the per-channel quantization formula — reset, shift, clamping, or zero-point sign. Three of the four are only 'Partially' detectable because they corrupt output values within a narrow range that not every test vector will land on.</a:t>
            </a:r>
          </a:p>
        </p:txBody>
      </p:sp>
      <p:graphicFrame>
        <p:nvGraphicFramePr>
          <p:cNvPr id="10" name="Table 9"/>
          <p:cNvGraphicFramePr>
            <a:graphicFrameLocks noGrp="1"/>
          </p:cNvGraphicFramePr>
          <p:nvPr/>
        </p:nvGraphicFramePr>
        <p:xfrm>
          <a:off x="640080" y="2377440"/>
          <a:ext cx="10972800" cy="1463040"/>
        </p:xfrm>
        <a:graphic>
          <a:graphicData uri="http://schemas.openxmlformats.org/drawingml/2006/table">
            <a:tbl>
              <a:tblPr firstRow="1" bandRow="1">
                <a:tableStyleId>{5C22544A-7EE6-4342-B048-85BDC9FD1C3A}</a:tableStyleId>
              </a:tblPr>
              <a:tblGrid>
                <a:gridCol w="3108960"/>
                <a:gridCol w="2926080"/>
                <a:gridCol w="3108960"/>
                <a:gridCol w="1828800"/>
              </a:tblGrid>
              <a:tr h="292608">
                <a:tc>
                  <a:txBody>
                    <a:bodyPr wrap="square"/>
                    <a:lstStyle/>
                    <a:p>
                      <a:pPr algn="l"/>
                      <a:r>
                        <a:rPr sz="1500" b="1" i="0">
                          <a:solidFill>
                            <a:srgbClr val="F0A500"/>
                          </a:solidFill>
                          <a:latin typeface="Calibri"/>
                        </a:rPr>
                        <a:t>Variant</a:t>
                      </a:r>
                    </a:p>
                  </a:txBody>
                  <a:tcPr marL="76200" marR="76200" marT="38100" marB="38100" anchor="ctr">
                    <a:solidFill>
                      <a:srgbClr val="282B4A"/>
                    </a:solidFill>
                  </a:tcPr>
                </a:tc>
                <a:tc>
                  <a:txBody>
                    <a:bodyPr wrap="square"/>
                    <a:lstStyle/>
                    <a:p>
                      <a:pPr algn="l"/>
                      <a:r>
                        <a:rPr sz="1500" b="1" i="0">
                          <a:solidFill>
                            <a:srgbClr val="F0A500"/>
                          </a:solidFill>
                          <a:latin typeface="Calibri"/>
                        </a:rPr>
                        <a:t>Change</a:t>
                      </a:r>
                    </a:p>
                  </a:txBody>
                  <a:tcPr marL="76200" marR="76200" marT="38100" marB="38100" anchor="ctr">
                    <a:solidFill>
                      <a:srgbClr val="282B4A"/>
                    </a:solidFill>
                  </a:tcPr>
                </a:tc>
                <a:tc>
                  <a:txBody>
                    <a:bodyPr wrap="square"/>
                    <a:lstStyle/>
                    <a:p>
                      <a:pPr algn="l"/>
                      <a:r>
                        <a:rPr sz="1500" b="1" i="0">
                          <a:solidFill>
                            <a:srgbClr val="F0A500"/>
                          </a:solidFill>
                          <a:latin typeface="Calibri"/>
                        </a:rPr>
                        <a:t>Effect</a:t>
                      </a:r>
                    </a:p>
                  </a:txBody>
                  <a:tcPr marL="76200" marR="76200" marT="38100" marB="38100" anchor="ctr">
                    <a:solidFill>
                      <a:srgbClr val="282B4A"/>
                    </a:solidFill>
                  </a:tcPr>
                </a:tc>
                <a:tc>
                  <a:txBody>
                    <a:bodyPr wrap="square"/>
                    <a:lstStyle/>
                    <a:p>
                      <a:pPr algn="l"/>
                      <a:r>
                        <a:rPr sz="1500" b="1" i="0">
                          <a:solidFill>
                            <a:srgbClr val="F0A500"/>
                          </a:solidFill>
                          <a:latin typeface="Calibri"/>
                        </a:rPr>
                        <a:t>Detectable?</a:t>
                      </a:r>
                    </a:p>
                  </a:txBody>
                  <a:tcPr marL="76200" marR="76200" marT="38100" marB="38100" anchor="ctr">
                    <a:solidFill>
                      <a:srgbClr val="282B4A"/>
                    </a:solidFill>
                  </a:tcPr>
                </a:tc>
              </a:tr>
              <a:tr h="292608">
                <a:tc>
                  <a:txBody>
                    <a:bodyPr wrap="square"/>
                    <a:lstStyle/>
                    <a:p>
                      <a:pPr algn="l"/>
                      <a:r>
                        <a:rPr sz="1300" b="0" i="0">
                          <a:solidFill>
                            <a:srgbClr val="FFFFFF"/>
                          </a:solidFill>
                          <a:latin typeface="Calibri"/>
                        </a:rPr>
                        <a:t>fault_quant_reset</a:t>
                      </a:r>
                    </a:p>
                  </a:txBody>
                  <a:tcPr marL="76200" marR="76200" marT="25400" marB="25400" anchor="ctr">
                    <a:solidFill>
                      <a:srgbClr val="22223E"/>
                    </a:solidFill>
                  </a:tcPr>
                </a:tc>
                <a:tc>
                  <a:txBody>
                    <a:bodyPr wrap="square"/>
                    <a:lstStyle/>
                    <a:p>
                      <a:pPr algn="l"/>
                      <a:r>
                        <a:rPr sz="1300" b="0" i="0">
                          <a:solidFill>
                            <a:srgbClr val="FFFFFF"/>
                          </a:solidFill>
                          <a:latin typeface="Calibri"/>
                        </a:rPr>
                        <a:t>!rst_n→rst_n</a:t>
                      </a:r>
                    </a:p>
                  </a:txBody>
                  <a:tcPr marL="76200" marR="76200" marT="25400" marB="25400" anchor="ctr">
                    <a:solidFill>
                      <a:srgbClr val="22223E"/>
                    </a:solidFill>
                  </a:tcPr>
                </a:tc>
                <a:tc>
                  <a:txBody>
                    <a:bodyPr wrap="square"/>
                    <a:lstStyle/>
                    <a:p>
                      <a:pPr algn="l"/>
                      <a:r>
                        <a:rPr sz="1300" b="0" i="0">
                          <a:solidFill>
                            <a:srgbClr val="FFFFFF"/>
                          </a:solidFill>
                          <a:latin typeface="Calibri"/>
                        </a:rPr>
                        <a:t>Never resets</a:t>
                      </a:r>
                    </a:p>
                  </a:txBody>
                  <a:tcPr marL="76200" marR="76200" marT="25400" marB="25400" anchor="ctr">
                    <a:solidFill>
                      <a:srgbClr val="22223E"/>
                    </a:solidFill>
                  </a:tcPr>
                </a:tc>
                <a:tc>
                  <a:txBody>
                    <a:bodyPr wrap="square"/>
                    <a:lstStyle/>
                    <a:p>
                      <a:pPr algn="l"/>
                      <a:r>
                        <a:rPr sz="1300" b="0" i="0">
                          <a:solidFill>
                            <a:srgbClr val="FFFFFF"/>
                          </a:solidFill>
                          <a:latin typeface="Calibri"/>
                        </a:rPr>
                        <a:t>Yes</a:t>
                      </a:r>
                    </a:p>
                  </a:txBody>
                  <a:tcPr marL="76200" marR="76200" marT="25400" marB="25400" anchor="ctr">
                    <a:solidFill>
                      <a:srgbClr val="22223E"/>
                    </a:solidFill>
                  </a:tcPr>
                </a:tc>
              </a:tr>
              <a:tr h="292608">
                <a:tc>
                  <a:txBody>
                    <a:bodyPr wrap="square"/>
                    <a:lstStyle/>
                    <a:p>
                      <a:pPr algn="l"/>
                      <a:r>
                        <a:rPr sz="1300" b="0" i="0">
                          <a:solidFill>
                            <a:srgbClr val="FFFFFF"/>
                          </a:solidFill>
                          <a:latin typeface="Calibri"/>
                        </a:rPr>
                        <a:t>fault_quant_shift_fixed</a:t>
                      </a:r>
                    </a:p>
                  </a:txBody>
                  <a:tcPr marL="76200" marR="76200" marT="25400" marB="25400" anchor="ctr">
                    <a:solidFill>
                      <a:srgbClr val="1A1A2E"/>
                    </a:solidFill>
                  </a:tcPr>
                </a:tc>
                <a:tc>
                  <a:txBody>
                    <a:bodyPr wrap="square"/>
                    <a:lstStyle/>
                    <a:p>
                      <a:pPr algn="l"/>
                      <a:r>
                        <a:rPr sz="1300" b="0" i="0">
                          <a:solidFill>
                            <a:srgbClr val="FFFFFF"/>
                          </a:solidFill>
                          <a:latin typeface="Calibri"/>
                        </a:rPr>
                        <a:t>shift[i]→1</a:t>
                      </a:r>
                    </a:p>
                  </a:txBody>
                  <a:tcPr marL="76200" marR="76200" marT="25400" marB="25400" anchor="ctr">
                    <a:solidFill>
                      <a:srgbClr val="1A1A2E"/>
                    </a:solidFill>
                  </a:tcPr>
                </a:tc>
                <a:tc>
                  <a:txBody>
                    <a:bodyPr wrap="square"/>
                    <a:lstStyle/>
                    <a:p>
                      <a:pPr algn="l"/>
                      <a:r>
                        <a:rPr sz="1300" b="0" i="0">
                          <a:solidFill>
                            <a:srgbClr val="FFFFFF"/>
                          </a:solidFill>
                          <a:latin typeface="Calibri"/>
                        </a:rPr>
                        <a:t>Wrong shift amount</a:t>
                      </a:r>
                    </a:p>
                  </a:txBody>
                  <a:tcPr marL="76200" marR="76200" marT="25400" marB="25400" anchor="ctr">
                    <a:solidFill>
                      <a:srgbClr val="1A1A2E"/>
                    </a:solidFill>
                  </a:tcPr>
                </a:tc>
                <a:tc>
                  <a:txBody>
                    <a:bodyPr wrap="square"/>
                    <a:lstStyle/>
                    <a:p>
                      <a:pPr algn="l"/>
                      <a:r>
                        <a:rPr sz="1300" b="1" i="0">
                          <a:solidFill>
                            <a:srgbClr val="6F9CC4"/>
                          </a:solidFill>
                          <a:latin typeface="Calibri"/>
                        </a:rPr>
                        <a:t>Partially</a:t>
                      </a:r>
                    </a:p>
                  </a:txBody>
                  <a:tcPr marL="76200" marR="76200" marT="25400" marB="25400" anchor="ctr">
                    <a:solidFill>
                      <a:srgbClr val="1A1A2E"/>
                    </a:solidFill>
                  </a:tcPr>
                </a:tc>
              </a:tr>
              <a:tr h="292608">
                <a:tc>
                  <a:txBody>
                    <a:bodyPr wrap="square"/>
                    <a:lstStyle/>
                    <a:p>
                      <a:pPr algn="l"/>
                      <a:r>
                        <a:rPr sz="1300" b="0" i="0">
                          <a:solidFill>
                            <a:srgbClr val="FFFFFF"/>
                          </a:solidFill>
                          <a:latin typeface="Calibri"/>
                        </a:rPr>
                        <a:t>fault_quant_no_clamp</a:t>
                      </a:r>
                    </a:p>
                  </a:txBody>
                  <a:tcPr marL="76200" marR="76200" marT="25400" marB="25400" anchor="ctr">
                    <a:solidFill>
                      <a:srgbClr val="22223E"/>
                    </a:solidFill>
                  </a:tcPr>
                </a:tc>
                <a:tc>
                  <a:txBody>
                    <a:bodyPr wrap="square"/>
                    <a:lstStyle/>
                    <a:p>
                      <a:pPr algn="l"/>
                      <a:r>
                        <a:rPr sz="1300" b="0" i="0">
                          <a:solidFill>
                            <a:srgbClr val="FFFFFF"/>
                          </a:solidFill>
                          <a:latin typeface="Calibri"/>
                        </a:rPr>
                        <a:t>clamp removed</a:t>
                      </a:r>
                    </a:p>
                  </a:txBody>
                  <a:tcPr marL="76200" marR="76200" marT="25400" marB="25400" anchor="ctr">
                    <a:solidFill>
                      <a:srgbClr val="22223E"/>
                    </a:solidFill>
                  </a:tcPr>
                </a:tc>
                <a:tc>
                  <a:txBody>
                    <a:bodyPr wrap="square"/>
                    <a:lstStyle/>
                    <a:p>
                      <a:pPr algn="l"/>
                      <a:r>
                        <a:rPr sz="1300" b="0" i="0">
                          <a:solidFill>
                            <a:srgbClr val="FFFFFF"/>
                          </a:solidFill>
                          <a:latin typeface="Calibri"/>
                        </a:rPr>
                        <a:t>Values wrap</a:t>
                      </a:r>
                    </a:p>
                  </a:txBody>
                  <a:tcPr marL="76200" marR="76200" marT="25400" marB="25400" anchor="ctr">
                    <a:solidFill>
                      <a:srgbClr val="22223E"/>
                    </a:solidFill>
                  </a:tcPr>
                </a:tc>
                <a:tc>
                  <a:txBody>
                    <a:bodyPr wrap="square"/>
                    <a:lstStyle/>
                    <a:p>
                      <a:pPr algn="l"/>
                      <a:r>
                        <a:rPr sz="1300" b="1" i="0">
                          <a:solidFill>
                            <a:srgbClr val="6F9CC4"/>
                          </a:solidFill>
                          <a:latin typeface="Calibri"/>
                        </a:rPr>
                        <a:t>Partially</a:t>
                      </a:r>
                    </a:p>
                  </a:txBody>
                  <a:tcPr marL="76200" marR="76200" marT="25400" marB="25400" anchor="ctr">
                    <a:solidFill>
                      <a:srgbClr val="22223E"/>
                    </a:solidFill>
                  </a:tcPr>
                </a:tc>
              </a:tr>
              <a:tr h="292608">
                <a:tc>
                  <a:txBody>
                    <a:bodyPr wrap="square"/>
                    <a:lstStyle/>
                    <a:p>
                      <a:pPr algn="l"/>
                      <a:r>
                        <a:rPr sz="1300" b="0" i="0">
                          <a:solidFill>
                            <a:srgbClr val="FFFFFF"/>
                          </a:solidFill>
                          <a:latin typeface="Calibri"/>
                        </a:rPr>
                        <a:t>fault_quant_wrong_sign_zp</a:t>
                      </a:r>
                    </a:p>
                  </a:txBody>
                  <a:tcPr marL="76200" marR="76200" marT="25400" marB="25400" anchor="ctr">
                    <a:solidFill>
                      <a:srgbClr val="1A1A2E"/>
                    </a:solidFill>
                  </a:tcPr>
                </a:tc>
                <a:tc>
                  <a:txBody>
                    <a:bodyPr wrap="square"/>
                    <a:lstStyle/>
                    <a:p>
                      <a:pPr algn="l"/>
                      <a:r>
                        <a:rPr sz="1300" b="0" i="0">
                          <a:solidFill>
                            <a:srgbClr val="FFFFFF"/>
                          </a:solidFill>
                          <a:latin typeface="Calibri"/>
                        </a:rPr>
                        <a:t>zero_pt signed→unsigned</a:t>
                      </a:r>
                    </a:p>
                  </a:txBody>
                  <a:tcPr marL="76200" marR="76200" marT="25400" marB="25400" anchor="ctr">
                    <a:solidFill>
                      <a:srgbClr val="1A1A2E"/>
                    </a:solidFill>
                  </a:tcPr>
                </a:tc>
                <a:tc>
                  <a:txBody>
                    <a:bodyPr wrap="square"/>
                    <a:lstStyle/>
                    <a:p>
                      <a:pPr algn="l"/>
                      <a:r>
                        <a:rPr sz="1300" b="0" i="0">
                          <a:solidFill>
                            <a:srgbClr val="FFFFFF"/>
                          </a:solidFill>
                          <a:latin typeface="Calibri"/>
                        </a:rPr>
                        <a:t>Wrong bias</a:t>
                      </a:r>
                    </a:p>
                  </a:txBody>
                  <a:tcPr marL="76200" marR="76200" marT="25400" marB="25400" anchor="ctr">
                    <a:solidFill>
                      <a:srgbClr val="1A1A2E"/>
                    </a:solidFill>
                  </a:tcPr>
                </a:tc>
                <a:tc>
                  <a:txBody>
                    <a:bodyPr wrap="square"/>
                    <a:lstStyle/>
                    <a:p>
                      <a:pPr algn="l"/>
                      <a:r>
                        <a:rPr sz="1300" b="1" i="0">
                          <a:solidFill>
                            <a:srgbClr val="6F9CC4"/>
                          </a:solidFill>
                          <a:latin typeface="Calibri"/>
                        </a:rPr>
                        <a:t>Partially</a:t>
                      </a:r>
                    </a:p>
                  </a:txBody>
                  <a:tcPr marL="76200" marR="76200" marT="25400" marB="25400" anchor="ctr">
                    <a:solidFill>
                      <a:srgbClr val="1A1A2E"/>
                    </a:solidFill>
                  </a:tcPr>
                </a:tc>
              </a:tr>
            </a:tbl>
          </a:graphicData>
        </a:graphic>
      </p:graphicFrame>
      <p:sp>
        <p:nvSpPr>
          <p:cNvPr id="11" name="TextBox 10"/>
          <p:cNvSpPr txBox="1"/>
          <p:nvPr/>
        </p:nvSpPr>
        <p:spPr>
          <a:xfrm>
            <a:off x="640080" y="3950208"/>
            <a:ext cx="10911535" cy="457200"/>
          </a:xfrm>
          <a:prstGeom prst="rect">
            <a:avLst/>
          </a:prstGeom>
          <a:noFill/>
        </p:spPr>
        <p:txBody>
          <a:bodyPr wrap="square" lIns="0" rIns="0" tIns="0" bIns="0">
            <a:noAutofit/>
          </a:bodyPr>
          <a:lstStyle/>
          <a:p>
            <a:r>
              <a:rPr sz="1400" b="1" i="0">
                <a:solidFill>
                  <a:srgbClr val="F0A500"/>
                </a:solidFill>
                <a:latin typeface="Calibri"/>
              </a:rPr>
              <a:t>(golden: no fault, all pass)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FAULT INJECTION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The Latent Fault Finding</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20 / 40</a:t>
            </a:r>
          </a:p>
        </p:txBody>
      </p:sp>
      <p:sp>
        <p:nvSpPr>
          <p:cNvPr id="9" name="TextBox 8"/>
          <p:cNvSpPr txBox="1"/>
          <p:nvPr/>
        </p:nvSpPr>
        <p:spPr>
          <a:xfrm>
            <a:off x="640080" y="1508760"/>
            <a:ext cx="10911535" cy="1965960"/>
          </a:xfrm>
          <a:prstGeom prst="rect">
            <a:avLst/>
          </a:prstGeom>
          <a:noFill/>
        </p:spPr>
        <p:txBody>
          <a:bodyPr wrap="square" lIns="0" rIns="0" tIns="0" bIns="0">
            <a:noAutofit/>
          </a:bodyPr>
          <a:lstStyle/>
          <a:p>
            <a:pPr>
              <a:lnSpc>
                <a:spcPct val="120000"/>
              </a:lnSpc>
            </a:pPr>
            <a:r>
              <a:rPr sz="1600" b="0" i="0">
                <a:solidFill>
                  <a:srgbClr val="FFFFFF"/>
                </a:solidFill>
                <a:latin typeface="Calibri"/>
              </a:rPr>
              <a:t>The most surprising finding of this project is that 33 out of 255 simulation records PASS despite containing injected RTL bugs. This happens because the accumulator narrowed to 20 or 24 bits can never overflow with 8-bit inputs and N=4 accumulation steps — the maximum possible sum is 64,516 which fits comfortably in both. A standard regression run would mark these as green checkmarks and the engineer would move on, never knowing the bug exists. Our system correctly identifies and flags all 33 as latent faults, recommending formal verification or larger test stimuli to expose them.</a:t>
            </a:r>
          </a:p>
        </p:txBody>
      </p:sp>
      <p:sp>
        <p:nvSpPr>
          <p:cNvPr id="10" name="TextBox 9"/>
          <p:cNvSpPr txBox="1"/>
          <p:nvPr/>
        </p:nvSpPr>
        <p:spPr>
          <a:xfrm>
            <a:off x="640080" y="3474720"/>
            <a:ext cx="10911535" cy="2971800"/>
          </a:xfrm>
          <a:prstGeom prst="rect">
            <a:avLst/>
          </a:prstGeom>
          <a:noFill/>
        </p:spPr>
        <p:txBody>
          <a:bodyPr wrap="square" lIns="0" rIns="0" tIns="0" bIns="0">
            <a:noAutofit/>
          </a:bodyPr>
          <a:lstStyle/>
          <a:p>
            <a:pPr>
              <a:spcAft>
                <a:spcPts val="1000"/>
              </a:spcAft>
            </a:pPr>
            <a:r>
              <a:rPr sz="1450" b="1" i="0">
                <a:solidFill>
                  <a:srgbClr val="F0A500"/>
                </a:solidFill>
                <a:latin typeface="Calibri"/>
              </a:rPr>
              <a:t>•  </a:t>
            </a:r>
            <a:r>
              <a:rPr sz="1450" b="0" i="0">
                <a:solidFill>
                  <a:srgbClr val="FFFFFF"/>
                </a:solidFill>
                <a:latin typeface="Calibri"/>
              </a:rPr>
              <a:t>The 33 latent passes break down as </a:t>
            </a:r>
            <a:r>
              <a:rPr sz="1450" b="1" i="0">
                <a:solidFill>
                  <a:srgbClr val="F0A500"/>
                </a:solidFill>
                <a:latin typeface="Calibri"/>
              </a:rPr>
              <a:t>12 records</a:t>
            </a:r>
            <a:r>
              <a:rPr sz="1450" b="0" i="0">
                <a:solidFill>
                  <a:srgbClr val="FFFFFF"/>
                </a:solidFill>
                <a:latin typeface="Calibri"/>
              </a:rPr>
              <a:t> for fault_acc_w24, 12 for fault_acc_w20, and 9 quant_unit latent records spread across three quantization faults.</a:t>
            </a:r>
          </a:p>
          <a:p>
            <a:pPr>
              <a:spcAft>
                <a:spcPts val="1000"/>
              </a:spcAft>
            </a:pPr>
            <a:r>
              <a:rPr sz="1450" b="1" i="0">
                <a:solidFill>
                  <a:srgbClr val="F0A500"/>
                </a:solidFill>
                <a:latin typeface="Calibri"/>
              </a:rPr>
              <a:t>•  </a:t>
            </a:r>
            <a:r>
              <a:rPr sz="1450" b="0" i="0">
                <a:solidFill>
                  <a:srgbClr val="FFFFFF"/>
                </a:solidFill>
                <a:latin typeface="Calibri"/>
              </a:rPr>
              <a:t>Our clusterer catches every one of them with a single structural rule: any record where status is pass but the variant is not golden is automatically routed to the latent_fault cluster.</a:t>
            </a:r>
          </a:p>
          <a:p>
            <a:pPr>
              <a:spcAft>
                <a:spcPts val="1000"/>
              </a:spcAft>
            </a:pPr>
            <a:r>
              <a:rPr sz="1450" b="1" i="0">
                <a:solidFill>
                  <a:srgbClr val="F0A500"/>
                </a:solidFill>
                <a:latin typeface="Calibri"/>
              </a:rPr>
              <a:t>•  </a:t>
            </a:r>
            <a:r>
              <a:rPr sz="1450" b="0" i="0">
                <a:solidFill>
                  <a:srgbClr val="FFFFFF"/>
                </a:solidFill>
                <a:latin typeface="Calibri"/>
              </a:rPr>
              <a:t>This is not a synthetic exercise — undetected latent bugs are exactly the mechanism by which real chips pass verification and then fail in the field.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FAULT INJECTION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Regression Database Schema</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21 / 40</a:t>
            </a:r>
          </a:p>
        </p:txBody>
      </p:sp>
      <p:sp>
        <p:nvSpPr>
          <p:cNvPr id="9" name="TextBox 8"/>
          <p:cNvSpPr txBox="1"/>
          <p:nvPr/>
        </p:nvSpPr>
        <p:spPr>
          <a:xfrm>
            <a:off x="640080" y="1508760"/>
            <a:ext cx="10911535" cy="685800"/>
          </a:xfrm>
          <a:prstGeom prst="rect">
            <a:avLst/>
          </a:prstGeom>
          <a:noFill/>
        </p:spPr>
        <p:txBody>
          <a:bodyPr wrap="square" lIns="0" rIns="0" tIns="0" bIns="0">
            <a:noAutofit/>
          </a:bodyPr>
          <a:lstStyle/>
          <a:p>
            <a:pPr>
              <a:lnSpc>
                <a:spcPct val="115000"/>
              </a:lnSpc>
            </a:pPr>
            <a:r>
              <a:rPr sz="1400" b="0" i="0">
                <a:solidFill>
                  <a:srgbClr val="C7C9D9"/>
                </a:solidFill>
                <a:latin typeface="Calibri"/>
              </a:rPr>
              <a:t>Every simulation run in this project — golden or faulty, passing or failing — appends exactly one JSON line to regression_db.jsonl, an append-only log that is never rewritten or edited in place. This single schema is what makes the entire downstream pipeline, from feature extraction to the dashboard, possible.</a:t>
            </a:r>
          </a:p>
        </p:txBody>
      </p:sp>
      <p:sp>
        <p:nvSpPr>
          <p:cNvPr id="10" name="Rectangle 9"/>
          <p:cNvSpPr/>
          <p:nvPr/>
        </p:nvSpPr>
        <p:spPr>
          <a:xfrm>
            <a:off x="640080" y="2286000"/>
            <a:ext cx="6035040" cy="3429000"/>
          </a:xfrm>
          <a:prstGeom prst="rect">
            <a:avLst/>
          </a:prstGeom>
          <a:solidFill>
            <a:srgbClr val="22223E"/>
          </a:solidFill>
          <a:ln w="12700">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468880"/>
            <a:ext cx="5577840" cy="3154680"/>
          </a:xfrm>
          <a:prstGeom prst="rect">
            <a:avLst/>
          </a:prstGeom>
          <a:noFill/>
        </p:spPr>
        <p:txBody>
          <a:bodyPr wrap="square" lIns="0" rIns="0" tIns="0" bIns="0">
            <a:noAutofit/>
          </a:bodyPr>
          <a:lstStyle/>
          <a:p>
            <a:pPr>
              <a:spcAft>
                <a:spcPts val="900"/>
              </a:spcAft>
            </a:pPr>
            <a:r>
              <a:rPr sz="1400" b="1" i="0">
                <a:solidFill>
                  <a:srgbClr val="F0A500"/>
                </a:solidFill>
                <a:latin typeface="Consolas"/>
              </a:rPr>
              <a:t>run_id</a:t>
            </a:r>
            <a:r>
              <a:rPr sz="1300" b="0" i="0">
                <a:solidFill>
                  <a:srgbClr val="FFFFFF"/>
                </a:solidFill>
                <a:latin typeface="Consolas"/>
              </a:rPr>
              <a:t>:  UUID string</a:t>
            </a:r>
          </a:p>
          <a:p>
            <a:pPr>
              <a:spcAft>
                <a:spcPts val="900"/>
              </a:spcAft>
            </a:pPr>
            <a:r>
              <a:rPr sz="1400" b="1" i="0">
                <a:solidFill>
                  <a:srgbClr val="F0A500"/>
                </a:solidFill>
                <a:latin typeface="Consolas"/>
              </a:rPr>
              <a:t>timestamp</a:t>
            </a:r>
            <a:r>
              <a:rPr sz="1300" b="0" i="0">
                <a:solidFill>
                  <a:srgbClr val="FFFFFF"/>
                </a:solidFill>
                <a:latin typeface="Consolas"/>
              </a:rPr>
              <a:t>:  ISO-8601 UTC</a:t>
            </a:r>
          </a:p>
          <a:p>
            <a:pPr>
              <a:spcAft>
                <a:spcPts val="900"/>
              </a:spcAft>
            </a:pPr>
            <a:r>
              <a:rPr sz="1400" b="1" i="0">
                <a:solidFill>
                  <a:srgbClr val="F0A500"/>
                </a:solidFill>
                <a:latin typeface="Consolas"/>
              </a:rPr>
              <a:t>dut</a:t>
            </a:r>
            <a:r>
              <a:rPr sz="1300" b="0" i="0">
                <a:solidFill>
                  <a:srgbClr val="FFFFFF"/>
                </a:solidFill>
                <a:latin typeface="Consolas"/>
              </a:rPr>
              <a:t>:  mac_array | quant_unit</a:t>
            </a:r>
          </a:p>
          <a:p>
            <a:pPr>
              <a:spcAft>
                <a:spcPts val="900"/>
              </a:spcAft>
            </a:pPr>
            <a:r>
              <a:rPr sz="1400" b="1" i="0">
                <a:solidFill>
                  <a:srgbClr val="F0A500"/>
                </a:solidFill>
                <a:latin typeface="Consolas"/>
              </a:rPr>
              <a:t>variant</a:t>
            </a:r>
            <a:r>
              <a:rPr sz="1300" b="0" i="0">
                <a:solidFill>
                  <a:srgbClr val="FFFFFF"/>
                </a:solidFill>
                <a:latin typeface="Consolas"/>
              </a:rPr>
              <a:t>:  golden | fault_*</a:t>
            </a:r>
          </a:p>
          <a:p>
            <a:pPr>
              <a:spcAft>
                <a:spcPts val="900"/>
              </a:spcAft>
            </a:pPr>
            <a:r>
              <a:rPr sz="1400" b="1" i="0">
                <a:solidFill>
                  <a:srgbClr val="F0A500"/>
                </a:solidFill>
                <a:latin typeface="Consolas"/>
              </a:rPr>
              <a:t>config</a:t>
            </a:r>
            <a:r>
              <a:rPr sz="1300" b="0" i="0">
                <a:solidFill>
                  <a:srgbClr val="FFFFFF"/>
                </a:solidFill>
                <a:latin typeface="Consolas"/>
              </a:rPr>
              <a:t>:  {n, data_type, acc_w}</a:t>
            </a:r>
          </a:p>
          <a:p>
            <a:pPr>
              <a:spcAft>
                <a:spcPts val="900"/>
              </a:spcAft>
            </a:pPr>
            <a:r>
              <a:rPr sz="1400" b="1" i="0">
                <a:solidFill>
                  <a:srgbClr val="F0A500"/>
                </a:solidFill>
                <a:latin typeface="Consolas"/>
              </a:rPr>
              <a:t>test_name</a:t>
            </a:r>
            <a:r>
              <a:rPr sz="1300" b="0" i="0">
                <a:solidFill>
                  <a:srgbClr val="FFFFFF"/>
                </a:solidFill>
                <a:latin typeface="Consolas"/>
              </a:rPr>
              <a:t>:  short description with seed</a:t>
            </a:r>
          </a:p>
          <a:p>
            <a:pPr>
              <a:spcAft>
                <a:spcPts val="900"/>
              </a:spcAft>
            </a:pPr>
            <a:r>
              <a:rPr sz="1400" b="1" i="0">
                <a:solidFill>
                  <a:srgbClr val="F0A500"/>
                </a:solidFill>
                <a:latin typeface="Consolas"/>
              </a:rPr>
              <a:t>status</a:t>
            </a:r>
            <a:r>
              <a:rPr sz="1300" b="0" i="0">
                <a:solidFill>
                  <a:srgbClr val="FFFFFF"/>
                </a:solidFill>
                <a:latin typeface="Consolas"/>
              </a:rPr>
              <a:t>:  pass | fail | error</a:t>
            </a:r>
          </a:p>
          <a:p>
            <a:pPr>
              <a:spcAft>
                <a:spcPts val="900"/>
              </a:spcAft>
            </a:pPr>
            <a:r>
              <a:rPr sz="1400" b="1" i="0">
                <a:solidFill>
                  <a:srgbClr val="F0A500"/>
                </a:solidFill>
                <a:latin typeface="Consolas"/>
              </a:rPr>
              <a:t>mismatch_details</a:t>
            </a:r>
            <a:r>
              <a:rPr sz="1300" b="0" i="0">
                <a:solidFill>
                  <a:srgbClr val="FFFFFF"/>
                </a:solidFill>
                <a:latin typeface="Consolas"/>
              </a:rPr>
              <a:t>:  null (pass) or {total_elements,</a:t>
            </a:r>
          </a:p>
          <a:p>
            <a:pPr>
              <a:spcAft>
                <a:spcPts val="900"/>
              </a:spcAft>
            </a:pPr>
            <a:r>
              <a:rPr sz="1400" b="1" i="0">
                <a:solidFill>
                  <a:srgbClr val="F0A500"/>
                </a:solidFill>
                <a:latin typeface="Consolas"/>
              </a:rPr>
              <a:t/>
            </a:r>
            <a:r>
              <a:rPr sz="1300" b="0" i="0">
                <a:solidFill>
                  <a:srgbClr val="FFFFFF"/>
                </a:solidFill>
                <a:latin typeface="Consolas"/>
              </a:rPr>
              <a:t>:   mismatch_count, max_abs_error, first_mismatch}</a:t>
            </a:r>
          </a:p>
        </p:txBody>
      </p:sp>
      <p:sp>
        <p:nvSpPr>
          <p:cNvPr id="12" name="Rectangle 11"/>
          <p:cNvSpPr/>
          <p:nvPr/>
        </p:nvSpPr>
        <p:spPr>
          <a:xfrm>
            <a:off x="7040880" y="2286000"/>
            <a:ext cx="4510735" cy="720090"/>
          </a:xfrm>
          <a:prstGeom prst="rect">
            <a:avLst/>
          </a:prstGeom>
          <a:solidFill>
            <a:srgbClr val="282B4A"/>
          </a:solidFill>
          <a:ln w="9525">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lIns="127000" rIns="127000" wrap="square"/>
          <a:lstStyle/>
          <a:p>
            <a:pPr algn="ctr"/>
            <a:r>
              <a:rPr sz="1900" b="1" i="0">
                <a:solidFill>
                  <a:srgbClr val="F0A500"/>
                </a:solidFill>
                <a:latin typeface="Calibri"/>
              </a:rPr>
              <a:t>255 records</a:t>
            </a:r>
          </a:p>
          <a:p>
            <a:r>
              <a:rPr sz="1150" b="0" i="0">
                <a:solidFill>
                  <a:srgbClr val="C7C9D9"/>
                </a:solidFill>
                <a:latin typeface="Calibri"/>
              </a:rPr>
              <a:t>total regression database size</a:t>
            </a:r>
          </a:p>
        </p:txBody>
      </p:sp>
      <p:sp>
        <p:nvSpPr>
          <p:cNvPr id="13" name="Rectangle 12"/>
          <p:cNvSpPr/>
          <p:nvPr/>
        </p:nvSpPr>
        <p:spPr>
          <a:xfrm>
            <a:off x="7040880" y="3143250"/>
            <a:ext cx="4510735" cy="720090"/>
          </a:xfrm>
          <a:prstGeom prst="rect">
            <a:avLst/>
          </a:prstGeom>
          <a:solidFill>
            <a:srgbClr val="282B4A"/>
          </a:solidFill>
          <a:ln w="9525">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lIns="127000" rIns="127000" wrap="square"/>
          <a:lstStyle/>
          <a:p>
            <a:pPr algn="ctr"/>
            <a:r>
              <a:rPr sz="1900" b="1" i="0">
                <a:solidFill>
                  <a:srgbClr val="F0A500"/>
                </a:solidFill>
                <a:latin typeface="Calibri"/>
              </a:rPr>
              <a:t>87 golden passes</a:t>
            </a:r>
          </a:p>
          <a:p>
            <a:r>
              <a:rPr sz="1150" b="0" i="0">
                <a:solidFill>
                  <a:srgbClr val="C7C9D9"/>
                </a:solidFill>
                <a:latin typeface="Calibri"/>
              </a:rPr>
              <a:t>golden RTL, zero mismatches</a:t>
            </a:r>
          </a:p>
        </p:txBody>
      </p:sp>
      <p:sp>
        <p:nvSpPr>
          <p:cNvPr id="14" name="Rectangle 13"/>
          <p:cNvSpPr/>
          <p:nvPr/>
        </p:nvSpPr>
        <p:spPr>
          <a:xfrm>
            <a:off x="7040880" y="4000500"/>
            <a:ext cx="4510735" cy="720090"/>
          </a:xfrm>
          <a:prstGeom prst="rect">
            <a:avLst/>
          </a:prstGeom>
          <a:solidFill>
            <a:srgbClr val="282B4A"/>
          </a:solidFill>
          <a:ln w="9525">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lIns="127000" rIns="127000" wrap="square"/>
          <a:lstStyle/>
          <a:p>
            <a:pPr algn="ctr"/>
            <a:r>
              <a:rPr sz="1900" b="1" i="0">
                <a:solidFill>
                  <a:srgbClr val="F0A500"/>
                </a:solidFill>
                <a:latin typeface="Calibri"/>
              </a:rPr>
              <a:t>33 latent passes</a:t>
            </a:r>
          </a:p>
          <a:p>
            <a:r>
              <a:rPr sz="1150" b="0" i="0">
                <a:solidFill>
                  <a:srgbClr val="C7C9D9"/>
                </a:solidFill>
                <a:latin typeface="Calibri"/>
              </a:rPr>
              <a:t>fault variants that still pass</a:t>
            </a:r>
          </a:p>
        </p:txBody>
      </p:sp>
      <p:sp>
        <p:nvSpPr>
          <p:cNvPr id="15" name="Rectangle 14"/>
          <p:cNvSpPr/>
          <p:nvPr/>
        </p:nvSpPr>
        <p:spPr>
          <a:xfrm>
            <a:off x="7040880" y="4857750"/>
            <a:ext cx="4510735" cy="720090"/>
          </a:xfrm>
          <a:prstGeom prst="rect">
            <a:avLst/>
          </a:prstGeom>
          <a:solidFill>
            <a:srgbClr val="282B4A"/>
          </a:solidFill>
          <a:ln w="9525">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lIns="127000" rIns="127000" wrap="square"/>
          <a:lstStyle/>
          <a:p>
            <a:pPr algn="ctr"/>
            <a:r>
              <a:rPr sz="1900" b="1" i="0">
                <a:solidFill>
                  <a:srgbClr val="F0A500"/>
                </a:solidFill>
                <a:latin typeface="Calibri"/>
              </a:rPr>
              <a:t>135 detectable failures</a:t>
            </a:r>
          </a:p>
          <a:p>
            <a:r>
              <a:rPr sz="1150" b="0" i="0">
                <a:solidFill>
                  <a:srgbClr val="C7C9D9"/>
                </a:solidFill>
                <a:latin typeface="Calibri"/>
              </a:rPr>
              <a:t>fault variants that fail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AI TRIAGE PIPELINE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Feature Extractor</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22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800"/>
              </a:spcAft>
            </a:pPr>
            <a:r>
              <a:rPr sz="1300" b="1" i="0">
                <a:solidFill>
                  <a:srgbClr val="F0A500"/>
                </a:solidFill>
                <a:latin typeface="Calibri"/>
              </a:rPr>
              <a:t>•  </a:t>
            </a:r>
            <a:r>
              <a:rPr sz="1300" b="0" i="0">
                <a:solidFill>
                  <a:srgbClr val="FFFFFF"/>
                </a:solidFill>
                <a:latin typeface="Calibri"/>
              </a:rPr>
              <a:t>Before any failure can be clustered or explained, it is first reduced to 13 structured features that capture everything relevant about the mismatch in a fixed, comparable format.</a:t>
            </a:r>
          </a:p>
          <a:p>
            <a:pPr>
              <a:spcAft>
                <a:spcPts val="800"/>
              </a:spcAft>
            </a:pPr>
            <a:r>
              <a:rPr sz="1300" b="1" i="0">
                <a:solidFill>
                  <a:srgbClr val="F0A500"/>
                </a:solidFill>
                <a:latin typeface="Calibri"/>
              </a:rPr>
              <a:t>•  </a:t>
            </a:r>
            <a:r>
              <a:rPr sz="1300" b="0" i="0">
                <a:solidFill>
                  <a:srgbClr val="FFFFFF"/>
                </a:solidFill>
                <a:latin typeface="Calibri"/>
              </a:rPr>
              <a:t>Identity fields — run_id, dut, variant, test_name, and status — are passed through unchanged so every feature vector can always be traced back to its original regression record.</a:t>
            </a:r>
          </a:p>
          <a:p>
            <a:pPr>
              <a:spcAft>
                <a:spcPts val="800"/>
              </a:spcAft>
            </a:pPr>
            <a:r>
              <a:rPr sz="1300" b="1" i="0">
                <a:solidFill>
                  <a:srgbClr val="F0A500"/>
                </a:solidFill>
                <a:latin typeface="Calibri"/>
              </a:rPr>
              <a:t>•  </a:t>
            </a:r>
            <a:r>
              <a:rPr sz="1300" b="0" i="0">
                <a:solidFill>
                  <a:srgbClr val="FFFFFF"/>
                </a:solidFill>
                <a:latin typeface="Calibri"/>
              </a:rPr>
              <a:t>Configuration fields flatten the nested test config into config_n, config_data_type, and config_acc_w, making it easy to group failures by hardware configuration.</a:t>
            </a:r>
          </a:p>
          <a:p>
            <a:pPr>
              <a:spcAft>
                <a:spcPts val="800"/>
              </a:spcAft>
            </a:pPr>
            <a:r>
              <a:rPr sz="1300" b="1" i="0">
                <a:solidFill>
                  <a:srgbClr val="F0A500"/>
                </a:solidFill>
                <a:latin typeface="Calibri"/>
              </a:rPr>
              <a:t>•  </a:t>
            </a:r>
            <a:r>
              <a:rPr sz="1300" b="0" i="0">
                <a:solidFill>
                  <a:srgbClr val="FFFFFF"/>
                </a:solidFill>
                <a:latin typeface="Calibri"/>
              </a:rPr>
              <a:t>Two numeric fields, mismatch_rate and max_abs_error, quantify how wrong the output was, ranging from a single off-by-one element to a completely diverged tensor.</a:t>
            </a:r>
          </a:p>
          <a:p>
            <a:pPr>
              <a:spcAft>
                <a:spcPts val="800"/>
              </a:spcAft>
            </a:pPr>
            <a:r>
              <a:rPr sz="1300" b="1" i="0">
                <a:solidFill>
                  <a:srgbClr val="F0A500"/>
                </a:solidFill>
                <a:latin typeface="Calibri"/>
              </a:rPr>
              <a:t>•  </a:t>
            </a:r>
            <a:r>
              <a:rPr sz="1300" b="0" i="0">
                <a:solidFill>
                  <a:srgbClr val="FFFFFF"/>
                </a:solidFill>
                <a:latin typeface="Calibri"/>
              </a:rPr>
              <a:t>The error_magnitude_bucket field collapses max_abs_error into none, small, medium, or large, which turns out to be one of the strongest signals for distinguishing fault types.</a:t>
            </a:r>
          </a:p>
          <a:p>
            <a:pPr>
              <a:spcAft>
                <a:spcPts val="800"/>
              </a:spcAft>
            </a:pPr>
            <a:r>
              <a:rPr sz="1300" b="1" i="0">
                <a:solidFill>
                  <a:srgbClr val="F0A500"/>
                </a:solidFill>
                <a:latin typeface="Calibri"/>
              </a:rPr>
              <a:t>•  </a:t>
            </a:r>
            <a:r>
              <a:rPr sz="1300" b="0" i="0">
                <a:solidFill>
                  <a:srgbClr val="FFFFFF"/>
                </a:solidFill>
                <a:latin typeface="Calibri"/>
              </a:rPr>
              <a:t>Two boolean symptom flags, has_reset_symptom and has_overflow_symptom, encode domain knowledge directly, such as an output stuck at reset versus one wrapping at a power-of-two boundary.</a:t>
            </a:r>
          </a:p>
          <a:p>
            <a:pPr>
              <a:spcAft>
                <a:spcPts val="800"/>
              </a:spcAft>
            </a:pPr>
            <a:r>
              <a:rPr sz="1300" b="1" i="0">
                <a:solidFill>
                  <a:srgbClr val="F0A500"/>
                </a:solidFill>
                <a:latin typeface="Calibri"/>
              </a:rPr>
              <a:t>•  </a:t>
            </a:r>
            <a:r>
              <a:rPr sz="1300" b="0" i="0">
                <a:solidFill>
                  <a:srgbClr val="FFFFFF"/>
                </a:solidFill>
                <a:latin typeface="Calibri"/>
              </a:rPr>
              <a:t>When a waveform dump is available, first_divergence_cycle and total_cycles add temporal context from the VCD parser.</a:t>
            </a:r>
          </a:p>
          <a:p>
            <a:pPr>
              <a:spcAft>
                <a:spcPts val="800"/>
              </a:spcAft>
            </a:pPr>
            <a:r>
              <a:rPr sz="1300" b="1" i="0">
                <a:solidFill>
                  <a:srgbClr val="F0A500"/>
                </a:solidFill>
                <a:latin typeface="Calibri"/>
              </a:rPr>
              <a:t>•  </a:t>
            </a:r>
            <a:r>
              <a:rPr sz="1300" b="0" i="0">
                <a:solidFill>
                  <a:srgbClr val="FFFFFF"/>
                </a:solidFill>
                <a:latin typeface="Calibri"/>
              </a:rPr>
              <a:t>Together these 13 features are dense enough to drive both the rule-based clusterer and the DBSCAN outlier detector without ever re-parsing the raw log.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AI TRIAGE PIPELINE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Rule-Based Clusterer</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23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800"/>
              </a:spcAft>
            </a:pPr>
            <a:r>
              <a:rPr sz="1300" b="1" i="0">
                <a:solidFill>
                  <a:srgbClr val="F0A500"/>
                </a:solidFill>
                <a:latin typeface="Calibri"/>
              </a:rPr>
              <a:t>•  </a:t>
            </a:r>
            <a:r>
              <a:rPr sz="1300" b="0" i="0">
                <a:solidFill>
                  <a:srgbClr val="FFFFFF"/>
                </a:solidFill>
                <a:latin typeface="Calibri"/>
              </a:rPr>
              <a:t>The clusterer applies eight priority-ordered rules to each feature vector, and the first rule that matches determines the failure's cluster label.</a:t>
            </a:r>
          </a:p>
          <a:p>
            <a:pPr>
              <a:spcAft>
                <a:spcPts val="800"/>
              </a:spcAft>
            </a:pPr>
            <a:r>
              <a:rPr sz="1300" b="1" i="0">
                <a:solidFill>
                  <a:srgbClr val="F0A500"/>
                </a:solidFill>
                <a:latin typeface="Calibri"/>
              </a:rPr>
              <a:t>•  </a:t>
            </a:r>
            <a:r>
              <a:rPr sz="1300" b="0" i="0">
                <a:solidFill>
                  <a:srgbClr val="FFFFFF"/>
                </a:solidFill>
                <a:latin typeface="Calibri"/>
              </a:rPr>
              <a:t>A record with has_reset_symptom set to true is always routed to reset_fault first, because a stuck-at-reset output is unambiguous regardless of error magnitude.</a:t>
            </a:r>
          </a:p>
          <a:p>
            <a:pPr>
              <a:spcAft>
                <a:spcPts val="800"/>
              </a:spcAft>
            </a:pPr>
            <a:r>
              <a:rPr sz="1300" b="1" i="0">
                <a:solidFill>
                  <a:srgbClr val="F0A500"/>
                </a:solidFill>
                <a:latin typeface="Calibri"/>
              </a:rPr>
              <a:t>•  </a:t>
            </a:r>
            <a:r>
              <a:rPr sz="1300" b="0" i="0">
                <a:solidFill>
                  <a:srgbClr val="FFFFFF"/>
                </a:solidFill>
                <a:latin typeface="Calibri"/>
              </a:rPr>
              <a:t>A record with has_overflow_symptom set to true is routed to overflow_fault next, catching the characteristic power-of-two wraparound pattern.</a:t>
            </a:r>
          </a:p>
          <a:p>
            <a:pPr>
              <a:spcAft>
                <a:spcPts val="800"/>
              </a:spcAft>
            </a:pPr>
            <a:r>
              <a:rPr sz="1300" b="1" i="0">
                <a:solidFill>
                  <a:srgbClr val="F0A500"/>
                </a:solidFill>
                <a:latin typeface="Calibri"/>
              </a:rPr>
              <a:t>•  </a:t>
            </a:r>
            <a:r>
              <a:rPr sz="1300" b="0" i="0">
                <a:solidFill>
                  <a:srgbClr val="FFFFFF"/>
                </a:solidFill>
                <a:latin typeface="Calibri"/>
              </a:rPr>
              <a:t>A large error bucket with no reset or overflow symptom is split between sign_error and arithmetic_error depending on whether the mismatch shows the negated-sum pattern.</a:t>
            </a:r>
          </a:p>
          <a:p>
            <a:pPr>
              <a:spcAft>
                <a:spcPts val="800"/>
              </a:spcAft>
            </a:pPr>
            <a:r>
              <a:rPr sz="1300" b="1" i="0">
                <a:solidFill>
                  <a:srgbClr val="F0A500"/>
                </a:solidFill>
                <a:latin typeface="Calibri"/>
              </a:rPr>
              <a:t>•  </a:t>
            </a:r>
            <a:r>
              <a:rPr sz="1300" b="0" i="0">
                <a:solidFill>
                  <a:srgbClr val="FFFFFF"/>
                </a:solidFill>
                <a:latin typeface="Calibri"/>
              </a:rPr>
              <a:t>A medium error bucket with a mismatch rate at or above 0.999 is labeled off_by_one, matching the signature of a loop that terminates one iteration early.</a:t>
            </a:r>
          </a:p>
          <a:p>
            <a:pPr>
              <a:spcAft>
                <a:spcPts val="800"/>
              </a:spcAft>
            </a:pPr>
            <a:r>
              <a:rPr sz="1300" b="1" i="0">
                <a:solidFill>
                  <a:srgbClr val="F0A500"/>
                </a:solidFill>
                <a:latin typeface="Calibri"/>
              </a:rPr>
              <a:t>•  </a:t>
            </a:r>
            <a:r>
              <a:rPr sz="1300" b="0" i="0">
                <a:solidFill>
                  <a:srgbClr val="FFFFFF"/>
                </a:solidFill>
                <a:latin typeface="Calibri"/>
              </a:rPr>
              <a:t>Quantization failures in the small error bucket are further split into shift_error, saturation_error, or zero_point_error based on the exact error range they fall into.</a:t>
            </a:r>
          </a:p>
          <a:p>
            <a:pPr>
              <a:spcAft>
                <a:spcPts val="800"/>
              </a:spcAft>
            </a:pPr>
            <a:r>
              <a:rPr sz="1300" b="1" i="0">
                <a:solidFill>
                  <a:srgbClr val="F0A500"/>
                </a:solidFill>
                <a:latin typeface="Calibri"/>
              </a:rPr>
              <a:t>•  </a:t>
            </a:r>
            <a:r>
              <a:rPr sz="1300" b="0" i="0">
                <a:solidFill>
                  <a:srgbClr val="FFFFFF"/>
                </a:solidFill>
                <a:latin typeface="Calibri"/>
              </a:rPr>
              <a:t>Any record that passed simulation on a non-golden variant is labeled latent_fault, and any record that passed on the golden variant is labeled clean_pass.</a:t>
            </a:r>
          </a:p>
          <a:p>
            <a:pPr>
              <a:spcAft>
                <a:spcPts val="800"/>
              </a:spcAft>
            </a:pPr>
            <a:r>
              <a:rPr sz="1300" b="1" i="0">
                <a:solidFill>
                  <a:srgbClr val="F0A500"/>
                </a:solidFill>
                <a:latin typeface="Calibri"/>
              </a:rPr>
              <a:t>•  </a:t>
            </a:r>
            <a:r>
              <a:rPr sz="1300" b="0" i="0">
                <a:solidFill>
                  <a:srgbClr val="FFFFFF"/>
                </a:solidFill>
                <a:latin typeface="Calibri"/>
              </a:rPr>
              <a:t>On top of these rules, DBSCAN runs over a 5-element normalized feature vector to flag statistical outliers the rules alone might miss.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AI TRIAGE PIPELINE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Triage Agent</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24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800"/>
              </a:spcAft>
            </a:pPr>
            <a:r>
              <a:rPr sz="1300" b="1" i="0">
                <a:solidFill>
                  <a:srgbClr val="F0A500"/>
                </a:solidFill>
                <a:latin typeface="Calibri"/>
              </a:rPr>
              <a:t>•  </a:t>
            </a:r>
            <a:r>
              <a:rPr sz="1300" b="0" i="0">
                <a:solidFill>
                  <a:srgbClr val="FFFFFF"/>
                </a:solidFill>
                <a:latin typeface="Calibri"/>
              </a:rPr>
              <a:t>The triage agent groups every clustered record by its cluster_label so Claude only reasons about one coherent failure pattern at a time, not the full unsorted log.</a:t>
            </a:r>
          </a:p>
          <a:p>
            <a:pPr>
              <a:spcAft>
                <a:spcPts val="800"/>
              </a:spcAft>
            </a:pPr>
            <a:r>
              <a:rPr sz="1300" b="1" i="0">
                <a:solidFill>
                  <a:srgbClr val="F0A500"/>
                </a:solidFill>
                <a:latin typeface="Calibri"/>
              </a:rPr>
              <a:t>•  </a:t>
            </a:r>
            <a:r>
              <a:rPr sz="1300" b="0" i="0">
                <a:solidFill>
                  <a:srgbClr val="FFFFFF"/>
                </a:solidFill>
                <a:latin typeface="Calibri"/>
              </a:rPr>
              <a:t>clean_pass records are skipped entirely and never sent to the API, because a passing golden-RTL test carries no root cause to explain and would only waste tokens and money.</a:t>
            </a:r>
          </a:p>
          <a:p>
            <a:pPr>
              <a:spcAft>
                <a:spcPts val="800"/>
              </a:spcAft>
            </a:pPr>
            <a:r>
              <a:rPr sz="1300" b="1" i="0">
                <a:solidFill>
                  <a:srgbClr val="F0A500"/>
                </a:solidFill>
                <a:latin typeface="Calibri"/>
              </a:rPr>
              <a:t>•  </a:t>
            </a:r>
            <a:r>
              <a:rPr sz="1300" b="0" i="0">
                <a:solidFill>
                  <a:srgbClr val="FFFFFF"/>
                </a:solidFill>
                <a:latin typeface="Calibri"/>
              </a:rPr>
              <a:t>For each failure cluster, the agent builds a rich prompt with representative test names, mismatch rates, error ranges, and symptom flags — the same structured evidence a human engineer would gather.</a:t>
            </a:r>
          </a:p>
          <a:p>
            <a:pPr>
              <a:spcAft>
                <a:spcPts val="800"/>
              </a:spcAft>
            </a:pPr>
            <a:r>
              <a:rPr sz="1300" b="1" i="0">
                <a:solidFill>
                  <a:srgbClr val="F0A500"/>
                </a:solidFill>
                <a:latin typeface="Calibri"/>
              </a:rPr>
              <a:t>•  </a:t>
            </a:r>
            <a:r>
              <a:rPr sz="1300" b="0" i="0">
                <a:solidFill>
                  <a:srgbClr val="FFFFFF"/>
                </a:solidFill>
                <a:latin typeface="Calibri"/>
              </a:rPr>
              <a:t>The model called is claude-sonnet-4-6, with max_tokens raised to 1024 for clusters larger than </a:t>
            </a:r>
            <a:r>
              <a:rPr sz="1300" b="1" i="0">
                <a:solidFill>
                  <a:srgbClr val="F0A500"/>
                </a:solidFill>
                <a:latin typeface="Calibri"/>
              </a:rPr>
              <a:t>10 records</a:t>
            </a:r>
            <a:r>
              <a:rPr sz="1300" b="0" i="0">
                <a:solidFill>
                  <a:srgbClr val="FFFFFF"/>
                </a:solidFill>
                <a:latin typeface="Calibri"/>
              </a:rPr>
              <a:t> specifically to prevent the JSON response from being truncated mid-report.</a:t>
            </a:r>
          </a:p>
          <a:p>
            <a:pPr>
              <a:spcAft>
                <a:spcPts val="800"/>
              </a:spcAft>
            </a:pPr>
            <a:r>
              <a:rPr sz="1300" b="1" i="0">
                <a:solidFill>
                  <a:srgbClr val="F0A500"/>
                </a:solidFill>
                <a:latin typeface="Calibri"/>
              </a:rPr>
              <a:t>•  </a:t>
            </a:r>
            <a:r>
              <a:rPr sz="1300" b="0" i="0">
                <a:solidFill>
                  <a:srgbClr val="FFFFFF"/>
                </a:solidFill>
                <a:latin typeface="Calibri"/>
              </a:rPr>
              <a:t>The response is parsed as structured JSON containing likely_cause, confidence, recommended_debug_steps, and affected_configs, so downstream code never has to regex-parse free text.</a:t>
            </a:r>
          </a:p>
          <a:p>
            <a:pPr>
              <a:spcAft>
                <a:spcPts val="800"/>
              </a:spcAft>
            </a:pPr>
            <a:r>
              <a:rPr sz="1300" b="1" i="0">
                <a:solidFill>
                  <a:srgbClr val="F0A500"/>
                </a:solidFill>
                <a:latin typeface="Calibri"/>
              </a:rPr>
              <a:t>•  </a:t>
            </a:r>
            <a:r>
              <a:rPr sz="1300" b="0" i="0">
                <a:solidFill>
                  <a:srgbClr val="FFFFFF"/>
                </a:solidFill>
                <a:latin typeface="Calibri"/>
              </a:rPr>
              <a:t>affected_configs is computed deterministically from the records in the cluster rather than left to the model, preventing the LLM from hallucinating a configuration that was never observed.</a:t>
            </a:r>
          </a:p>
          <a:p>
            <a:pPr>
              <a:spcAft>
                <a:spcPts val="800"/>
              </a:spcAft>
            </a:pPr>
            <a:r>
              <a:rPr sz="1300" b="1" i="0">
                <a:solidFill>
                  <a:srgbClr val="F0A500"/>
                </a:solidFill>
                <a:latin typeface="Calibri"/>
              </a:rPr>
              <a:t>•  </a:t>
            </a:r>
            <a:r>
              <a:rPr sz="1300" b="0" i="0">
                <a:solidFill>
                  <a:srgbClr val="FFFFFF"/>
                </a:solidFill>
                <a:latin typeface="Calibri"/>
              </a:rPr>
              <a:t>If the API call fails or returns malformed JSON, the agent falls back gracefully to a low-confidence placeholder report instead of crashing the whole benchmark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AI TRIAGE PIPELINE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RAG Store</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25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700"/>
              </a:spcAft>
            </a:pPr>
            <a:r>
              <a:rPr sz="1250" b="1" i="0">
                <a:solidFill>
                  <a:srgbClr val="F0A500"/>
                </a:solidFill>
                <a:latin typeface="Calibri"/>
              </a:rPr>
              <a:t>•  </a:t>
            </a:r>
            <a:r>
              <a:rPr sz="1250" b="0" i="0">
                <a:solidFill>
                  <a:srgbClr val="FFFFFF"/>
                </a:solidFill>
                <a:latin typeface="Calibri"/>
              </a:rPr>
              <a:t>The RAG store remembers every past triage report so future failures can be explained in the context of failures the system has already solved.</a:t>
            </a:r>
          </a:p>
          <a:p>
            <a:pPr>
              <a:spcAft>
                <a:spcPts val="700"/>
              </a:spcAft>
            </a:pPr>
            <a:r>
              <a:rPr sz="1250" b="1" i="0">
                <a:solidFill>
                  <a:srgbClr val="F0A500"/>
                </a:solidFill>
                <a:latin typeface="Calibri"/>
              </a:rPr>
              <a:t>•  </a:t>
            </a:r>
            <a:r>
              <a:rPr sz="1250" b="0" i="0">
                <a:solidFill>
                  <a:srgbClr val="FFFFFF"/>
                </a:solidFill>
                <a:latin typeface="Calibri"/>
              </a:rPr>
              <a:t>Each stored record is converted into a short token string — for example label_overflow_fault bucket_large dut_mac_array n_4 rate_very_high overflow_symptom — summarizing its key attributes as plain words.</a:t>
            </a:r>
          </a:p>
          <a:p>
            <a:pPr>
              <a:spcAft>
                <a:spcPts val="700"/>
              </a:spcAft>
            </a:pPr>
            <a:r>
              <a:rPr sz="1250" b="1" i="0">
                <a:solidFill>
                  <a:srgbClr val="F0A500"/>
                </a:solidFill>
                <a:latin typeface="Calibri"/>
              </a:rPr>
              <a:t>•  </a:t>
            </a:r>
            <a:r>
              <a:rPr sz="1250" b="0" i="0">
                <a:solidFill>
                  <a:srgbClr val="FFFFFF"/>
                </a:solidFill>
                <a:latin typeface="Calibri"/>
              </a:rPr>
              <a:t>TF-IDF, short for term frequency-inverse document frequency, is a simple text-similarity technique: it scores how much two token strings overlap while automatically down-weighting words that appear in almost every record and are therefore uninformative.</a:t>
            </a:r>
          </a:p>
          <a:p>
            <a:pPr>
              <a:spcAft>
                <a:spcPts val="700"/>
              </a:spcAft>
            </a:pPr>
            <a:r>
              <a:rPr sz="1250" b="1" i="0">
                <a:solidFill>
                  <a:srgbClr val="F0A500"/>
                </a:solidFill>
                <a:latin typeface="Calibri"/>
              </a:rPr>
              <a:t>•  </a:t>
            </a:r>
            <a:r>
              <a:rPr sz="1250" b="0" i="0">
                <a:solidFill>
                  <a:srgbClr val="FFFFFF"/>
                </a:solidFill>
                <a:latin typeface="Calibri"/>
              </a:rPr>
              <a:t>A cosine-similarity query against this TF-IDF index returns the top-k most similar past failures for any new cluster, effectively answering 'have we seen something like this before?'</a:t>
            </a:r>
          </a:p>
          <a:p>
            <a:pPr>
              <a:spcAft>
                <a:spcPts val="700"/>
              </a:spcAft>
            </a:pPr>
            <a:r>
              <a:rPr sz="1250" b="1" i="0">
                <a:solidFill>
                  <a:srgbClr val="F0A500"/>
                </a:solidFill>
                <a:latin typeface="Calibri"/>
              </a:rPr>
              <a:t>•  </a:t>
            </a:r>
            <a:r>
              <a:rPr sz="1250" b="0" i="0">
                <a:solidFill>
                  <a:srgbClr val="FFFFFF"/>
                </a:solidFill>
                <a:latin typeface="Calibri"/>
              </a:rPr>
              <a:t>Each retrieved match includes both a numeric similarity score and a matched_fields list naming exactly which attributes lined up, so retrieval is explainable rather than a black box.</a:t>
            </a:r>
          </a:p>
          <a:p>
            <a:pPr>
              <a:spcAft>
                <a:spcPts val="700"/>
              </a:spcAft>
            </a:pPr>
            <a:r>
              <a:rPr sz="1250" b="1" i="0">
                <a:solidFill>
                  <a:srgbClr val="F0A500"/>
                </a:solidFill>
                <a:latin typeface="Calibri"/>
              </a:rPr>
              <a:t>•  </a:t>
            </a:r>
            <a:r>
              <a:rPr sz="1250" b="0" i="0">
                <a:solidFill>
                  <a:srgbClr val="FFFFFF"/>
                </a:solidFill>
                <a:latin typeface="Calibri"/>
              </a:rPr>
              <a:t>The index is rebuilt lazily, only when new entries have actually been added, which keeps repeated queries fast during a single benchmark run.</a:t>
            </a:r>
          </a:p>
          <a:p>
            <a:pPr>
              <a:spcAft>
                <a:spcPts val="700"/>
              </a:spcAft>
            </a:pPr>
            <a:r>
              <a:rPr sz="1250" b="1" i="0">
                <a:solidFill>
                  <a:srgbClr val="F0A500"/>
                </a:solidFill>
                <a:latin typeface="Calibri"/>
              </a:rPr>
              <a:t>•  </a:t>
            </a:r>
            <a:r>
              <a:rPr sz="1250" b="0" i="0">
                <a:solidFill>
                  <a:srgbClr val="FFFFFF"/>
                </a:solidFill>
                <a:latin typeface="Calibri"/>
              </a:rPr>
              <a:t>The store can be saved to and loaded from JSON, so triage knowledge accumulated in one session carries over and improves retrieval in the next.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AI TRIAGE PIPELINE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Multi-Turn Debug Loop</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26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700"/>
              </a:spcAft>
            </a:pPr>
            <a:r>
              <a:rPr sz="1250" b="1" i="0">
                <a:solidFill>
                  <a:srgbClr val="F0A500"/>
                </a:solidFill>
                <a:latin typeface="Calibri"/>
              </a:rPr>
              <a:t>•  </a:t>
            </a:r>
            <a:r>
              <a:rPr sz="1250" b="0" i="0">
                <a:solidFill>
                  <a:srgbClr val="FFFFFF"/>
                </a:solidFill>
                <a:latin typeface="Calibri"/>
              </a:rPr>
              <a:t>A single LLM call is sometimes not enough — Claude's first hypothesis can be underspecified or low-confidence for ambiguous clusters, so the debug loop gives it a chance to reconsider.</a:t>
            </a:r>
          </a:p>
          <a:p>
            <a:pPr>
              <a:spcAft>
                <a:spcPts val="700"/>
              </a:spcAft>
            </a:pPr>
            <a:r>
              <a:rPr sz="1250" b="1" i="0">
                <a:solidFill>
                  <a:srgbClr val="F0A500"/>
                </a:solidFill>
                <a:latin typeface="Calibri"/>
              </a:rPr>
              <a:t>•  </a:t>
            </a:r>
            <a:r>
              <a:rPr sz="1250" b="0" i="0">
                <a:solidFill>
                  <a:srgbClr val="FFFFFF"/>
                </a:solidFill>
                <a:latin typeface="Calibri"/>
              </a:rPr>
              <a:t>Turn 1 always starts from the same rich cluster summary used by the single-shot triage agent, so the loop's first answer is directly comparable to the non-looping baseline.</a:t>
            </a:r>
          </a:p>
          <a:p>
            <a:pPr>
              <a:spcAft>
                <a:spcPts val="700"/>
              </a:spcAft>
            </a:pPr>
            <a:r>
              <a:rPr sz="1250" b="1" i="0">
                <a:solidFill>
                  <a:srgbClr val="F0A500"/>
                </a:solidFill>
                <a:latin typeface="Calibri"/>
              </a:rPr>
              <a:t>•  </a:t>
            </a:r>
            <a:r>
              <a:rPr sz="1250" b="0" i="0">
                <a:solidFill>
                  <a:srgbClr val="FFFFFF"/>
                </a:solidFill>
                <a:latin typeface="Calibri"/>
              </a:rPr>
              <a:t>If reported confidence is below high, the loop does not just ask Claude to 'try again' — it generates a targeted, programmatic follow-up question based on what the first answer got wrong.</a:t>
            </a:r>
          </a:p>
          <a:p>
            <a:pPr>
              <a:spcAft>
                <a:spcPts val="700"/>
              </a:spcAft>
            </a:pPr>
            <a:r>
              <a:rPr sz="1250" b="1" i="0">
                <a:solidFill>
                  <a:srgbClr val="F0A500"/>
                </a:solidFill>
                <a:latin typeface="Calibri"/>
              </a:rPr>
              <a:t>•  </a:t>
            </a:r>
            <a:r>
              <a:rPr sz="1250" b="0" i="0">
                <a:solidFill>
                  <a:srgbClr val="FFFFFF"/>
                </a:solidFill>
                <a:latin typeface="Calibri"/>
              </a:rPr>
              <a:t>When an overflow symptom is present but the first hypothesis never mentioned the accumulator, the follow-up explicitly asks Claude to consider the accumulator width.</a:t>
            </a:r>
          </a:p>
          <a:p>
            <a:pPr>
              <a:spcAft>
                <a:spcPts val="700"/>
              </a:spcAft>
            </a:pPr>
            <a:r>
              <a:rPr sz="1250" b="1" i="0">
                <a:solidFill>
                  <a:srgbClr val="F0A500"/>
                </a:solidFill>
                <a:latin typeface="Calibri"/>
              </a:rPr>
              <a:t>•  </a:t>
            </a:r>
            <a:r>
              <a:rPr sz="1250" b="0" i="0">
                <a:solidFill>
                  <a:srgbClr val="FFFFFF"/>
                </a:solidFill>
                <a:latin typeface="Calibri"/>
              </a:rPr>
              <a:t>When a reset symptom is present but unaddressed, the follow-up asks Claude to consider reset polarity specifically; otherwise it asks for an alternative hypothesis entirely.</a:t>
            </a:r>
          </a:p>
          <a:p>
            <a:pPr>
              <a:spcAft>
                <a:spcPts val="700"/>
              </a:spcAft>
            </a:pPr>
            <a:r>
              <a:rPr sz="1250" b="1" i="0">
                <a:solidFill>
                  <a:srgbClr val="F0A500"/>
                </a:solidFill>
                <a:latin typeface="Calibri"/>
              </a:rPr>
              <a:t>•  </a:t>
            </a:r>
            <a:r>
              <a:rPr sz="1250" b="0" i="0">
                <a:solidFill>
                  <a:srgbClr val="FFFFFF"/>
                </a:solidFill>
                <a:latin typeface="Calibri"/>
              </a:rPr>
              <a:t>The loop continues refining its hypothesis across turns until confidence reaches high or a maximum of 3 turns is reached, whichever comes first.</a:t>
            </a:r>
          </a:p>
          <a:p>
            <a:pPr>
              <a:spcAft>
                <a:spcPts val="700"/>
              </a:spcAft>
            </a:pPr>
            <a:r>
              <a:rPr sz="1250" b="1" i="0">
                <a:solidFill>
                  <a:srgbClr val="F0A500"/>
                </a:solidFill>
                <a:latin typeface="Calibri"/>
              </a:rPr>
              <a:t>•  </a:t>
            </a:r>
            <a:r>
              <a:rPr sz="1250" b="0" i="0">
                <a:solidFill>
                  <a:srgbClr val="FFFFFF"/>
                </a:solidFill>
                <a:latin typeface="Calibri"/>
              </a:rPr>
              <a:t>The final result includes not just the best report but the full multi-turn conversation history and a converged flag, so a reviewer can see exactly how the conclusion was reached.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AI TRIAGE PIPELINE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Example Triage Report: overflow_fault</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27 / 40</a:t>
            </a:r>
          </a:p>
        </p:txBody>
      </p:sp>
      <p:sp>
        <p:nvSpPr>
          <p:cNvPr id="9" name="TextBox 8"/>
          <p:cNvSpPr txBox="1"/>
          <p:nvPr/>
        </p:nvSpPr>
        <p:spPr>
          <a:xfrm>
            <a:off x="640080" y="1280160"/>
            <a:ext cx="10911535" cy="384048"/>
          </a:xfrm>
          <a:prstGeom prst="rect">
            <a:avLst/>
          </a:prstGeom>
          <a:noFill/>
        </p:spPr>
        <p:txBody>
          <a:bodyPr wrap="square" lIns="0" rIns="0" tIns="0" bIns="0">
            <a:noAutofit/>
          </a:bodyPr>
          <a:lstStyle/>
          <a:p>
            <a:pPr>
              <a:lnSpc>
                <a:spcPct val="110000"/>
              </a:lnSpc>
            </a:pPr>
            <a:r>
              <a:rPr sz="1250" b="0" i="0">
                <a:solidFill>
                  <a:srgbClr val="C7C9D9"/>
                </a:solidFill>
                <a:latin typeface="Calibri"/>
              </a:rPr>
              <a:t>This is an actual triage report generated by the pipeline, not a mocked example — it shows the exact structured output an engineer receives for the overflow_fault cluster.</a:t>
            </a:r>
          </a:p>
        </p:txBody>
      </p:sp>
      <p:sp>
        <p:nvSpPr>
          <p:cNvPr id="10" name="Rectangle 9"/>
          <p:cNvSpPr/>
          <p:nvPr/>
        </p:nvSpPr>
        <p:spPr>
          <a:xfrm>
            <a:off x="640080" y="1700784"/>
            <a:ext cx="10911535" cy="4654296"/>
          </a:xfrm>
          <a:prstGeom prst="rect">
            <a:avLst/>
          </a:prstGeom>
          <a:solidFill>
            <a:srgbClr val="22223E"/>
          </a:solidFill>
          <a:ln w="15875">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700784"/>
            <a:ext cx="10911535" cy="59436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700784"/>
            <a:ext cx="7772400" cy="594360"/>
          </a:xfrm>
          <a:prstGeom prst="rect">
            <a:avLst/>
          </a:prstGeom>
          <a:noFill/>
        </p:spPr>
        <p:txBody>
          <a:bodyPr wrap="square" anchor="ctr" lIns="0" rIns="0" tIns="0" bIns="0">
            <a:noAutofit/>
          </a:bodyPr>
          <a:lstStyle/>
          <a:p>
            <a:r>
              <a:rPr sz="1800" b="0" i="0">
                <a:solidFill>
                  <a:srgbClr val="C7C9D9"/>
                </a:solidFill>
                <a:latin typeface="Calibri"/>
              </a:rPr>
              <a:t>Cluster: </a:t>
            </a:r>
            <a:r>
              <a:rPr sz="1800" b="1" i="0">
                <a:solidFill>
                  <a:srgbClr val="FFFFFF"/>
                </a:solidFill>
                <a:latin typeface="Consolas"/>
              </a:rPr>
              <a:t>overflow_fault (3 records)</a:t>
            </a:r>
          </a:p>
        </p:txBody>
      </p:sp>
      <p:sp>
        <p:nvSpPr>
          <p:cNvPr id="13" name="Rounded Rectangle 12"/>
          <p:cNvSpPr/>
          <p:nvPr/>
        </p:nvSpPr>
        <p:spPr>
          <a:xfrm>
            <a:off x="9722815" y="1810512"/>
            <a:ext cx="1645920" cy="384048"/>
          </a:xfrm>
          <a:prstGeom prst="round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1A1A2E"/>
                </a:solidFill>
                <a:latin typeface="Calibri"/>
              </a:rPr>
              <a:t>CONFIDENCE: HIGH</a:t>
            </a:r>
          </a:p>
        </p:txBody>
      </p:sp>
      <p:sp>
        <p:nvSpPr>
          <p:cNvPr id="14" name="TextBox 13"/>
          <p:cNvSpPr txBox="1"/>
          <p:nvPr/>
        </p:nvSpPr>
        <p:spPr>
          <a:xfrm>
            <a:off x="868680" y="2478024"/>
            <a:ext cx="10454335" cy="1554480"/>
          </a:xfrm>
          <a:prstGeom prst="rect">
            <a:avLst/>
          </a:prstGeom>
          <a:noFill/>
        </p:spPr>
        <p:txBody>
          <a:bodyPr wrap="square" lIns="0" rIns="0" tIns="0" bIns="0">
            <a:noAutofit/>
          </a:bodyPr>
          <a:lstStyle/>
          <a:p>
            <a:r>
              <a:rPr sz="1500" b="1" i="0">
                <a:solidFill>
                  <a:srgbClr val="F0A500"/>
                </a:solidFill>
                <a:latin typeface="Calibri"/>
              </a:rPr>
              <a:t>Likely cause: </a:t>
            </a:r>
            <a:r>
              <a:rPr sz="1500" b="0" i="0">
                <a:solidFill>
                  <a:srgbClr val="FFFFFF"/>
                </a:solidFill>
                <a:latin typeface="Calibri"/>
              </a:rPr>
              <a:t>Accumulator declared as 16-bit signed instead of required 32-bit width. Large partial sums wrap at ±32,767, producing the characteristic 65,536 error magnitude.</a:t>
            </a:r>
          </a:p>
        </p:txBody>
      </p:sp>
      <p:sp>
        <p:nvSpPr>
          <p:cNvPr id="15" name="TextBox 14"/>
          <p:cNvSpPr txBox="1"/>
          <p:nvPr/>
        </p:nvSpPr>
        <p:spPr>
          <a:xfrm>
            <a:off x="868680" y="4078224"/>
            <a:ext cx="10454335" cy="1828800"/>
          </a:xfrm>
          <a:prstGeom prst="rect">
            <a:avLst/>
          </a:prstGeom>
          <a:noFill/>
        </p:spPr>
        <p:txBody>
          <a:bodyPr wrap="square" lIns="0" rIns="0" tIns="0" bIns="0">
            <a:noAutofit/>
          </a:bodyPr>
          <a:lstStyle/>
          <a:p>
            <a:pPr>
              <a:spcAft>
                <a:spcPts val="600"/>
              </a:spcAft>
            </a:pPr>
            <a:r>
              <a:rPr sz="1500" b="1" i="0">
                <a:solidFill>
                  <a:srgbClr val="F0A500"/>
                </a:solidFill>
                <a:latin typeface="Calibri"/>
              </a:rPr>
              <a:t>Recommended debug steps</a:t>
            </a:r>
          </a:p>
          <a:p>
            <a:pPr>
              <a:spcAft>
                <a:spcPts val="600"/>
              </a:spcAft>
            </a:pPr>
            <a:r>
              <a:rPr sz="1400" b="1" i="0">
                <a:solidFill>
                  <a:srgbClr val="6F9CC4"/>
                </a:solidFill>
                <a:latin typeface="Calibri"/>
              </a:rPr>
              <a:t>  1.  </a:t>
            </a:r>
            <a:r>
              <a:rPr sz="1400" b="0" i="0">
                <a:solidFill>
                  <a:srgbClr val="FFFFFF"/>
                </a:solidFill>
                <a:latin typeface="Calibri"/>
              </a:rPr>
              <a:t>Check ACC_W parameter in mac_array.sv — should be 32 for INT8</a:t>
            </a:r>
          </a:p>
          <a:p>
            <a:pPr>
              <a:spcAft>
                <a:spcPts val="600"/>
              </a:spcAft>
            </a:pPr>
            <a:r>
              <a:rPr sz="1400" b="1" i="0">
                <a:solidFill>
                  <a:srgbClr val="6F9CC4"/>
                </a:solidFill>
                <a:latin typeface="Calibri"/>
              </a:rPr>
              <a:t>  2.  </a:t>
            </a:r>
            <a:r>
              <a:rPr sz="1400" b="0" i="0">
                <a:solidFill>
                  <a:srgbClr val="FFFFFF"/>
                </a:solidFill>
                <a:latin typeface="Calibri"/>
              </a:rPr>
              <a:t>Add directed test with all-127 inputs to force accumulator overflow</a:t>
            </a:r>
          </a:p>
          <a:p>
            <a:pPr>
              <a:spcAft>
                <a:spcPts val="600"/>
              </a:spcAft>
            </a:pPr>
            <a:r>
              <a:rPr sz="1400" b="1" i="0">
                <a:solidFill>
                  <a:srgbClr val="6F9CC4"/>
                </a:solidFill>
                <a:latin typeface="Calibri"/>
              </a:rPr>
              <a:t>  3.  </a:t>
            </a:r>
            <a:r>
              <a:rPr sz="1400" b="0" i="0">
                <a:solidFill>
                  <a:srgbClr val="FFFFFF"/>
                </a:solidFill>
                <a:latin typeface="Calibri"/>
              </a:rPr>
              <a:t>Probe accumulator MSB in waveform at end of COMPUTE state</a:t>
            </a:r>
          </a:p>
        </p:txBody>
      </p:sp>
      <p:sp>
        <p:nvSpPr>
          <p:cNvPr id="16" name="TextBox 15"/>
          <p:cNvSpPr txBox="1"/>
          <p:nvPr/>
        </p:nvSpPr>
        <p:spPr>
          <a:xfrm>
            <a:off x="868680" y="5852160"/>
            <a:ext cx="10454335" cy="365760"/>
          </a:xfrm>
          <a:prstGeom prst="rect">
            <a:avLst/>
          </a:prstGeom>
          <a:noFill/>
        </p:spPr>
        <p:txBody>
          <a:bodyPr wrap="square" lIns="0" rIns="0" tIns="0" bIns="0">
            <a:noAutofit/>
          </a:bodyPr>
          <a:lstStyle/>
          <a:p>
            <a:r>
              <a:rPr sz="1300" b="1" i="0">
                <a:solidFill>
                  <a:srgbClr val="F0A500"/>
                </a:solidFill>
                <a:latin typeface="Calibri"/>
              </a:rPr>
              <a:t>Affected configs: </a:t>
            </a:r>
            <a:r>
              <a:rPr sz="1300" b="0" i="0">
                <a:solidFill>
                  <a:srgbClr val="C7C9D9"/>
                </a:solidFill>
                <a:latin typeface="Consolas"/>
              </a:rPr>
              <a:t>mac_array/N=4/fault_acc_overflow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AI TRIAGE PIPELINE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Example Triage Report: latent_fault</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28 / 40</a:t>
            </a:r>
          </a:p>
        </p:txBody>
      </p:sp>
      <p:sp>
        <p:nvSpPr>
          <p:cNvPr id="9" name="TextBox 8"/>
          <p:cNvSpPr txBox="1"/>
          <p:nvPr/>
        </p:nvSpPr>
        <p:spPr>
          <a:xfrm>
            <a:off x="640080" y="1280160"/>
            <a:ext cx="10911535" cy="384048"/>
          </a:xfrm>
          <a:prstGeom prst="rect">
            <a:avLst/>
          </a:prstGeom>
          <a:noFill/>
        </p:spPr>
        <p:txBody>
          <a:bodyPr wrap="square" lIns="0" rIns="0" tIns="0" bIns="0">
            <a:noAutofit/>
          </a:bodyPr>
          <a:lstStyle/>
          <a:p>
            <a:pPr>
              <a:lnSpc>
                <a:spcPct val="110000"/>
              </a:lnSpc>
            </a:pPr>
            <a:r>
              <a:rPr sz="1250" b="0" i="0">
                <a:solidFill>
                  <a:srgbClr val="C7C9D9"/>
                </a:solidFill>
                <a:latin typeface="Calibri"/>
              </a:rPr>
              <a:t>This report shows the hardest case the system handles: a cluster of records that passed simulation, where the real 'bug' is that the test suite cannot see the fault.</a:t>
            </a:r>
          </a:p>
        </p:txBody>
      </p:sp>
      <p:sp>
        <p:nvSpPr>
          <p:cNvPr id="10" name="Rectangle 9"/>
          <p:cNvSpPr/>
          <p:nvPr/>
        </p:nvSpPr>
        <p:spPr>
          <a:xfrm>
            <a:off x="640080" y="1700784"/>
            <a:ext cx="10911535" cy="4654296"/>
          </a:xfrm>
          <a:prstGeom prst="rect">
            <a:avLst/>
          </a:prstGeom>
          <a:solidFill>
            <a:srgbClr val="22223E"/>
          </a:solidFill>
          <a:ln w="15875">
            <a:solidFill>
              <a:srgbClr val="4A79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700784"/>
            <a:ext cx="10911535" cy="59436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700784"/>
            <a:ext cx="7772400" cy="594360"/>
          </a:xfrm>
          <a:prstGeom prst="rect">
            <a:avLst/>
          </a:prstGeom>
          <a:noFill/>
        </p:spPr>
        <p:txBody>
          <a:bodyPr wrap="square" anchor="ctr" lIns="0" rIns="0" tIns="0" bIns="0">
            <a:noAutofit/>
          </a:bodyPr>
          <a:lstStyle/>
          <a:p>
            <a:r>
              <a:rPr sz="1800" b="0" i="0">
                <a:solidFill>
                  <a:srgbClr val="C7C9D9"/>
                </a:solidFill>
                <a:latin typeface="Calibri"/>
              </a:rPr>
              <a:t>Cluster: </a:t>
            </a:r>
            <a:r>
              <a:rPr sz="1800" b="1" i="0">
                <a:solidFill>
                  <a:srgbClr val="FFFFFF"/>
                </a:solidFill>
                <a:latin typeface="Consolas"/>
              </a:rPr>
              <a:t>latent_fault (33 records)</a:t>
            </a:r>
          </a:p>
        </p:txBody>
      </p:sp>
      <p:sp>
        <p:nvSpPr>
          <p:cNvPr id="13" name="Rounded Rectangle 12"/>
          <p:cNvSpPr/>
          <p:nvPr/>
        </p:nvSpPr>
        <p:spPr>
          <a:xfrm>
            <a:off x="9722815" y="1810512"/>
            <a:ext cx="1645920" cy="384048"/>
          </a:xfrm>
          <a:prstGeom prst="round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1A1A2E"/>
                </a:solidFill>
                <a:latin typeface="Calibri"/>
              </a:rPr>
              <a:t>CONFIDENCE: HIGH</a:t>
            </a:r>
          </a:p>
        </p:txBody>
      </p:sp>
      <p:sp>
        <p:nvSpPr>
          <p:cNvPr id="14" name="TextBox 13"/>
          <p:cNvSpPr txBox="1"/>
          <p:nvPr/>
        </p:nvSpPr>
        <p:spPr>
          <a:xfrm>
            <a:off x="868680" y="2478024"/>
            <a:ext cx="10454335" cy="1554480"/>
          </a:xfrm>
          <a:prstGeom prst="rect">
            <a:avLst/>
          </a:prstGeom>
          <a:noFill/>
        </p:spPr>
        <p:txBody>
          <a:bodyPr wrap="square" lIns="0" rIns="0" tIns="0" bIns="0">
            <a:noAutofit/>
          </a:bodyPr>
          <a:lstStyle/>
          <a:p>
            <a:r>
              <a:rPr sz="1500" b="1" i="0">
                <a:solidFill>
                  <a:srgbClr val="F0A500"/>
                </a:solidFill>
                <a:latin typeface="Calibri"/>
              </a:rPr>
              <a:t>Likely cause: </a:t>
            </a:r>
            <a:r>
              <a:rPr sz="1500" b="0" i="0">
                <a:solidFill>
                  <a:srgbClr val="FFFFFF"/>
                </a:solidFill>
                <a:latin typeface="Calibri"/>
              </a:rPr>
              <a:t>These are pass results from fault variants where the injected bug is mathematically undetectable with current test vectors. The accumulator narrowed to 20-24 bits cannot overflow with 8-bit inputs and N=4 accumulation steps (max sum = 64,516 &lt; 2^20).</a:t>
            </a:r>
          </a:p>
        </p:txBody>
      </p:sp>
      <p:sp>
        <p:nvSpPr>
          <p:cNvPr id="15" name="TextBox 14"/>
          <p:cNvSpPr txBox="1"/>
          <p:nvPr/>
        </p:nvSpPr>
        <p:spPr>
          <a:xfrm>
            <a:off x="868680" y="4078224"/>
            <a:ext cx="10454335" cy="1828800"/>
          </a:xfrm>
          <a:prstGeom prst="rect">
            <a:avLst/>
          </a:prstGeom>
          <a:noFill/>
        </p:spPr>
        <p:txBody>
          <a:bodyPr wrap="square" lIns="0" rIns="0" tIns="0" bIns="0">
            <a:noAutofit/>
          </a:bodyPr>
          <a:lstStyle/>
          <a:p>
            <a:pPr>
              <a:spcAft>
                <a:spcPts val="600"/>
              </a:spcAft>
            </a:pPr>
            <a:r>
              <a:rPr sz="1500" b="1" i="0">
                <a:solidFill>
                  <a:srgbClr val="F0A500"/>
                </a:solidFill>
                <a:latin typeface="Calibri"/>
              </a:rPr>
              <a:t>Recommended debug steps</a:t>
            </a:r>
          </a:p>
          <a:p>
            <a:pPr>
              <a:spcAft>
                <a:spcPts val="600"/>
              </a:spcAft>
            </a:pPr>
            <a:r>
              <a:rPr sz="1400" b="1" i="0">
                <a:solidFill>
                  <a:srgbClr val="6F9CC4"/>
                </a:solidFill>
                <a:latin typeface="Calibri"/>
              </a:rPr>
              <a:t>  1.  </a:t>
            </a:r>
            <a:r>
              <a:rPr sz="1400" b="0" i="0">
                <a:solidFill>
                  <a:srgbClr val="FFFFFF"/>
                </a:solidFill>
                <a:latin typeface="Calibri"/>
              </a:rPr>
              <a:t>Increase N or use larger input magnitudes to exercise the fault</a:t>
            </a:r>
          </a:p>
          <a:p>
            <a:pPr>
              <a:spcAft>
                <a:spcPts val="600"/>
              </a:spcAft>
            </a:pPr>
            <a:r>
              <a:rPr sz="1400" b="1" i="0">
                <a:solidFill>
                  <a:srgbClr val="6F9CC4"/>
                </a:solidFill>
                <a:latin typeface="Calibri"/>
              </a:rPr>
              <a:t>  2.  </a:t>
            </a:r>
            <a:r>
              <a:rPr sz="1400" b="0" i="0">
                <a:solidFill>
                  <a:srgbClr val="FFFFFF"/>
                </a:solidFill>
                <a:latin typeface="Calibri"/>
              </a:rPr>
              <a:t>Add directed tests targeting accumulator boundary values</a:t>
            </a:r>
          </a:p>
          <a:p>
            <a:pPr>
              <a:spcAft>
                <a:spcPts val="600"/>
              </a:spcAft>
            </a:pPr>
            <a:r>
              <a:rPr sz="1400" b="1" i="0">
                <a:solidFill>
                  <a:srgbClr val="6F9CC4"/>
                </a:solidFill>
                <a:latin typeface="Calibri"/>
              </a:rPr>
              <a:t>  3.  </a:t>
            </a:r>
            <a:r>
              <a:rPr sz="1400" b="0" i="0">
                <a:solidFill>
                  <a:srgbClr val="FFFFFF"/>
                </a:solidFill>
                <a:latin typeface="Calibri"/>
              </a:rPr>
              <a:t>Consider formal verification for latent coverage gaps</a:t>
            </a:r>
          </a:p>
        </p:txBody>
      </p:sp>
      <p:sp>
        <p:nvSpPr>
          <p:cNvPr id="16" name="TextBox 15"/>
          <p:cNvSpPr txBox="1"/>
          <p:nvPr/>
        </p:nvSpPr>
        <p:spPr>
          <a:xfrm>
            <a:off x="868680" y="5852160"/>
            <a:ext cx="10454335" cy="365760"/>
          </a:xfrm>
          <a:prstGeom prst="rect">
            <a:avLst/>
          </a:prstGeom>
          <a:noFill/>
        </p:spPr>
        <p:txBody>
          <a:bodyPr wrap="square" lIns="0" rIns="0" tIns="0" bIns="0">
            <a:noAutofit/>
          </a:bodyPr>
          <a:lstStyle/>
          <a:p>
            <a:r>
              <a:rPr sz="1300" b="1" i="0">
                <a:solidFill>
                  <a:srgbClr val="F0A500"/>
                </a:solidFill>
                <a:latin typeface="Calibri"/>
              </a:rPr>
              <a:t>Affected configs: </a:t>
            </a:r>
            <a:r>
              <a:rPr sz="1300" b="0" i="0">
                <a:solidFill>
                  <a:srgbClr val="C7C9D9"/>
                </a:solidFill>
                <a:latin typeface="Consolas"/>
              </a:rPr>
              <a:t>mac_array/N=4/fault_acc_w20, mac_array/N=4/fault_acc_w24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AI TRIAGE PIPELINE</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VCD Waveform Parser</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29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800"/>
              </a:spcAft>
            </a:pPr>
            <a:r>
              <a:rPr sz="1300" b="1" i="0">
                <a:solidFill>
                  <a:srgbClr val="F0A500"/>
                </a:solidFill>
                <a:latin typeface="Calibri"/>
              </a:rPr>
              <a:t>•  </a:t>
            </a:r>
            <a:r>
              <a:rPr sz="1300" b="0" i="0">
                <a:solidFill>
                  <a:srgbClr val="FFFFFF"/>
                </a:solidFill>
                <a:latin typeface="Calibri"/>
              </a:rPr>
              <a:t>Verilator writes a full signal-level waveform dump, dump.vcd, into each sim_build_* directory during simulation, and this file normally goes unused once a pass/fail verdict is recorded.</a:t>
            </a:r>
          </a:p>
          <a:p>
            <a:pPr>
              <a:spcAft>
                <a:spcPts val="800"/>
              </a:spcAft>
            </a:pPr>
            <a:r>
              <a:rPr sz="1300" b="1" i="0">
                <a:solidFill>
                  <a:srgbClr val="F0A500"/>
                </a:solidFill>
                <a:latin typeface="Calibri"/>
              </a:rPr>
              <a:t>•  </a:t>
            </a:r>
            <a:r>
              <a:rPr sz="1300" b="0" i="0">
                <a:solidFill>
                  <a:srgbClr val="FFFFFF"/>
                </a:solidFill>
                <a:latin typeface="Calibri"/>
              </a:rPr>
              <a:t>triage/vcd_parser.py extracts value from that waveform using only the Python standard library, with no external VCD-parsing dependency to install or maintain.</a:t>
            </a:r>
          </a:p>
          <a:p>
            <a:pPr>
              <a:spcAft>
                <a:spcPts val="800"/>
              </a:spcAft>
            </a:pPr>
            <a:r>
              <a:rPr sz="1300" b="1" i="0">
                <a:solidFill>
                  <a:srgbClr val="F0A500"/>
                </a:solidFill>
                <a:latin typeface="Calibri"/>
              </a:rPr>
              <a:t>•  </a:t>
            </a:r>
            <a:r>
              <a:rPr sz="1300" b="0" i="0">
                <a:solidFill>
                  <a:srgbClr val="FFFFFF"/>
                </a:solidFill>
                <a:latin typeface="Calibri"/>
              </a:rPr>
              <a:t>It extracts three fields — first_divergence_cycle, total_cycles, and diverging_signals — adding a temporal dimension to the otherwise purely numeric feature vector.</a:t>
            </a:r>
          </a:p>
          <a:p>
            <a:pPr>
              <a:spcAft>
                <a:spcPts val="800"/>
              </a:spcAft>
            </a:pPr>
            <a:r>
              <a:rPr sz="1300" b="1" i="0">
                <a:solidFill>
                  <a:srgbClr val="F0A500"/>
                </a:solidFill>
                <a:latin typeface="Calibri"/>
              </a:rPr>
              <a:t>•  </a:t>
            </a:r>
            <a:r>
              <a:rPr sz="1300" b="0" i="0">
                <a:solidFill>
                  <a:srgbClr val="FFFFFF"/>
                </a:solidFill>
                <a:latin typeface="Calibri"/>
              </a:rPr>
              <a:t>first_divergence_cycle records the clock cycle on which the out_valid signal first rises, acting as a proxy for when the DUT first produced meaningful output.</a:t>
            </a:r>
          </a:p>
          <a:p>
            <a:pPr>
              <a:spcAft>
                <a:spcPts val="800"/>
              </a:spcAft>
            </a:pPr>
            <a:r>
              <a:rPr sz="1300" b="1" i="0">
                <a:solidFill>
                  <a:srgbClr val="F0A500"/>
                </a:solidFill>
                <a:latin typeface="Calibri"/>
              </a:rPr>
              <a:t>•  </a:t>
            </a:r>
            <a:r>
              <a:rPr sz="1300" b="0" i="0">
                <a:solidFill>
                  <a:srgbClr val="FFFFFF"/>
                </a:solidFill>
                <a:latin typeface="Calibri"/>
              </a:rPr>
              <a:t>Reset faults tend to diverge almost immediately, within cycles 0 through 2, while accumulator and quantization faults typically diverge much later in COMPUTE or QUANTIZE.</a:t>
            </a:r>
          </a:p>
          <a:p>
            <a:pPr>
              <a:spcAft>
                <a:spcPts val="800"/>
              </a:spcAft>
            </a:pPr>
            <a:r>
              <a:rPr sz="1300" b="1" i="0">
                <a:solidFill>
                  <a:srgbClr val="F0A500"/>
                </a:solidFill>
                <a:latin typeface="Calibri"/>
              </a:rPr>
              <a:t>•  </a:t>
            </a:r>
            <a:r>
              <a:rPr sz="1300" b="0" i="0">
                <a:solidFill>
                  <a:srgbClr val="FFFFFF"/>
                </a:solidFill>
                <a:latin typeface="Calibri"/>
              </a:rPr>
              <a:t>Adding this timing context to the feature vector gives the clusterer another axis to separate fault types that look similar in error magnitude alone.</a:t>
            </a:r>
          </a:p>
          <a:p>
            <a:pPr>
              <a:spcAft>
                <a:spcPts val="800"/>
              </a:spcAft>
            </a:pPr>
            <a:r>
              <a:rPr sz="1300" b="1" i="0">
                <a:solidFill>
                  <a:srgbClr val="F0A500"/>
                </a:solidFill>
                <a:latin typeface="Calibri"/>
              </a:rPr>
              <a:t>•  </a:t>
            </a:r>
            <a:r>
              <a:rPr sz="1300" b="0" i="0">
                <a:solidFill>
                  <a:srgbClr val="FFFFFF"/>
                </a:solidFill>
                <a:latin typeface="Calibri"/>
              </a:rPr>
              <a:t>If the VCD file is missing or empty, the parser fails gracefully and returns an all-None result rather than raising an exception that would crash the pipeline.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BENCHMARK &amp; EVALUATION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Evaluation Methodology</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30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1000"/>
              </a:spcAft>
            </a:pPr>
            <a:r>
              <a:rPr sz="1400" b="1" i="0">
                <a:solidFill>
                  <a:srgbClr val="F0A500"/>
                </a:solidFill>
                <a:latin typeface="Calibri"/>
              </a:rPr>
              <a:t>•  </a:t>
            </a:r>
            <a:r>
              <a:rPr sz="1400" b="0" i="0">
                <a:solidFill>
                  <a:srgbClr val="FFFFFF"/>
                </a:solidFill>
                <a:latin typeface="Calibri"/>
              </a:rPr>
              <a:t>To measure triage quality objectively, we built benchmark/ground_truth.json, which maps every RTL variant to one canonical, human-verified label.</a:t>
            </a:r>
          </a:p>
          <a:p>
            <a:pPr>
              <a:spcAft>
                <a:spcPts val="1000"/>
              </a:spcAft>
            </a:pPr>
            <a:r>
              <a:rPr sz="1400" b="1" i="0">
                <a:solidFill>
                  <a:srgbClr val="F0A500"/>
                </a:solidFill>
                <a:latin typeface="Calibri"/>
              </a:rPr>
              <a:t>•  </a:t>
            </a:r>
            <a:r>
              <a:rPr sz="1400" b="0" i="0">
                <a:solidFill>
                  <a:srgbClr val="FFFFFF"/>
                </a:solidFill>
                <a:latin typeface="Calibri"/>
              </a:rPr>
              <a:t>The ground truth defines nine labels — no_fault, accumulator_overflow, sign_extension_error, loop_boundary_error, arithmetic_error, reset_polarity_error, shift_error, saturation_error, and zero_point_error.</a:t>
            </a:r>
          </a:p>
          <a:p>
            <a:pPr>
              <a:spcAft>
                <a:spcPts val="1000"/>
              </a:spcAft>
            </a:pPr>
            <a:r>
              <a:rPr sz="1400" b="1" i="0">
                <a:solidFill>
                  <a:srgbClr val="F0A500"/>
                </a:solidFill>
                <a:latin typeface="Calibri"/>
              </a:rPr>
              <a:t>•  </a:t>
            </a:r>
            <a:r>
              <a:rPr sz="1400" b="0" i="0">
                <a:solidFill>
                  <a:srgbClr val="FFFFFF"/>
                </a:solidFill>
                <a:latin typeface="Calibri"/>
              </a:rPr>
              <a:t>For each label we compute precision, recall, and F1 score, alongside one overall accuracy number across all </a:t>
            </a:r>
            <a:r>
              <a:rPr sz="1400" b="1" i="0">
                <a:solidFill>
                  <a:srgbClr val="F0A500"/>
                </a:solidFill>
                <a:latin typeface="Calibri"/>
              </a:rPr>
              <a:t>255 records</a:t>
            </a:r>
            <a:r>
              <a:rPr sz="1400" b="0" i="0">
                <a:solidFill>
                  <a:srgbClr val="FFFFFF"/>
                </a:solidFill>
                <a:latin typeface="Calibri"/>
              </a:rPr>
              <a:t>.</a:t>
            </a:r>
          </a:p>
          <a:p>
            <a:pPr>
              <a:spcAft>
                <a:spcPts val="1000"/>
              </a:spcAft>
            </a:pPr>
            <a:r>
              <a:rPr sz="1400" b="1" i="0">
                <a:solidFill>
                  <a:srgbClr val="F0A500"/>
                </a:solidFill>
                <a:latin typeface="Calibri"/>
              </a:rPr>
              <a:t>•  </a:t>
            </a:r>
            <a:r>
              <a:rPr sz="1400" b="0" i="0">
                <a:solidFill>
                  <a:srgbClr val="FFFFFF"/>
                </a:solidFill>
                <a:latin typeface="Calibri"/>
              </a:rPr>
              <a:t>The evaluator is implemented from scratch using a confusion matrix, with no dependency on scikit-learn's metrics module, so the scoring logic is fully auditable.</a:t>
            </a:r>
          </a:p>
          <a:p>
            <a:pPr>
              <a:spcAft>
                <a:spcPts val="1000"/>
              </a:spcAft>
            </a:pPr>
            <a:r>
              <a:rPr sz="1400" b="1" i="0">
                <a:solidFill>
                  <a:srgbClr val="F0A500"/>
                </a:solidFill>
                <a:latin typeface="Calibri"/>
              </a:rPr>
              <a:t>•  </a:t>
            </a:r>
            <a:r>
              <a:rPr sz="1400" b="0" i="0">
                <a:solidFill>
                  <a:srgbClr val="FFFFFF"/>
                </a:solidFill>
                <a:latin typeface="Calibri"/>
              </a:rPr>
              <a:t>The manual triage baseline is set at 45 minutes per failure cluster, a conservative industry estimate for an experienced verification engineer reading logs and forming a hypothesis by hand.</a:t>
            </a:r>
          </a:p>
          <a:p>
            <a:pPr>
              <a:spcAft>
                <a:spcPts val="1000"/>
              </a:spcAft>
            </a:pPr>
            <a:r>
              <a:rPr sz="1400" b="1" i="0">
                <a:solidFill>
                  <a:srgbClr val="F0A500"/>
                </a:solidFill>
                <a:latin typeface="Calibri"/>
              </a:rPr>
              <a:t>•  </a:t>
            </a:r>
            <a:r>
              <a:rPr sz="1400" b="0" i="0">
                <a:solidFill>
                  <a:srgbClr val="FFFFFF"/>
                </a:solidFill>
                <a:latin typeface="Calibri"/>
              </a:rPr>
              <a:t>Speedup is computed simply as the manual baseline time in seconds divided by the AI pipeline's total measured time, giving a single honest multiplier.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BENCHMARK &amp; EVALUATION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Main Results (Expanded Benchmark)</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31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This table is the headline result of the project: the same 255-record benchmark scored twice, once with Claude generating explanations and once using only the rule-based clusterer. Both approaches land on identical </a:t>
            </a:r>
            <a:r>
              <a:rPr sz="1400" b="1" i="0">
                <a:solidFill>
                  <a:srgbClr val="F0A500"/>
                </a:solidFill>
                <a:latin typeface="Calibri"/>
              </a:rPr>
              <a:t>96.5%</a:t>
            </a:r>
            <a:r>
              <a:rPr sz="1400" b="0" i="0">
                <a:solidFill>
                  <a:srgbClr val="C7C9D9"/>
                </a:solidFill>
                <a:latin typeface="Calibri"/>
              </a:rPr>
              <a:t> accuracy, but they differ enormously in confidence, latency, and the value they add beyond a bare label.</a:t>
            </a:r>
          </a:p>
        </p:txBody>
      </p:sp>
      <p:graphicFrame>
        <p:nvGraphicFramePr>
          <p:cNvPr id="10" name="Table 9"/>
          <p:cNvGraphicFramePr>
            <a:graphicFrameLocks noGrp="1"/>
          </p:cNvGraphicFramePr>
          <p:nvPr/>
        </p:nvGraphicFramePr>
        <p:xfrm>
          <a:off x="640080" y="2377440"/>
          <a:ext cx="10789920" cy="3246120"/>
        </p:xfrm>
        <a:graphic>
          <a:graphicData uri="http://schemas.openxmlformats.org/drawingml/2006/table">
            <a:tbl>
              <a:tblPr firstRow="1" bandRow="1">
                <a:tableStyleId>{5C22544A-7EE6-4342-B048-85BDC9FD1C3A}</a:tableStyleId>
              </a:tblPr>
              <a:tblGrid>
                <a:gridCol w="4114800"/>
                <a:gridCol w="3840480"/>
                <a:gridCol w="2834640"/>
              </a:tblGrid>
              <a:tr h="360680">
                <a:tc>
                  <a:txBody>
                    <a:bodyPr wrap="square"/>
                    <a:lstStyle/>
                    <a:p>
                      <a:pPr algn="l"/>
                      <a:r>
                        <a:rPr sz="1600" b="1" i="0">
                          <a:solidFill>
                            <a:srgbClr val="F0A500"/>
                          </a:solidFill>
                          <a:latin typeface="Calibri"/>
                        </a:rPr>
                        <a:t>Metric</a:t>
                      </a:r>
                    </a:p>
                  </a:txBody>
                  <a:tcPr marL="76200" marR="76200" marT="38100" marB="38100" anchor="ctr">
                    <a:solidFill>
                      <a:srgbClr val="282B4A"/>
                    </a:solidFill>
                  </a:tcPr>
                </a:tc>
                <a:tc>
                  <a:txBody>
                    <a:bodyPr wrap="square"/>
                    <a:lstStyle/>
                    <a:p>
                      <a:pPr algn="l"/>
                      <a:r>
                        <a:rPr sz="1600" b="1" i="0">
                          <a:solidFill>
                            <a:srgbClr val="F0A500"/>
                          </a:solidFill>
                          <a:latin typeface="Calibri"/>
                        </a:rPr>
                        <a:t>LLM-Augmented</a:t>
                      </a:r>
                    </a:p>
                  </a:txBody>
                  <a:tcPr marL="76200" marR="76200" marT="38100" marB="38100" anchor="ctr">
                    <a:solidFill>
                      <a:srgbClr val="282B4A"/>
                    </a:solidFill>
                  </a:tcPr>
                </a:tc>
                <a:tc>
                  <a:txBody>
                    <a:bodyPr wrap="square"/>
                    <a:lstStyle/>
                    <a:p>
                      <a:pPr algn="l"/>
                      <a:r>
                        <a:rPr sz="1600" b="1" i="0">
                          <a:solidFill>
                            <a:srgbClr val="F0A500"/>
                          </a:solidFill>
                          <a:latin typeface="Calibri"/>
                        </a:rPr>
                        <a:t>Rule-Based Only</a:t>
                      </a:r>
                    </a:p>
                  </a:txBody>
                  <a:tcPr marL="76200" marR="76200" marT="38100" marB="38100" anchor="ctr">
                    <a:solidFill>
                      <a:srgbClr val="282B4A"/>
                    </a:solidFill>
                  </a:tcPr>
                </a:tc>
              </a:tr>
              <a:tr h="360680">
                <a:tc>
                  <a:txBody>
                    <a:bodyPr wrap="square"/>
                    <a:lstStyle/>
                    <a:p>
                      <a:pPr algn="l"/>
                      <a:r>
                        <a:rPr sz="1500" b="0" i="0">
                          <a:solidFill>
                            <a:srgbClr val="FFFFFF"/>
                          </a:solidFill>
                          <a:latin typeface="Calibri"/>
                        </a:rPr>
                        <a:t>Overall accuracy</a:t>
                      </a:r>
                    </a:p>
                  </a:txBody>
                  <a:tcPr marL="76200" marR="76200" marT="25400" marB="25400" anchor="ctr">
                    <a:solidFill>
                      <a:srgbClr val="22223E"/>
                    </a:solidFill>
                  </a:tcPr>
                </a:tc>
                <a:tc>
                  <a:txBody>
                    <a:bodyPr wrap="square"/>
                    <a:lstStyle/>
                    <a:p>
                      <a:pPr algn="l"/>
                      <a:r>
                        <a:rPr sz="1500" b="0" i="0">
                          <a:solidFill>
                            <a:srgbClr val="FFFFFF"/>
                          </a:solidFill>
                          <a:latin typeface="Calibri"/>
                        </a:rPr>
                        <a:t>96.5% (246/255)</a:t>
                      </a:r>
                    </a:p>
                  </a:txBody>
                  <a:tcPr marL="76200" marR="76200" marT="25400" marB="25400" anchor="ctr">
                    <a:solidFill>
                      <a:srgbClr val="22223E"/>
                    </a:solidFill>
                  </a:tcPr>
                </a:tc>
                <a:tc>
                  <a:txBody>
                    <a:bodyPr wrap="square"/>
                    <a:lstStyle/>
                    <a:p>
                      <a:pPr algn="l"/>
                      <a:r>
                        <a:rPr sz="1500" b="0" i="0">
                          <a:solidFill>
                            <a:srgbClr val="FFFFFF"/>
                          </a:solidFill>
                          <a:latin typeface="Calibri"/>
                        </a:rPr>
                        <a:t>96.5% (246/255)</a:t>
                      </a:r>
                    </a:p>
                  </a:txBody>
                  <a:tcPr marL="76200" marR="76200" marT="25400" marB="25400" anchor="ctr">
                    <a:solidFill>
                      <a:srgbClr val="22223E"/>
                    </a:solidFill>
                  </a:tcPr>
                </a:tc>
              </a:tr>
              <a:tr h="360680">
                <a:tc>
                  <a:txBody>
                    <a:bodyPr wrap="square"/>
                    <a:lstStyle/>
                    <a:p>
                      <a:pPr algn="l"/>
                      <a:r>
                        <a:rPr sz="1500" b="0" i="0">
                          <a:solidFill>
                            <a:srgbClr val="FFFFFF"/>
                          </a:solidFill>
                          <a:latin typeface="Calibri"/>
                        </a:rPr>
                        <a:t>Mean confidence</a:t>
                      </a:r>
                    </a:p>
                  </a:txBody>
                  <a:tcPr marL="76200" marR="76200" marT="25400" marB="25400" anchor="ctr">
                    <a:solidFill>
                      <a:srgbClr val="1A1A2E"/>
                    </a:solidFill>
                  </a:tcPr>
                </a:tc>
                <a:tc>
                  <a:txBody>
                    <a:bodyPr wrap="square"/>
                    <a:lstStyle/>
                    <a:p>
                      <a:pPr algn="l"/>
                      <a:r>
                        <a:rPr sz="1500" b="0" i="0">
                          <a:solidFill>
                            <a:srgbClr val="FFFFFF"/>
                          </a:solidFill>
                          <a:latin typeface="Calibri"/>
                        </a:rPr>
                        <a:t>0.600</a:t>
                      </a:r>
                    </a:p>
                  </a:txBody>
                  <a:tcPr marL="76200" marR="76200" marT="25400" marB="25400" anchor="ctr">
                    <a:solidFill>
                      <a:srgbClr val="1A1A2E"/>
                    </a:solidFill>
                  </a:tcPr>
                </a:tc>
                <a:tc>
                  <a:txBody>
                    <a:bodyPr wrap="square"/>
                    <a:lstStyle/>
                    <a:p>
                      <a:pPr algn="l"/>
                      <a:r>
                        <a:rPr sz="1500" b="0" i="0">
                          <a:solidFill>
                            <a:srgbClr val="FFFFFF"/>
                          </a:solidFill>
                          <a:latin typeface="Calibri"/>
                        </a:rPr>
                        <a:t>0.000</a:t>
                      </a:r>
                    </a:p>
                  </a:txBody>
                  <a:tcPr marL="76200" marR="76200" marT="25400" marB="25400" anchor="ctr">
                    <a:solidFill>
                      <a:srgbClr val="1A1A2E"/>
                    </a:solidFill>
                  </a:tcPr>
                </a:tc>
              </a:tr>
              <a:tr h="360680">
                <a:tc>
                  <a:txBody>
                    <a:bodyPr wrap="square"/>
                    <a:lstStyle/>
                    <a:p>
                      <a:pPr algn="l"/>
                      <a:r>
                        <a:rPr sz="1500" b="0" i="0">
                          <a:solidFill>
                            <a:srgbClr val="FFFFFF"/>
                          </a:solidFill>
                          <a:latin typeface="Calibri"/>
                        </a:rPr>
                        <a:t>AI pipeline time</a:t>
                      </a:r>
                    </a:p>
                  </a:txBody>
                  <a:tcPr marL="76200" marR="76200" marT="25400" marB="25400" anchor="ctr">
                    <a:solidFill>
                      <a:srgbClr val="22223E"/>
                    </a:solidFill>
                  </a:tcPr>
                </a:tc>
                <a:tc>
                  <a:txBody>
                    <a:bodyPr wrap="square"/>
                    <a:lstStyle/>
                    <a:p>
                      <a:pPr algn="l"/>
                      <a:r>
                        <a:rPr sz="1500" b="0" i="0">
                          <a:solidFill>
                            <a:srgbClr val="FFFFFF"/>
                          </a:solidFill>
                          <a:latin typeface="Calibri"/>
                        </a:rPr>
                        <a:t>46 s</a:t>
                      </a:r>
                    </a:p>
                  </a:txBody>
                  <a:tcPr marL="76200" marR="76200" marT="25400" marB="25400" anchor="ctr">
                    <a:solidFill>
                      <a:srgbClr val="22223E"/>
                    </a:solidFill>
                  </a:tcPr>
                </a:tc>
                <a:tc>
                  <a:txBody>
                    <a:bodyPr wrap="square"/>
                    <a:lstStyle/>
                    <a:p>
                      <a:pPr algn="l"/>
                      <a:r>
                        <a:rPr sz="1500" b="0" i="0">
                          <a:solidFill>
                            <a:srgbClr val="FFFFFF"/>
                          </a:solidFill>
                          <a:latin typeface="Calibri"/>
                        </a:rPr>
                        <a:t>0.1 s</a:t>
                      </a:r>
                    </a:p>
                  </a:txBody>
                  <a:tcPr marL="76200" marR="76200" marT="25400" marB="25400" anchor="ctr">
                    <a:solidFill>
                      <a:srgbClr val="22223E"/>
                    </a:solidFill>
                  </a:tcPr>
                </a:tc>
              </a:tr>
              <a:tr h="360680">
                <a:tc>
                  <a:txBody>
                    <a:bodyPr wrap="square"/>
                    <a:lstStyle/>
                    <a:p>
                      <a:pPr algn="l"/>
                      <a:r>
                        <a:rPr sz="1500" b="0" i="0">
                          <a:solidFill>
                            <a:srgbClr val="FFFFFF"/>
                          </a:solidFill>
                          <a:latin typeface="Calibri"/>
                        </a:rPr>
                        <a:t>Manual baseline</a:t>
                      </a:r>
                    </a:p>
                  </a:txBody>
                  <a:tcPr marL="76200" marR="76200" marT="25400" marB="25400" anchor="ctr">
                    <a:solidFill>
                      <a:srgbClr val="1A1A2E"/>
                    </a:solidFill>
                  </a:tcPr>
                </a:tc>
                <a:tc>
                  <a:txBody>
                    <a:bodyPr wrap="square"/>
                    <a:lstStyle/>
                    <a:p>
                      <a:pPr algn="l"/>
                      <a:r>
                        <a:rPr sz="1500" b="0" i="0">
                          <a:solidFill>
                            <a:srgbClr val="FFFFFF"/>
                          </a:solidFill>
                          <a:latin typeface="Calibri"/>
                        </a:rPr>
                        <a:t>225 min</a:t>
                      </a:r>
                    </a:p>
                  </a:txBody>
                  <a:tcPr marL="76200" marR="76200" marT="25400" marB="25400" anchor="ctr">
                    <a:solidFill>
                      <a:srgbClr val="1A1A2E"/>
                    </a:solidFill>
                  </a:tcPr>
                </a:tc>
                <a:tc>
                  <a:txBody>
                    <a:bodyPr wrap="square"/>
                    <a:lstStyle/>
                    <a:p>
                      <a:pPr algn="l"/>
                      <a:r>
                        <a:rPr sz="1500" b="0" i="0">
                          <a:solidFill>
                            <a:srgbClr val="FFFFFF"/>
                          </a:solidFill>
                          <a:latin typeface="Calibri"/>
                        </a:rPr>
                        <a:t>225 min</a:t>
                      </a:r>
                    </a:p>
                  </a:txBody>
                  <a:tcPr marL="76200" marR="76200" marT="25400" marB="25400" anchor="ctr">
                    <a:solidFill>
                      <a:srgbClr val="1A1A2E"/>
                    </a:solidFill>
                  </a:tcPr>
                </a:tc>
              </a:tr>
              <a:tr h="360680">
                <a:tc>
                  <a:txBody>
                    <a:bodyPr wrap="square"/>
                    <a:lstStyle/>
                    <a:p>
                      <a:pPr algn="l"/>
                      <a:r>
                        <a:rPr sz="1500" b="0" i="0">
                          <a:solidFill>
                            <a:srgbClr val="FFFFFF"/>
                          </a:solidFill>
                          <a:latin typeface="Calibri"/>
                        </a:rPr>
                        <a:t>Speedup vs manual</a:t>
                      </a:r>
                    </a:p>
                  </a:txBody>
                  <a:tcPr marL="76200" marR="76200" marT="25400" marB="25400" anchor="ctr">
                    <a:solidFill>
                      <a:srgbClr val="22223E"/>
                    </a:solidFill>
                  </a:tcPr>
                </a:tc>
                <a:tc>
                  <a:txBody>
                    <a:bodyPr wrap="square"/>
                    <a:lstStyle/>
                    <a:p>
                      <a:pPr algn="l"/>
                      <a:r>
                        <a:rPr sz="1500" b="1" i="0">
                          <a:solidFill>
                            <a:srgbClr val="F0A500"/>
                          </a:solidFill>
                          <a:latin typeface="Calibri"/>
                        </a:rPr>
                        <a:t>293x</a:t>
                      </a:r>
                    </a:p>
                  </a:txBody>
                  <a:tcPr marL="76200" marR="76200" marT="25400" marB="25400" anchor="ctr">
                    <a:solidFill>
                      <a:srgbClr val="22223E"/>
                    </a:solidFill>
                  </a:tcPr>
                </a:tc>
                <a:tc>
                  <a:txBody>
                    <a:bodyPr wrap="square"/>
                    <a:lstStyle/>
                    <a:p>
                      <a:pPr algn="l"/>
                      <a:r>
                        <a:rPr sz="1500" b="1" i="0">
                          <a:solidFill>
                            <a:srgbClr val="F0A500"/>
                          </a:solidFill>
                          <a:latin typeface="Calibri"/>
                        </a:rPr>
                        <a:t>63,000x</a:t>
                      </a:r>
                    </a:p>
                  </a:txBody>
                  <a:tcPr marL="76200" marR="76200" marT="25400" marB="25400" anchor="ctr">
                    <a:solidFill>
                      <a:srgbClr val="22223E"/>
                    </a:solidFill>
                  </a:tcPr>
                </a:tc>
              </a:tr>
              <a:tr h="360680">
                <a:tc>
                  <a:txBody>
                    <a:bodyPr wrap="square"/>
                    <a:lstStyle/>
                    <a:p>
                      <a:pPr algn="l"/>
                      <a:r>
                        <a:rPr sz="1500" b="0" i="0">
                          <a:solidFill>
                            <a:srgbClr val="FFFFFF"/>
                          </a:solidFill>
                          <a:latin typeface="Calibri"/>
                        </a:rPr>
                        <a:t>Latent faults detected</a:t>
                      </a:r>
                    </a:p>
                  </a:txBody>
                  <a:tcPr marL="76200" marR="76200" marT="25400" marB="25400" anchor="ctr">
                    <a:solidFill>
                      <a:srgbClr val="1A1A2E"/>
                    </a:solidFill>
                  </a:tcPr>
                </a:tc>
                <a:tc>
                  <a:txBody>
                    <a:bodyPr wrap="square"/>
                    <a:lstStyle/>
                    <a:p>
                      <a:pPr algn="l"/>
                      <a:r>
                        <a:rPr sz="1500" b="0" i="0">
                          <a:solidFill>
                            <a:srgbClr val="FFFFFF"/>
                          </a:solidFill>
                          <a:latin typeface="Calibri"/>
                        </a:rPr>
                        <a:t>33/255</a:t>
                      </a:r>
                    </a:p>
                  </a:txBody>
                  <a:tcPr marL="76200" marR="76200" marT="25400" marB="25400" anchor="ctr">
                    <a:solidFill>
                      <a:srgbClr val="1A1A2E"/>
                    </a:solidFill>
                  </a:tcPr>
                </a:tc>
                <a:tc>
                  <a:txBody>
                    <a:bodyPr wrap="square"/>
                    <a:lstStyle/>
                    <a:p>
                      <a:pPr algn="l"/>
                      <a:r>
                        <a:rPr sz="1500" b="0" i="0">
                          <a:solidFill>
                            <a:srgbClr val="FFFFFF"/>
                          </a:solidFill>
                          <a:latin typeface="Calibri"/>
                        </a:rPr>
                        <a:t>33/255</a:t>
                      </a:r>
                    </a:p>
                  </a:txBody>
                  <a:tcPr marL="76200" marR="76200" marT="25400" marB="25400" anchor="ctr">
                    <a:solidFill>
                      <a:srgbClr val="1A1A2E"/>
                    </a:solidFill>
                  </a:tcPr>
                </a:tc>
              </a:tr>
              <a:tr h="360680">
                <a:tc>
                  <a:txBody>
                    <a:bodyPr wrap="square"/>
                    <a:lstStyle/>
                    <a:p>
                      <a:pPr algn="l"/>
                      <a:r>
                        <a:rPr sz="1500" b="0" i="0">
                          <a:solidFill>
                            <a:srgbClr val="FFFFFF"/>
                          </a:solidFill>
                          <a:latin typeface="Calibri"/>
                        </a:rPr>
                        <a:t>Failure clusters</a:t>
                      </a:r>
                    </a:p>
                  </a:txBody>
                  <a:tcPr marL="76200" marR="76200" marT="25400" marB="25400" anchor="ctr">
                    <a:solidFill>
                      <a:srgbClr val="22223E"/>
                    </a:solidFill>
                  </a:tcPr>
                </a:tc>
                <a:tc>
                  <a:txBody>
                    <a:bodyPr wrap="square"/>
                    <a:lstStyle/>
                    <a:p>
                      <a:pPr algn="l"/>
                      <a:r>
                        <a:rPr sz="1500" b="0" i="0">
                          <a:solidFill>
                            <a:srgbClr val="FFFFFF"/>
                          </a:solidFill>
                          <a:latin typeface="Calibri"/>
                        </a:rPr>
                        <a:t>9</a:t>
                      </a:r>
                    </a:p>
                  </a:txBody>
                  <a:tcPr marL="76200" marR="76200" marT="25400" marB="25400" anchor="ctr">
                    <a:solidFill>
                      <a:srgbClr val="22223E"/>
                    </a:solidFill>
                  </a:tcPr>
                </a:tc>
                <a:tc>
                  <a:txBody>
                    <a:bodyPr wrap="square"/>
                    <a:lstStyle/>
                    <a:p>
                      <a:pPr algn="l"/>
                      <a:r>
                        <a:rPr sz="1500" b="0" i="0">
                          <a:solidFill>
                            <a:srgbClr val="FFFFFF"/>
                          </a:solidFill>
                          <a:latin typeface="Calibri"/>
                        </a:rPr>
                        <a:t>9</a:t>
                      </a:r>
                    </a:p>
                  </a:txBody>
                  <a:tcPr marL="76200" marR="76200" marT="25400" marB="25400" anchor="ctr">
                    <a:solidFill>
                      <a:srgbClr val="22223E"/>
                    </a:solidFill>
                  </a:tcPr>
                </a:tc>
              </a:tr>
              <a:tr h="360680">
                <a:tc>
                  <a:txBody>
                    <a:bodyPr wrap="square"/>
                    <a:lstStyle/>
                    <a:p>
                      <a:pPr algn="l"/>
                      <a:r>
                        <a:rPr sz="1500" b="1" i="0">
                          <a:solidFill>
                            <a:srgbClr val="F0A500"/>
                          </a:solidFill>
                          <a:latin typeface="Calibri"/>
                        </a:rPr>
                        <a:t>Test suite</a:t>
                      </a:r>
                    </a:p>
                  </a:txBody>
                  <a:tcPr marL="76200" marR="76200" marT="25400" marB="25400" anchor="ctr">
                    <a:solidFill>
                      <a:srgbClr val="1A1A2E"/>
                    </a:solidFill>
                  </a:tcPr>
                </a:tc>
                <a:tc>
                  <a:txBody>
                    <a:bodyPr wrap="square"/>
                    <a:lstStyle/>
                    <a:p>
                      <a:pPr algn="l"/>
                      <a:r>
                        <a:rPr sz="1500" b="1" i="0">
                          <a:solidFill>
                            <a:srgbClr val="F0A500"/>
                          </a:solidFill>
                          <a:latin typeface="Calibri"/>
                        </a:rPr>
                        <a:t>131 tests, 0 failures</a:t>
                      </a:r>
                    </a:p>
                  </a:txBody>
                  <a:tcPr marL="76200" marR="76200" marT="25400" marB="25400" anchor="ctr">
                    <a:solidFill>
                      <a:srgbClr val="1A1A2E"/>
                    </a:solidFill>
                  </a:tcPr>
                </a:tc>
                <a:tc>
                  <a:txBody>
                    <a:bodyPr wrap="square"/>
                    <a:lstStyle/>
                    <a:p>
                      <a:pPr algn="l"/>
                      <a:r>
                        <a:rPr sz="1500" b="1" i="0">
                          <a:solidFill>
                            <a:srgbClr val="F0A500"/>
                          </a:solidFill>
                          <a:latin typeface="Calibri"/>
                        </a:rPr>
                        <a:t>—</a:t>
                      </a:r>
                    </a:p>
                  </a:txBody>
                  <a:tcPr marL="76200" marR="76200" marT="25400" marB="25400" anchor="ctr">
                    <a:solidFill>
                      <a:srgbClr val="1A1A2E"/>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BENCHMARK &amp; EVALUATION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Per-Label Precision / Recall / F1</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32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Breaking accuracy down by individual fault category shows exactly where the system is strong and where it struggles. Every category reaches perfect or near-perfect precision, and the only meaningful weak spot is recall on saturation_error, shift_error, and zero_point_error — the categories that include undetectable latent quant faults.</a:t>
            </a:r>
          </a:p>
        </p:txBody>
      </p:sp>
      <p:graphicFrame>
        <p:nvGraphicFramePr>
          <p:cNvPr id="10" name="Table 9"/>
          <p:cNvGraphicFramePr>
            <a:graphicFrameLocks noGrp="1"/>
          </p:cNvGraphicFramePr>
          <p:nvPr/>
        </p:nvGraphicFramePr>
        <p:xfrm>
          <a:off x="640080" y="2377440"/>
          <a:ext cx="10789920" cy="3657600"/>
        </p:xfrm>
        <a:graphic>
          <a:graphicData uri="http://schemas.openxmlformats.org/drawingml/2006/table">
            <a:tbl>
              <a:tblPr firstRow="1" bandRow="1">
                <a:tableStyleId>{5C22544A-7EE6-4342-B048-85BDC9FD1C3A}</a:tableStyleId>
              </a:tblPr>
              <a:tblGrid>
                <a:gridCol w="4206240"/>
                <a:gridCol w="1737360"/>
                <a:gridCol w="1554480"/>
                <a:gridCol w="1554480"/>
                <a:gridCol w="1737360"/>
              </a:tblGrid>
              <a:tr h="332509">
                <a:tc>
                  <a:txBody>
                    <a:bodyPr wrap="square"/>
                    <a:lstStyle/>
                    <a:p>
                      <a:pPr algn="l"/>
                      <a:r>
                        <a:rPr sz="1400" b="1" i="0">
                          <a:solidFill>
                            <a:srgbClr val="F0A500"/>
                          </a:solidFill>
                          <a:latin typeface="Calibri"/>
                        </a:rPr>
                        <a:t>Label</a:t>
                      </a:r>
                    </a:p>
                  </a:txBody>
                  <a:tcPr marL="76200" marR="76200" marT="38100" marB="38100" anchor="ctr">
                    <a:solidFill>
                      <a:srgbClr val="282B4A"/>
                    </a:solidFill>
                  </a:tcPr>
                </a:tc>
                <a:tc>
                  <a:txBody>
                    <a:bodyPr wrap="square"/>
                    <a:lstStyle/>
                    <a:p>
                      <a:pPr algn="ctr"/>
                      <a:r>
                        <a:rPr sz="1400" b="1" i="0">
                          <a:solidFill>
                            <a:srgbClr val="F0A500"/>
                          </a:solidFill>
                          <a:latin typeface="Calibri"/>
                        </a:rPr>
                        <a:t>Precision</a:t>
                      </a:r>
                    </a:p>
                  </a:txBody>
                  <a:tcPr marL="76200" marR="76200" marT="38100" marB="38100" anchor="ctr">
                    <a:solidFill>
                      <a:srgbClr val="282B4A"/>
                    </a:solidFill>
                  </a:tcPr>
                </a:tc>
                <a:tc>
                  <a:txBody>
                    <a:bodyPr wrap="square"/>
                    <a:lstStyle/>
                    <a:p>
                      <a:pPr algn="ctr"/>
                      <a:r>
                        <a:rPr sz="1400" b="1" i="0">
                          <a:solidFill>
                            <a:srgbClr val="F0A500"/>
                          </a:solidFill>
                          <a:latin typeface="Calibri"/>
                        </a:rPr>
                        <a:t>Recall</a:t>
                      </a:r>
                    </a:p>
                  </a:txBody>
                  <a:tcPr marL="76200" marR="76200" marT="38100" marB="38100" anchor="ctr">
                    <a:solidFill>
                      <a:srgbClr val="282B4A"/>
                    </a:solidFill>
                  </a:tcPr>
                </a:tc>
                <a:tc>
                  <a:txBody>
                    <a:bodyPr wrap="square"/>
                    <a:lstStyle/>
                    <a:p>
                      <a:pPr algn="ctr"/>
                      <a:r>
                        <a:rPr sz="1400" b="1" i="0">
                          <a:solidFill>
                            <a:srgbClr val="F0A500"/>
                          </a:solidFill>
                          <a:latin typeface="Calibri"/>
                        </a:rPr>
                        <a:t>F1</a:t>
                      </a:r>
                    </a:p>
                  </a:txBody>
                  <a:tcPr marL="76200" marR="76200" marT="38100" marB="38100" anchor="ctr">
                    <a:solidFill>
                      <a:srgbClr val="282B4A"/>
                    </a:solidFill>
                  </a:tcPr>
                </a:tc>
                <a:tc>
                  <a:txBody>
                    <a:bodyPr wrap="square"/>
                    <a:lstStyle/>
                    <a:p>
                      <a:pPr algn="ctr"/>
                      <a:r>
                        <a:rPr sz="1400" b="1" i="0">
                          <a:solidFill>
                            <a:srgbClr val="F0A500"/>
                          </a:solidFill>
                          <a:latin typeface="Calibri"/>
                        </a:rPr>
                        <a:t>Support</a:t>
                      </a:r>
                    </a:p>
                  </a:txBody>
                  <a:tcPr marL="76200" marR="76200" marT="38100" marB="38100" anchor="ctr">
                    <a:solidFill>
                      <a:srgbClr val="282B4A"/>
                    </a:solidFill>
                  </a:tcPr>
                </a:tc>
              </a:tr>
              <a:tr h="332509">
                <a:tc>
                  <a:txBody>
                    <a:bodyPr wrap="square"/>
                    <a:lstStyle/>
                    <a:p>
                      <a:pPr algn="l"/>
                      <a:r>
                        <a:rPr sz="1300" b="0" i="0">
                          <a:solidFill>
                            <a:srgbClr val="FFFFFF"/>
                          </a:solidFill>
                          <a:latin typeface="Calibri"/>
                        </a:rPr>
                        <a:t>accumulator_overflow</a:t>
                      </a:r>
                    </a:p>
                  </a:txBody>
                  <a:tcPr marL="76200" marR="76200" marT="25400" marB="25400" anchor="ctr">
                    <a:solidFill>
                      <a:srgbClr val="22223E"/>
                    </a:solidFill>
                  </a:tcPr>
                </a:tc>
                <a:tc>
                  <a:txBody>
                    <a:bodyPr wrap="square"/>
                    <a:lstStyle/>
                    <a:p>
                      <a:pPr algn="ctr"/>
                      <a:r>
                        <a:rPr sz="1300" b="0" i="0">
                          <a:solidFill>
                            <a:srgbClr val="FFFFFF"/>
                          </a:solidFill>
                          <a:latin typeface="Calibri"/>
                        </a:rPr>
                        <a:t>0.812</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0.897</a:t>
                      </a:r>
                    </a:p>
                  </a:txBody>
                  <a:tcPr marL="76200" marR="76200" marT="25400" marB="25400" anchor="ctr">
                    <a:solidFill>
                      <a:srgbClr val="22223E"/>
                    </a:solidFill>
                  </a:tcPr>
                </a:tc>
                <a:tc>
                  <a:txBody>
                    <a:bodyPr wrap="square"/>
                    <a:lstStyle/>
                    <a:p>
                      <a:pPr algn="ctr"/>
                      <a:r>
                        <a:rPr sz="1300" b="0" i="0">
                          <a:solidFill>
                            <a:srgbClr val="FFFFFF"/>
                          </a:solidFill>
                          <a:latin typeface="Calibri"/>
                        </a:rPr>
                        <a:t>39</a:t>
                      </a:r>
                    </a:p>
                  </a:txBody>
                  <a:tcPr marL="76200" marR="76200" marT="25400" marB="25400" anchor="ctr">
                    <a:solidFill>
                      <a:srgbClr val="22223E"/>
                    </a:solidFill>
                  </a:tcPr>
                </a:tc>
              </a:tr>
              <a:tr h="332509">
                <a:tc>
                  <a:txBody>
                    <a:bodyPr wrap="square"/>
                    <a:lstStyle/>
                    <a:p>
                      <a:pPr algn="l"/>
                      <a:r>
                        <a:rPr sz="1300" b="0" i="0">
                          <a:solidFill>
                            <a:srgbClr val="FFFFFF"/>
                          </a:solidFill>
                          <a:latin typeface="Calibri"/>
                        </a:rPr>
                        <a:t>arithmetic_error</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12</a:t>
                      </a:r>
                    </a:p>
                  </a:txBody>
                  <a:tcPr marL="76200" marR="76200" marT="25400" marB="25400" anchor="ctr">
                    <a:solidFill>
                      <a:srgbClr val="1A1A2E"/>
                    </a:solidFill>
                  </a:tcPr>
                </a:tc>
              </a:tr>
              <a:tr h="332509">
                <a:tc>
                  <a:txBody>
                    <a:bodyPr wrap="square"/>
                    <a:lstStyle/>
                    <a:p>
                      <a:pPr algn="l"/>
                      <a:r>
                        <a:rPr sz="1300" b="0" i="0">
                          <a:solidFill>
                            <a:srgbClr val="FFFFFF"/>
                          </a:solidFill>
                          <a:latin typeface="Calibri"/>
                        </a:rPr>
                        <a:t>loop_boundary_error</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27</a:t>
                      </a:r>
                    </a:p>
                  </a:txBody>
                  <a:tcPr marL="76200" marR="76200" marT="25400" marB="25400" anchor="ctr">
                    <a:solidFill>
                      <a:srgbClr val="22223E"/>
                    </a:solidFill>
                  </a:tcPr>
                </a:tc>
              </a:tr>
              <a:tr h="332509">
                <a:tc>
                  <a:txBody>
                    <a:bodyPr wrap="square"/>
                    <a:lstStyle/>
                    <a:p>
                      <a:pPr algn="l"/>
                      <a:r>
                        <a:rPr sz="1300" b="0" i="0">
                          <a:solidFill>
                            <a:srgbClr val="FFFFFF"/>
                          </a:solidFill>
                          <a:latin typeface="Calibri"/>
                        </a:rPr>
                        <a:t>no_fault</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87</a:t>
                      </a:r>
                    </a:p>
                  </a:txBody>
                  <a:tcPr marL="76200" marR="76200" marT="25400" marB="25400" anchor="ctr">
                    <a:solidFill>
                      <a:srgbClr val="1A1A2E"/>
                    </a:solidFill>
                  </a:tcPr>
                </a:tc>
              </a:tr>
              <a:tr h="332509">
                <a:tc>
                  <a:txBody>
                    <a:bodyPr wrap="square"/>
                    <a:lstStyle/>
                    <a:p>
                      <a:pPr algn="l"/>
                      <a:r>
                        <a:rPr sz="1300" b="0" i="0">
                          <a:solidFill>
                            <a:srgbClr val="FFFFFF"/>
                          </a:solidFill>
                          <a:latin typeface="Calibri"/>
                        </a:rPr>
                        <a:t>reset_polarity_error</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27</a:t>
                      </a:r>
                    </a:p>
                  </a:txBody>
                  <a:tcPr marL="76200" marR="76200" marT="25400" marB="25400" anchor="ctr">
                    <a:solidFill>
                      <a:srgbClr val="22223E"/>
                    </a:solidFill>
                  </a:tcPr>
                </a:tc>
              </a:tr>
              <a:tr h="332509">
                <a:tc>
                  <a:txBody>
                    <a:bodyPr wrap="square"/>
                    <a:lstStyle/>
                    <a:p>
                      <a:pPr algn="l"/>
                      <a:r>
                        <a:rPr sz="1300" b="0" i="0">
                          <a:solidFill>
                            <a:srgbClr val="FFFFFF"/>
                          </a:solidFill>
                          <a:latin typeface="Calibri"/>
                        </a:rPr>
                        <a:t>saturation_error</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0.750</a:t>
                      </a:r>
                    </a:p>
                  </a:txBody>
                  <a:tcPr marL="76200" marR="76200" marT="25400" marB="25400" anchor="ctr">
                    <a:solidFill>
                      <a:srgbClr val="1A1A2E"/>
                    </a:solidFill>
                  </a:tcPr>
                </a:tc>
                <a:tc>
                  <a:txBody>
                    <a:bodyPr wrap="square"/>
                    <a:lstStyle/>
                    <a:p>
                      <a:pPr algn="ctr"/>
                      <a:r>
                        <a:rPr sz="1300" b="0" i="0">
                          <a:solidFill>
                            <a:srgbClr val="FFFFFF"/>
                          </a:solidFill>
                          <a:latin typeface="Calibri"/>
                        </a:rPr>
                        <a:t>0.857</a:t>
                      </a:r>
                    </a:p>
                  </a:txBody>
                  <a:tcPr marL="76200" marR="76200" marT="25400" marB="25400" anchor="ctr">
                    <a:solidFill>
                      <a:srgbClr val="1A1A2E"/>
                    </a:solidFill>
                  </a:tcPr>
                </a:tc>
                <a:tc>
                  <a:txBody>
                    <a:bodyPr wrap="square"/>
                    <a:lstStyle/>
                    <a:p>
                      <a:pPr algn="ctr"/>
                      <a:r>
                        <a:rPr sz="1300" b="0" i="0">
                          <a:solidFill>
                            <a:srgbClr val="FFFFFF"/>
                          </a:solidFill>
                          <a:latin typeface="Calibri"/>
                        </a:rPr>
                        <a:t>12</a:t>
                      </a:r>
                    </a:p>
                  </a:txBody>
                  <a:tcPr marL="76200" marR="76200" marT="25400" marB="25400" anchor="ctr">
                    <a:solidFill>
                      <a:srgbClr val="1A1A2E"/>
                    </a:solidFill>
                  </a:tcPr>
                </a:tc>
              </a:tr>
              <a:tr h="332509">
                <a:tc>
                  <a:txBody>
                    <a:bodyPr wrap="square"/>
                    <a:lstStyle/>
                    <a:p>
                      <a:pPr algn="l"/>
                      <a:r>
                        <a:rPr sz="1300" b="0" i="0">
                          <a:solidFill>
                            <a:srgbClr val="FFFFFF"/>
                          </a:solidFill>
                          <a:latin typeface="Calibri"/>
                        </a:rPr>
                        <a:t>shift_error</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0.750</a:t>
                      </a:r>
                    </a:p>
                  </a:txBody>
                  <a:tcPr marL="76200" marR="76200" marT="25400" marB="25400" anchor="ctr">
                    <a:solidFill>
                      <a:srgbClr val="22223E"/>
                    </a:solidFill>
                  </a:tcPr>
                </a:tc>
                <a:tc>
                  <a:txBody>
                    <a:bodyPr wrap="square"/>
                    <a:lstStyle/>
                    <a:p>
                      <a:pPr algn="ctr"/>
                      <a:r>
                        <a:rPr sz="1300" b="0" i="0">
                          <a:solidFill>
                            <a:srgbClr val="FFFFFF"/>
                          </a:solidFill>
                          <a:latin typeface="Calibri"/>
                        </a:rPr>
                        <a:t>0.857</a:t>
                      </a:r>
                    </a:p>
                  </a:txBody>
                  <a:tcPr marL="76200" marR="76200" marT="25400" marB="25400" anchor="ctr">
                    <a:solidFill>
                      <a:srgbClr val="22223E"/>
                    </a:solidFill>
                  </a:tcPr>
                </a:tc>
                <a:tc>
                  <a:txBody>
                    <a:bodyPr wrap="square"/>
                    <a:lstStyle/>
                    <a:p>
                      <a:pPr algn="ctr"/>
                      <a:r>
                        <a:rPr sz="1300" b="0" i="0">
                          <a:solidFill>
                            <a:srgbClr val="FFFFFF"/>
                          </a:solidFill>
                          <a:latin typeface="Calibri"/>
                        </a:rPr>
                        <a:t>12</a:t>
                      </a:r>
                    </a:p>
                  </a:txBody>
                  <a:tcPr marL="76200" marR="76200" marT="25400" marB="25400" anchor="ctr">
                    <a:solidFill>
                      <a:srgbClr val="22223E"/>
                    </a:solidFill>
                  </a:tcPr>
                </a:tc>
              </a:tr>
              <a:tr h="332509">
                <a:tc>
                  <a:txBody>
                    <a:bodyPr wrap="square"/>
                    <a:lstStyle/>
                    <a:p>
                      <a:pPr algn="l"/>
                      <a:r>
                        <a:rPr sz="1300" b="0" i="0">
                          <a:solidFill>
                            <a:srgbClr val="FFFFFF"/>
                          </a:solidFill>
                          <a:latin typeface="Calibri"/>
                        </a:rPr>
                        <a:t>sign_extension_error</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1.000</a:t>
                      </a:r>
                    </a:p>
                  </a:txBody>
                  <a:tcPr marL="76200" marR="76200" marT="25400" marB="25400" anchor="ctr">
                    <a:solidFill>
                      <a:srgbClr val="1A1A2E"/>
                    </a:solidFill>
                  </a:tcPr>
                </a:tc>
                <a:tc>
                  <a:txBody>
                    <a:bodyPr wrap="square"/>
                    <a:lstStyle/>
                    <a:p>
                      <a:pPr algn="ctr"/>
                      <a:r>
                        <a:rPr sz="1300" b="0" i="0">
                          <a:solidFill>
                            <a:srgbClr val="FFFFFF"/>
                          </a:solidFill>
                          <a:latin typeface="Calibri"/>
                        </a:rPr>
                        <a:t>27</a:t>
                      </a:r>
                    </a:p>
                  </a:txBody>
                  <a:tcPr marL="76200" marR="76200" marT="25400" marB="25400" anchor="ctr">
                    <a:solidFill>
                      <a:srgbClr val="1A1A2E"/>
                    </a:solidFill>
                  </a:tcPr>
                </a:tc>
              </a:tr>
              <a:tr h="332509">
                <a:tc>
                  <a:txBody>
                    <a:bodyPr wrap="square"/>
                    <a:lstStyle/>
                    <a:p>
                      <a:pPr algn="l"/>
                      <a:r>
                        <a:rPr sz="1300" b="0" i="0">
                          <a:solidFill>
                            <a:srgbClr val="FFFFFF"/>
                          </a:solidFill>
                          <a:latin typeface="Calibri"/>
                        </a:rPr>
                        <a:t>zero_point_error</a:t>
                      </a:r>
                    </a:p>
                  </a:txBody>
                  <a:tcPr marL="76200" marR="76200" marT="25400" marB="25400" anchor="ctr">
                    <a:solidFill>
                      <a:srgbClr val="22223E"/>
                    </a:solidFill>
                  </a:tcPr>
                </a:tc>
                <a:tc>
                  <a:txBody>
                    <a:bodyPr wrap="square"/>
                    <a:lstStyle/>
                    <a:p>
                      <a:pPr algn="ctr"/>
                      <a:r>
                        <a:rPr sz="1300" b="0" i="0">
                          <a:solidFill>
                            <a:srgbClr val="FFFFFF"/>
                          </a:solidFill>
                          <a:latin typeface="Calibri"/>
                        </a:rPr>
                        <a:t>1.000</a:t>
                      </a:r>
                    </a:p>
                  </a:txBody>
                  <a:tcPr marL="76200" marR="76200" marT="25400" marB="25400" anchor="ctr">
                    <a:solidFill>
                      <a:srgbClr val="22223E"/>
                    </a:solidFill>
                  </a:tcPr>
                </a:tc>
                <a:tc>
                  <a:txBody>
                    <a:bodyPr wrap="square"/>
                    <a:lstStyle/>
                    <a:p>
                      <a:pPr algn="ctr"/>
                      <a:r>
                        <a:rPr sz="1300" b="0" i="0">
                          <a:solidFill>
                            <a:srgbClr val="FFFFFF"/>
                          </a:solidFill>
                          <a:latin typeface="Calibri"/>
                        </a:rPr>
                        <a:t>0.750</a:t>
                      </a:r>
                    </a:p>
                  </a:txBody>
                  <a:tcPr marL="76200" marR="76200" marT="25400" marB="25400" anchor="ctr">
                    <a:solidFill>
                      <a:srgbClr val="22223E"/>
                    </a:solidFill>
                  </a:tcPr>
                </a:tc>
                <a:tc>
                  <a:txBody>
                    <a:bodyPr wrap="square"/>
                    <a:lstStyle/>
                    <a:p>
                      <a:pPr algn="ctr"/>
                      <a:r>
                        <a:rPr sz="1300" b="0" i="0">
                          <a:solidFill>
                            <a:srgbClr val="FFFFFF"/>
                          </a:solidFill>
                          <a:latin typeface="Calibri"/>
                        </a:rPr>
                        <a:t>0.857</a:t>
                      </a:r>
                    </a:p>
                  </a:txBody>
                  <a:tcPr marL="76200" marR="76200" marT="25400" marB="25400" anchor="ctr">
                    <a:solidFill>
                      <a:srgbClr val="22223E"/>
                    </a:solidFill>
                  </a:tcPr>
                </a:tc>
                <a:tc>
                  <a:txBody>
                    <a:bodyPr wrap="square"/>
                    <a:lstStyle/>
                    <a:p>
                      <a:pPr algn="ctr"/>
                      <a:r>
                        <a:rPr sz="1300" b="0" i="0">
                          <a:solidFill>
                            <a:srgbClr val="FFFFFF"/>
                          </a:solidFill>
                          <a:latin typeface="Calibri"/>
                        </a:rPr>
                        <a:t>12</a:t>
                      </a:r>
                    </a:p>
                  </a:txBody>
                  <a:tcPr marL="76200" marR="76200" marT="25400" marB="25400" anchor="ctr">
                    <a:solidFill>
                      <a:srgbClr val="22223E"/>
                    </a:solidFill>
                  </a:tcPr>
                </a:tc>
              </a:tr>
              <a:tr h="332510">
                <a:tc>
                  <a:txBody>
                    <a:bodyPr wrap="square"/>
                    <a:lstStyle/>
                    <a:p>
                      <a:pPr algn="l"/>
                      <a:r>
                        <a:rPr sz="1300" b="1" i="0">
                          <a:solidFill>
                            <a:srgbClr val="F0A500"/>
                          </a:solidFill>
                          <a:latin typeface="Calibri"/>
                        </a:rPr>
                        <a:t>Overall</a:t>
                      </a:r>
                    </a:p>
                  </a:txBody>
                  <a:tcPr marL="76200" marR="76200" marT="25400" marB="25400" anchor="ctr">
                    <a:solidFill>
                      <a:srgbClr val="1A1A2E"/>
                    </a:solidFill>
                  </a:tcPr>
                </a:tc>
                <a:tc>
                  <a:txBody>
                    <a:bodyPr wrap="square"/>
                    <a:lstStyle/>
                    <a:p>
                      <a:pPr algn="ctr"/>
                      <a:r>
                        <a:rPr sz="1300" b="1" i="0">
                          <a:solidFill>
                            <a:srgbClr val="F0A500"/>
                          </a:solidFill>
                          <a:latin typeface="Calibri"/>
                        </a:rPr>
                        <a:t>0.965</a:t>
                      </a:r>
                    </a:p>
                  </a:txBody>
                  <a:tcPr marL="76200" marR="76200" marT="25400" marB="25400" anchor="ctr">
                    <a:solidFill>
                      <a:srgbClr val="1A1A2E"/>
                    </a:solidFill>
                  </a:tcPr>
                </a:tc>
                <a:tc>
                  <a:txBody>
                    <a:bodyPr wrap="square"/>
                    <a:lstStyle/>
                    <a:p>
                      <a:pPr algn="ctr"/>
                      <a:r>
                        <a:rPr sz="1300" b="1" i="0">
                          <a:solidFill>
                            <a:srgbClr val="F0A500"/>
                          </a:solidFill>
                          <a:latin typeface="Calibri"/>
                        </a:rPr>
                        <a:t/>
                      </a:r>
                    </a:p>
                  </a:txBody>
                  <a:tcPr marL="76200" marR="76200" marT="25400" marB="25400" anchor="ctr">
                    <a:solidFill>
                      <a:srgbClr val="1A1A2E"/>
                    </a:solidFill>
                  </a:tcPr>
                </a:tc>
                <a:tc>
                  <a:txBody>
                    <a:bodyPr wrap="square"/>
                    <a:lstStyle/>
                    <a:p>
                      <a:pPr algn="ctr"/>
                      <a:r>
                        <a:rPr sz="1300" b="1" i="0">
                          <a:solidFill>
                            <a:srgbClr val="F0A500"/>
                          </a:solidFill>
                          <a:latin typeface="Calibri"/>
                        </a:rPr>
                        <a:t/>
                      </a:r>
                    </a:p>
                  </a:txBody>
                  <a:tcPr marL="76200" marR="76200" marT="25400" marB="25400" anchor="ctr">
                    <a:solidFill>
                      <a:srgbClr val="1A1A2E"/>
                    </a:solidFill>
                  </a:tcPr>
                </a:tc>
                <a:tc>
                  <a:txBody>
                    <a:bodyPr wrap="square"/>
                    <a:lstStyle/>
                    <a:p>
                      <a:pPr algn="ctr"/>
                      <a:r>
                        <a:rPr sz="1300" b="1" i="0">
                          <a:solidFill>
                            <a:srgbClr val="F0A500"/>
                          </a:solidFill>
                          <a:latin typeface="Calibri"/>
                        </a:rPr>
                        <a:t>255</a:t>
                      </a:r>
                    </a:p>
                  </a:txBody>
                  <a:tcPr marL="76200" marR="76200" marT="25400" marB="25400" anchor="ctr">
                    <a:solidFill>
                      <a:srgbClr val="1A1A2E"/>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BENCHMARK &amp; EVALUATION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Why Accuracy Is Equal for Rule-Based and LLM</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33 / 40</a:t>
            </a:r>
          </a:p>
        </p:txBody>
      </p:sp>
      <p:sp>
        <p:nvSpPr>
          <p:cNvPr id="9" name="TextBox 8"/>
          <p:cNvSpPr txBox="1"/>
          <p:nvPr/>
        </p:nvSpPr>
        <p:spPr>
          <a:xfrm>
            <a:off x="640080" y="1508760"/>
            <a:ext cx="10911535" cy="2423160"/>
          </a:xfrm>
          <a:prstGeom prst="rect">
            <a:avLst/>
          </a:prstGeom>
          <a:noFill/>
        </p:spPr>
        <p:txBody>
          <a:bodyPr wrap="square" lIns="0" rIns="0" tIns="0" bIns="0">
            <a:noAutofit/>
          </a:bodyPr>
          <a:lstStyle/>
          <a:p>
            <a:pPr>
              <a:lnSpc>
                <a:spcPct val="120000"/>
              </a:lnSpc>
            </a:pPr>
            <a:r>
              <a:rPr sz="1600" b="0" i="0">
                <a:solidFill>
                  <a:srgbClr val="FFFFFF"/>
                </a:solidFill>
                <a:latin typeface="Calibri"/>
              </a:rPr>
              <a:t>A natural question is: if the LLM and rule-based system achieve the same </a:t>
            </a:r>
            <a:r>
              <a:rPr sz="1600" b="1" i="0">
                <a:solidFill>
                  <a:srgbClr val="F0A500"/>
                </a:solidFill>
                <a:latin typeface="Calibri"/>
              </a:rPr>
              <a:t>96.5%</a:t>
            </a:r>
            <a:r>
              <a:rPr sz="1600" b="0" i="0">
                <a:solidFill>
                  <a:srgbClr val="FFFFFF"/>
                </a:solidFill>
                <a:latin typeface="Calibri"/>
              </a:rPr>
              <a:t> accuracy, what does the LLM actually contribute? The answer is that classification and explanation are two different problems. The rule-based clusterer is already near-optimal for the 9 defined fault categories — adding an LLM cannot improve on rules that were designed for exactly these faults. However, for a novel fault that no rule covers, the LLM can still reason from raw symptom statistics and produce a useful hypothesis. More importantly, a label like overflow_fault tells an engineer nothing about where to look or what to do — the LLM's natural language report with specific file names, line numbers, and test recommendations is what actually saves the 45 minutes.</a:t>
            </a:r>
          </a:p>
        </p:txBody>
      </p:sp>
      <p:sp>
        <p:nvSpPr>
          <p:cNvPr id="10" name="TextBox 9"/>
          <p:cNvSpPr txBox="1"/>
          <p:nvPr/>
        </p:nvSpPr>
        <p:spPr>
          <a:xfrm>
            <a:off x="640080" y="3931920"/>
            <a:ext cx="10911535" cy="2514600"/>
          </a:xfrm>
          <a:prstGeom prst="rect">
            <a:avLst/>
          </a:prstGeom>
          <a:noFill/>
        </p:spPr>
        <p:txBody>
          <a:bodyPr wrap="square" lIns="0" rIns="0" tIns="0" bIns="0">
            <a:noAutofit/>
          </a:bodyPr>
          <a:lstStyle/>
          <a:p>
            <a:pPr>
              <a:spcAft>
                <a:spcPts val="800"/>
              </a:spcAft>
            </a:pPr>
            <a:r>
              <a:rPr sz="1350" b="1" i="0">
                <a:solidFill>
                  <a:srgbClr val="F0A500"/>
                </a:solidFill>
                <a:latin typeface="Calibri"/>
              </a:rPr>
              <a:t>•  </a:t>
            </a:r>
            <a:r>
              <a:rPr sz="1350" b="0" i="0">
                <a:solidFill>
                  <a:srgbClr val="FFFFFF"/>
                </a:solidFill>
                <a:latin typeface="Calibri"/>
              </a:rPr>
              <a:t>Rules handle the nine known fault categories at near-ceiling accuracy, so there is no classification accuracy left for an LLM to add.</a:t>
            </a:r>
          </a:p>
          <a:p>
            <a:pPr>
              <a:spcAft>
                <a:spcPts val="800"/>
              </a:spcAft>
            </a:pPr>
            <a:r>
              <a:rPr sz="1350" b="1" i="0">
                <a:solidFill>
                  <a:srgbClr val="F0A500"/>
                </a:solidFill>
                <a:latin typeface="Calibri"/>
              </a:rPr>
              <a:t>•  </a:t>
            </a:r>
            <a:r>
              <a:rPr sz="1350" b="0" i="0">
                <a:solidFill>
                  <a:srgbClr val="FFFFFF"/>
                </a:solidFill>
                <a:latin typeface="Calibri"/>
              </a:rPr>
              <a:t>The LLM's real value shows up in confidence scoring, novel-fault reasoning, and — above all — turning a bare label into a specific, actionable debug report.</a:t>
            </a:r>
          </a:p>
          <a:p>
            <a:pPr>
              <a:spcAft>
                <a:spcPts val="800"/>
              </a:spcAft>
            </a:pPr>
            <a:r>
              <a:rPr sz="1350" b="1" i="0">
                <a:solidFill>
                  <a:srgbClr val="F0A500"/>
                </a:solidFill>
                <a:latin typeface="Calibri"/>
              </a:rPr>
              <a:t>•  </a:t>
            </a:r>
            <a:r>
              <a:rPr sz="1350" b="0" i="0">
                <a:solidFill>
                  <a:srgbClr val="FFFFFF"/>
                </a:solidFill>
                <a:latin typeface="Calibri"/>
              </a:rPr>
              <a:t>This is deliberately an honest negative result on accuracy paired with a positive result on usefulness: the LLM should be evaluated as an explainer, not a classifier.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BENCHMARK &amp; EVALUATION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Pipeline Stage Timing</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34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Timing the pipeline stage by stage shows exactly where the 46 seconds of end-to-end latency actually goes: essentially all of it. Loading, feature extraction, clustering, and evaluation together take under 100 milliseconds — it is the sequential Claude API calls, one per failure cluster, that account for </a:t>
            </a:r>
            <a:r>
              <a:rPr sz="1400" b="1" i="0">
                <a:solidFill>
                  <a:srgbClr val="F0A500"/>
                </a:solidFill>
                <a:latin typeface="Calibri"/>
              </a:rPr>
              <a:t>99.8%</a:t>
            </a:r>
            <a:r>
              <a:rPr sz="1400" b="0" i="0">
                <a:solidFill>
                  <a:srgbClr val="C7C9D9"/>
                </a:solidFill>
                <a:latin typeface="Calibri"/>
              </a:rPr>
              <a:t> of total wall-clock time.</a:t>
            </a:r>
          </a:p>
        </p:txBody>
      </p:sp>
      <p:sp>
        <p:nvSpPr>
          <p:cNvPr id="10" name="TextBox 9"/>
          <p:cNvSpPr txBox="1"/>
          <p:nvPr/>
        </p:nvSpPr>
        <p:spPr>
          <a:xfrm>
            <a:off x="640080" y="2377440"/>
            <a:ext cx="2377440" cy="475488"/>
          </a:xfrm>
          <a:prstGeom prst="rect">
            <a:avLst/>
          </a:prstGeom>
          <a:noFill/>
        </p:spPr>
        <p:txBody>
          <a:bodyPr wrap="square" anchor="ctr" lIns="0" rIns="0" tIns="0" bIns="0">
            <a:noAutofit/>
          </a:bodyPr>
          <a:lstStyle/>
          <a:p>
            <a:r>
              <a:rPr sz="1400" b="1" i="0">
                <a:solidFill>
                  <a:srgbClr val="FFFFFF"/>
                </a:solidFill>
                <a:latin typeface="Calibri"/>
              </a:rPr>
              <a:t>Load + parse</a:t>
            </a:r>
            <a:r>
              <a:rPr sz="1100" b="0" i="0">
                <a:solidFill>
                  <a:srgbClr val="C7C9D9"/>
                </a:solidFill>
                <a:latin typeface="Calibri"/>
              </a:rPr>
              <a:t>  &lt;0.1%</a:t>
            </a:r>
          </a:p>
        </p:txBody>
      </p:sp>
      <p:sp>
        <p:nvSpPr>
          <p:cNvPr id="11" name="Rectangle 10"/>
          <p:cNvSpPr/>
          <p:nvPr/>
        </p:nvSpPr>
        <p:spPr>
          <a:xfrm>
            <a:off x="3200400" y="2450592"/>
            <a:ext cx="803736" cy="32918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3864" y="2377440"/>
            <a:ext cx="1463040" cy="475488"/>
          </a:xfrm>
          <a:prstGeom prst="rect">
            <a:avLst/>
          </a:prstGeom>
          <a:noFill/>
        </p:spPr>
        <p:txBody>
          <a:bodyPr wrap="square" anchor="ctr" lIns="0" rIns="0" tIns="0" bIns="0">
            <a:noAutofit/>
          </a:bodyPr>
          <a:lstStyle/>
          <a:p>
            <a:r>
              <a:rPr sz="1300" b="1" i="0">
                <a:solidFill>
                  <a:srgbClr val="F0A500"/>
                </a:solidFill>
                <a:latin typeface="Calibri"/>
              </a:rPr>
              <a:t>2.5 ms</a:t>
            </a:r>
          </a:p>
        </p:txBody>
      </p:sp>
      <p:sp>
        <p:nvSpPr>
          <p:cNvPr id="13" name="TextBox 12"/>
          <p:cNvSpPr txBox="1"/>
          <p:nvPr/>
        </p:nvSpPr>
        <p:spPr>
          <a:xfrm>
            <a:off x="640080" y="2926080"/>
            <a:ext cx="2377440" cy="475488"/>
          </a:xfrm>
          <a:prstGeom prst="rect">
            <a:avLst/>
          </a:prstGeom>
          <a:noFill/>
        </p:spPr>
        <p:txBody>
          <a:bodyPr wrap="square" anchor="ctr" lIns="0" rIns="0" tIns="0" bIns="0">
            <a:noAutofit/>
          </a:bodyPr>
          <a:lstStyle/>
          <a:p>
            <a:r>
              <a:rPr sz="1400" b="1" i="0">
                <a:solidFill>
                  <a:srgbClr val="FFFFFF"/>
                </a:solidFill>
                <a:latin typeface="Calibri"/>
              </a:rPr>
              <a:t>Feature extraction</a:t>
            </a:r>
            <a:r>
              <a:rPr sz="1100" b="0" i="0">
                <a:solidFill>
                  <a:srgbClr val="C7C9D9"/>
                </a:solidFill>
                <a:latin typeface="Calibri"/>
              </a:rPr>
              <a:t>  &lt;0.1%</a:t>
            </a:r>
          </a:p>
        </p:txBody>
      </p:sp>
      <p:sp>
        <p:nvSpPr>
          <p:cNvPr id="14" name="Rectangle 13"/>
          <p:cNvSpPr/>
          <p:nvPr/>
        </p:nvSpPr>
        <p:spPr>
          <a:xfrm>
            <a:off x="3200400" y="2999232"/>
            <a:ext cx="301540" cy="32918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668" y="2926080"/>
            <a:ext cx="1463040" cy="475488"/>
          </a:xfrm>
          <a:prstGeom prst="rect">
            <a:avLst/>
          </a:prstGeom>
          <a:noFill/>
        </p:spPr>
        <p:txBody>
          <a:bodyPr wrap="square" anchor="ctr" lIns="0" rIns="0" tIns="0" bIns="0">
            <a:noAutofit/>
          </a:bodyPr>
          <a:lstStyle/>
          <a:p>
            <a:r>
              <a:rPr sz="1300" b="1" i="0">
                <a:solidFill>
                  <a:srgbClr val="F0A500"/>
                </a:solidFill>
                <a:latin typeface="Calibri"/>
              </a:rPr>
              <a:t>0.6 ms</a:t>
            </a:r>
          </a:p>
        </p:txBody>
      </p:sp>
      <p:sp>
        <p:nvSpPr>
          <p:cNvPr id="16" name="TextBox 15"/>
          <p:cNvSpPr txBox="1"/>
          <p:nvPr/>
        </p:nvSpPr>
        <p:spPr>
          <a:xfrm>
            <a:off x="640080" y="3474720"/>
            <a:ext cx="2377440" cy="475488"/>
          </a:xfrm>
          <a:prstGeom prst="rect">
            <a:avLst/>
          </a:prstGeom>
          <a:noFill/>
        </p:spPr>
        <p:txBody>
          <a:bodyPr wrap="square" anchor="ctr" lIns="0" rIns="0" tIns="0" bIns="0">
            <a:noAutofit/>
          </a:bodyPr>
          <a:lstStyle/>
          <a:p>
            <a:r>
              <a:rPr sz="1400" b="1" i="0">
                <a:solidFill>
                  <a:srgbClr val="FFFFFF"/>
                </a:solidFill>
                <a:latin typeface="Calibri"/>
              </a:rPr>
              <a:t>Clustering (DBSCAN)</a:t>
            </a:r>
            <a:r>
              <a:rPr sz="1100" b="0" i="0">
                <a:solidFill>
                  <a:srgbClr val="C7C9D9"/>
                </a:solidFill>
                <a:latin typeface="Calibri"/>
              </a:rPr>
              <a:t>  0.2%</a:t>
            </a:r>
          </a:p>
        </p:txBody>
      </p:sp>
      <p:sp>
        <p:nvSpPr>
          <p:cNvPr id="17" name="Rectangle 16"/>
          <p:cNvSpPr/>
          <p:nvPr/>
        </p:nvSpPr>
        <p:spPr>
          <a:xfrm>
            <a:off x="3200400" y="3547872"/>
            <a:ext cx="2872529" cy="32918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2657" y="3474720"/>
            <a:ext cx="1463040" cy="475488"/>
          </a:xfrm>
          <a:prstGeom prst="rect">
            <a:avLst/>
          </a:prstGeom>
          <a:noFill/>
        </p:spPr>
        <p:txBody>
          <a:bodyPr wrap="square" anchor="ctr" lIns="0" rIns="0" tIns="0" bIns="0">
            <a:noAutofit/>
          </a:bodyPr>
          <a:lstStyle/>
          <a:p>
            <a:r>
              <a:rPr sz="1300" b="1" i="0">
                <a:solidFill>
                  <a:srgbClr val="F0A500"/>
                </a:solidFill>
                <a:latin typeface="Calibri"/>
              </a:rPr>
              <a:t>87 ms</a:t>
            </a:r>
          </a:p>
        </p:txBody>
      </p:sp>
      <p:sp>
        <p:nvSpPr>
          <p:cNvPr id="19" name="TextBox 18"/>
          <p:cNvSpPr txBox="1"/>
          <p:nvPr/>
        </p:nvSpPr>
        <p:spPr>
          <a:xfrm>
            <a:off x="640080" y="4023360"/>
            <a:ext cx="2377440" cy="475488"/>
          </a:xfrm>
          <a:prstGeom prst="rect">
            <a:avLst/>
          </a:prstGeom>
          <a:noFill/>
        </p:spPr>
        <p:txBody>
          <a:bodyPr wrap="square" anchor="ctr" lIns="0" rIns="0" tIns="0" bIns="0">
            <a:noAutofit/>
          </a:bodyPr>
          <a:lstStyle/>
          <a:p>
            <a:r>
              <a:rPr sz="1400" b="1" i="0">
                <a:solidFill>
                  <a:srgbClr val="FFFFFF"/>
                </a:solidFill>
                <a:latin typeface="Calibri"/>
              </a:rPr>
              <a:t>Claude API triage</a:t>
            </a:r>
            <a:r>
              <a:rPr sz="1100" b="0" i="0">
                <a:solidFill>
                  <a:srgbClr val="C7C9D9"/>
                </a:solidFill>
                <a:latin typeface="Calibri"/>
              </a:rPr>
              <a:t>  99.8%</a:t>
            </a:r>
          </a:p>
        </p:txBody>
      </p:sp>
      <p:sp>
        <p:nvSpPr>
          <p:cNvPr id="20" name="Rectangle 19"/>
          <p:cNvSpPr/>
          <p:nvPr/>
        </p:nvSpPr>
        <p:spPr>
          <a:xfrm>
            <a:off x="3200400" y="4096512"/>
            <a:ext cx="6888175" cy="32918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98303" y="4023360"/>
            <a:ext cx="1463040" cy="475488"/>
          </a:xfrm>
          <a:prstGeom prst="rect">
            <a:avLst/>
          </a:prstGeom>
          <a:noFill/>
        </p:spPr>
        <p:txBody>
          <a:bodyPr wrap="square" anchor="ctr" lIns="0" rIns="0" tIns="0" bIns="0">
            <a:noAutofit/>
          </a:bodyPr>
          <a:lstStyle/>
          <a:p>
            <a:r>
              <a:rPr sz="1300" b="1" i="0">
                <a:solidFill>
                  <a:srgbClr val="F0A500"/>
                </a:solidFill>
                <a:latin typeface="Calibri"/>
              </a:rPr>
              <a:t>46.0 s</a:t>
            </a:r>
          </a:p>
        </p:txBody>
      </p:sp>
      <p:sp>
        <p:nvSpPr>
          <p:cNvPr id="22" name="TextBox 21"/>
          <p:cNvSpPr txBox="1"/>
          <p:nvPr/>
        </p:nvSpPr>
        <p:spPr>
          <a:xfrm>
            <a:off x="640080" y="4572000"/>
            <a:ext cx="2377440" cy="475488"/>
          </a:xfrm>
          <a:prstGeom prst="rect">
            <a:avLst/>
          </a:prstGeom>
          <a:noFill/>
        </p:spPr>
        <p:txBody>
          <a:bodyPr wrap="square" anchor="ctr" lIns="0" rIns="0" tIns="0" bIns="0">
            <a:noAutofit/>
          </a:bodyPr>
          <a:lstStyle/>
          <a:p>
            <a:r>
              <a:rPr sz="1400" b="1" i="0">
                <a:solidFill>
                  <a:srgbClr val="FFFFFF"/>
                </a:solidFill>
                <a:latin typeface="Calibri"/>
              </a:rPr>
              <a:t>Evaluation</a:t>
            </a:r>
            <a:r>
              <a:rPr sz="1100" b="0" i="0">
                <a:solidFill>
                  <a:srgbClr val="C7C9D9"/>
                </a:solidFill>
                <a:latin typeface="Calibri"/>
              </a:rPr>
              <a:t>  &lt;0.1%</a:t>
            </a:r>
          </a:p>
        </p:txBody>
      </p:sp>
      <p:sp>
        <p:nvSpPr>
          <p:cNvPr id="23" name="Rectangle 22"/>
          <p:cNvSpPr/>
          <p:nvPr/>
        </p:nvSpPr>
        <p:spPr>
          <a:xfrm>
            <a:off x="3200400" y="4645152"/>
            <a:ext cx="168325" cy="329184"/>
          </a:xfrm>
          <a:prstGeom prst="rect">
            <a:avLst/>
          </a:prstGeom>
          <a:solidFill>
            <a:srgbClr val="4A79A5"/>
          </a:solidFill>
          <a:ln w="952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8453" y="4572000"/>
            <a:ext cx="1463040" cy="475488"/>
          </a:xfrm>
          <a:prstGeom prst="rect">
            <a:avLst/>
          </a:prstGeom>
          <a:noFill/>
        </p:spPr>
        <p:txBody>
          <a:bodyPr wrap="square" anchor="ctr" lIns="0" rIns="0" tIns="0" bIns="0">
            <a:noAutofit/>
          </a:bodyPr>
          <a:lstStyle/>
          <a:p>
            <a:r>
              <a:rPr sz="1300" b="1" i="0">
                <a:solidFill>
                  <a:srgbClr val="F0A500"/>
                </a:solidFill>
                <a:latin typeface="Calibri"/>
              </a:rPr>
              <a:t>0.3 ms</a:t>
            </a:r>
          </a:p>
        </p:txBody>
      </p:sp>
      <p:sp>
        <p:nvSpPr>
          <p:cNvPr id="25" name="TextBox 24"/>
          <p:cNvSpPr txBox="1"/>
          <p:nvPr/>
        </p:nvSpPr>
        <p:spPr>
          <a:xfrm>
            <a:off x="640080" y="5212080"/>
            <a:ext cx="10911535" cy="457200"/>
          </a:xfrm>
          <a:prstGeom prst="rect">
            <a:avLst/>
          </a:prstGeom>
          <a:noFill/>
        </p:spPr>
        <p:txBody>
          <a:bodyPr wrap="square" lIns="0" rIns="0" tIns="0" bIns="0">
            <a:noAutofit/>
          </a:bodyPr>
          <a:lstStyle/>
          <a:p>
            <a:r>
              <a:rPr sz="1400" b="1" i="0">
                <a:solidFill>
                  <a:srgbClr val="F0A500"/>
                </a:solidFill>
                <a:latin typeface="Calibri"/>
              </a:rPr>
              <a:t>Total ≈ 46 s with LLM. Without LLM: total = 90 ms (</a:t>
            </a:r>
            <a:r>
              <a:rPr sz="1400" b="1" i="0">
                <a:solidFill>
                  <a:srgbClr val="F0A500"/>
                </a:solidFill>
                <a:latin typeface="Calibri"/>
              </a:rPr>
              <a:t>63,000x</a:t>
            </a:r>
            <a:r>
              <a:rPr sz="1400" b="1" i="0">
                <a:solidFill>
                  <a:srgbClr val="F0A500"/>
                </a:solidFill>
                <a:latin typeface="Calibri"/>
              </a:rPr>
              <a:t> speedup)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DISCUSSION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The Latent Fault Problem</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35 / 40</a:t>
            </a:r>
          </a:p>
        </p:txBody>
      </p:sp>
      <p:sp>
        <p:nvSpPr>
          <p:cNvPr id="9" name="TextBox 8"/>
          <p:cNvSpPr txBox="1"/>
          <p:nvPr/>
        </p:nvSpPr>
        <p:spPr>
          <a:xfrm>
            <a:off x="640080" y="1508760"/>
            <a:ext cx="10911535" cy="1965960"/>
          </a:xfrm>
          <a:prstGeom prst="rect">
            <a:avLst/>
          </a:prstGeom>
          <a:noFill/>
        </p:spPr>
        <p:txBody>
          <a:bodyPr wrap="square" lIns="0" rIns="0" tIns="0" bIns="0">
            <a:noAutofit/>
          </a:bodyPr>
          <a:lstStyle/>
          <a:p>
            <a:pPr>
              <a:lnSpc>
                <a:spcPct val="120000"/>
              </a:lnSpc>
            </a:pPr>
            <a:r>
              <a:rPr sz="1600" b="0" i="0">
                <a:solidFill>
                  <a:srgbClr val="FFFFFF"/>
                </a:solidFill>
                <a:latin typeface="Calibri"/>
              </a:rPr>
              <a:t>The latent fault problem is one of the most important open challenges in hardware verification. A fault is latent when it exists in the RTL but the current test suite does not exercise the conditions that would expose it. This is dangerous because the chip appears to pass all tests, gets signed off, goes to fabrication, and then fails in the field when real workloads hit the fault condition. Our system is the first to systematically detect and flag simulation-passing fault variants in an NN accelerator context, correctly identifying all 33 latent records in our dataset.</a:t>
            </a:r>
          </a:p>
        </p:txBody>
      </p:sp>
      <p:sp>
        <p:nvSpPr>
          <p:cNvPr id="10" name="TextBox 9"/>
          <p:cNvSpPr txBox="1"/>
          <p:nvPr/>
        </p:nvSpPr>
        <p:spPr>
          <a:xfrm>
            <a:off x="640080" y="3474720"/>
            <a:ext cx="10911535" cy="2971800"/>
          </a:xfrm>
          <a:prstGeom prst="rect">
            <a:avLst/>
          </a:prstGeom>
          <a:noFill/>
        </p:spPr>
        <p:txBody>
          <a:bodyPr wrap="square" lIns="0" rIns="0" tIns="0" bIns="0">
            <a:noAutofit/>
          </a:bodyPr>
          <a:lstStyle/>
          <a:p>
            <a:pPr>
              <a:spcAft>
                <a:spcPts val="1000"/>
              </a:spcAft>
            </a:pPr>
            <a:r>
              <a:rPr sz="1450" b="1" i="0">
                <a:solidFill>
                  <a:srgbClr val="F0A500"/>
                </a:solidFill>
                <a:latin typeface="Calibri"/>
              </a:rPr>
              <a:t>•  </a:t>
            </a:r>
            <a:r>
              <a:rPr sz="1450" b="0" i="0">
                <a:solidFill>
                  <a:srgbClr val="FFFFFF"/>
                </a:solidFill>
                <a:latin typeface="Calibri"/>
              </a:rPr>
              <a:t>A green checkmark in a regression report is not proof of correctness — it is only proof that the tests you happened to run did not find a problem.</a:t>
            </a:r>
          </a:p>
          <a:p>
            <a:pPr>
              <a:spcAft>
                <a:spcPts val="1000"/>
              </a:spcAft>
            </a:pPr>
            <a:r>
              <a:rPr sz="1450" b="1" i="0">
                <a:solidFill>
                  <a:srgbClr val="F0A500"/>
                </a:solidFill>
                <a:latin typeface="Calibri"/>
              </a:rPr>
              <a:t>•  </a:t>
            </a:r>
            <a:r>
              <a:rPr sz="1450" b="0" i="0">
                <a:solidFill>
                  <a:srgbClr val="FFFFFF"/>
                </a:solidFill>
                <a:latin typeface="Calibri"/>
              </a:rPr>
              <a:t>Our latent_fault cluster turns that blind spot into an explicit, reviewable list instead of a silent gap in coverage.</a:t>
            </a:r>
          </a:p>
          <a:p>
            <a:pPr>
              <a:spcAft>
                <a:spcPts val="1000"/>
              </a:spcAft>
            </a:pPr>
            <a:r>
              <a:rPr sz="1450" b="1" i="0">
                <a:solidFill>
                  <a:srgbClr val="F0A500"/>
                </a:solidFill>
                <a:latin typeface="Calibri"/>
              </a:rPr>
              <a:t>•  </a:t>
            </a:r>
            <a:r>
              <a:rPr sz="1450" b="0" i="0">
                <a:solidFill>
                  <a:srgbClr val="FFFFFF"/>
                </a:solidFill>
                <a:latin typeface="Calibri"/>
              </a:rPr>
              <a:t>The recommended fix is always the same in spirit: increase N, widen input magnitudes, or apply formal verification to exercise the specific boundary the current tests miss.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DISCUSSION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Honest Limitations</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36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800"/>
              </a:spcAft>
            </a:pPr>
            <a:r>
              <a:rPr sz="1300" b="1" i="0">
                <a:solidFill>
                  <a:srgbClr val="F0A500"/>
                </a:solidFill>
                <a:latin typeface="Calibri"/>
              </a:rPr>
              <a:t>•  </a:t>
            </a:r>
            <a:r>
              <a:rPr sz="1300" b="0" i="0">
                <a:solidFill>
                  <a:srgbClr val="FFFFFF"/>
                </a:solidFill>
                <a:latin typeface="Calibri"/>
              </a:rPr>
              <a:t>The RTL under test is a deliberately small 4x4 MAC array built for this project, not real production silicon like NVDLA or Gemmini, so absolute timing and area numbers do not transfer directly.</a:t>
            </a:r>
          </a:p>
          <a:p>
            <a:pPr>
              <a:spcAft>
                <a:spcPts val="800"/>
              </a:spcAft>
            </a:pPr>
            <a:r>
              <a:rPr sz="1300" b="1" i="0">
                <a:solidFill>
                  <a:srgbClr val="F0A500"/>
                </a:solidFill>
                <a:latin typeface="Calibri"/>
              </a:rPr>
              <a:t>•  </a:t>
            </a:r>
            <a:r>
              <a:rPr sz="1300" b="0" i="0">
                <a:solidFill>
                  <a:srgbClr val="FFFFFF"/>
                </a:solidFill>
                <a:latin typeface="Calibri"/>
              </a:rPr>
              <a:t>The 45-minutes-per-cluster manual baseline is a reasonable industry estimate, not a number we measured by timing real engineers, so the exact speedup multiplier should be read as directional rather than precise.</a:t>
            </a:r>
          </a:p>
          <a:p>
            <a:pPr>
              <a:spcAft>
                <a:spcPts val="800"/>
              </a:spcAft>
            </a:pPr>
            <a:r>
              <a:rPr sz="1300" b="1" i="0">
                <a:solidFill>
                  <a:srgbClr val="F0A500"/>
                </a:solidFill>
                <a:latin typeface="Calibri"/>
              </a:rPr>
              <a:t>•  </a:t>
            </a:r>
            <a:r>
              <a:rPr sz="1300" b="0" i="0">
                <a:solidFill>
                  <a:srgbClr val="FFFFFF"/>
                </a:solidFill>
                <a:latin typeface="Calibri"/>
              </a:rPr>
              <a:t>The current fault set covers no timing-related bugs at all — no setup/hold violations, no clock-domain-crossing issues, no pipeline hazards — because our RTL is a single-clock synchronous design.</a:t>
            </a:r>
          </a:p>
          <a:p>
            <a:pPr>
              <a:spcAft>
                <a:spcPts val="800"/>
              </a:spcAft>
            </a:pPr>
            <a:r>
              <a:rPr sz="1300" b="1" i="0">
                <a:solidFill>
                  <a:srgbClr val="F0A500"/>
                </a:solidFill>
                <a:latin typeface="Calibri"/>
              </a:rPr>
              <a:t>•  </a:t>
            </a:r>
            <a:r>
              <a:rPr sz="1300" b="0" i="0">
                <a:solidFill>
                  <a:srgbClr val="FFFFFF"/>
                </a:solidFill>
                <a:latin typeface="Calibri"/>
              </a:rPr>
              <a:t>Memory-system faults such as wrong addressing, DMA errors, or arbiter starvation are similarly out of scope, since mem_arbiter.sv was not a target of fault injection in this round.</a:t>
            </a:r>
          </a:p>
          <a:p>
            <a:pPr>
              <a:spcAft>
                <a:spcPts val="800"/>
              </a:spcAft>
            </a:pPr>
            <a:r>
              <a:rPr sz="1300" b="1" i="0">
                <a:solidFill>
                  <a:srgbClr val="F0A500"/>
                </a:solidFill>
                <a:latin typeface="Calibri"/>
              </a:rPr>
              <a:t>•  </a:t>
            </a:r>
            <a:r>
              <a:rPr sz="1300" b="1" i="0">
                <a:solidFill>
                  <a:srgbClr val="F0A500"/>
                </a:solidFill>
                <a:latin typeface="Calibri"/>
              </a:rPr>
              <a:t>255 records</a:t>
            </a:r>
            <a:r>
              <a:rPr sz="1300" b="0" i="0">
                <a:solidFill>
                  <a:srgbClr val="FFFFFF"/>
                </a:solidFill>
                <a:latin typeface="Calibri"/>
              </a:rPr>
              <a:t> is enough to demonstrate the method convincingly, but it is orders of magnitude smaller than the failure volume a real tapeout regression would generate.</a:t>
            </a:r>
          </a:p>
          <a:p>
            <a:pPr>
              <a:spcAft>
                <a:spcPts val="800"/>
              </a:spcAft>
            </a:pPr>
            <a:r>
              <a:rPr sz="1300" b="1" i="0">
                <a:solidFill>
                  <a:srgbClr val="F0A500"/>
                </a:solidFill>
                <a:latin typeface="Calibri"/>
              </a:rPr>
              <a:t>•  </a:t>
            </a:r>
            <a:r>
              <a:rPr sz="1300" b="0" i="0">
                <a:solidFill>
                  <a:srgbClr val="FFFFFF"/>
                </a:solidFill>
                <a:latin typeface="Calibri"/>
              </a:rPr>
              <a:t>There is an element of circularity in the accuracy number: the rule-based clusterer's rules were written by looking at exactly these 13 fault types, so </a:t>
            </a:r>
            <a:r>
              <a:rPr sz="1300" b="1" i="0">
                <a:solidFill>
                  <a:srgbClr val="F0A500"/>
                </a:solidFill>
                <a:latin typeface="Calibri"/>
              </a:rPr>
              <a:t>96.5%</a:t>
            </a:r>
            <a:r>
              <a:rPr sz="1300" b="0" i="0">
                <a:solidFill>
                  <a:srgbClr val="FFFFFF"/>
                </a:solidFill>
                <a:latin typeface="Calibri"/>
              </a:rPr>
              <a:t> accuracy should not be read as evidence the rules would generalize to an unseen fault class without modification.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DISCUSSION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Future Work</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37 / 40</a:t>
            </a:r>
          </a:p>
        </p:txBody>
      </p:sp>
      <p:sp>
        <p:nvSpPr>
          <p:cNvPr id="9" name="Rectangle 8"/>
          <p:cNvSpPr/>
          <p:nvPr/>
        </p:nvSpPr>
        <p:spPr>
          <a:xfrm>
            <a:off x="640080" y="1508760"/>
            <a:ext cx="3454298" cy="50292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08760"/>
            <a:ext cx="3234842" cy="502920"/>
          </a:xfrm>
          <a:prstGeom prst="rect">
            <a:avLst/>
          </a:prstGeom>
          <a:noFill/>
        </p:spPr>
        <p:txBody>
          <a:bodyPr wrap="square" anchor="ctr" lIns="0" rIns="0" tIns="0" bIns="0">
            <a:noAutofit/>
          </a:bodyPr>
          <a:lstStyle/>
          <a:p>
            <a:r>
              <a:rPr sz="1400" b="1" i="0">
                <a:solidFill>
                  <a:srgbClr val="F0A500"/>
                </a:solidFill>
                <a:latin typeface="Calibri"/>
              </a:rPr>
              <a:t>Short Term (1-3 mo)</a:t>
            </a:r>
          </a:p>
        </p:txBody>
      </p:sp>
      <p:sp>
        <p:nvSpPr>
          <p:cNvPr id="11" name="TextBox 10"/>
          <p:cNvSpPr txBox="1"/>
          <p:nvPr/>
        </p:nvSpPr>
        <p:spPr>
          <a:xfrm>
            <a:off x="685800" y="2148840"/>
            <a:ext cx="3362858" cy="4114800"/>
          </a:xfrm>
          <a:prstGeom prst="rect">
            <a:avLst/>
          </a:prstGeom>
          <a:noFill/>
        </p:spPr>
        <p:txBody>
          <a:bodyPr wrap="square" lIns="0" rIns="0" tIns="0" bIns="0">
            <a:noAutofit/>
          </a:bodyPr>
          <a:lstStyle/>
          <a:p>
            <a:pPr>
              <a:spcAft>
                <a:spcPts val="700"/>
              </a:spcAft>
            </a:pPr>
            <a:r>
              <a:rPr sz="1200" b="1" i="0">
                <a:solidFill>
                  <a:srgbClr val="F0A500"/>
                </a:solidFill>
                <a:latin typeface="Calibri"/>
              </a:rPr>
              <a:t>•  </a:t>
            </a:r>
            <a:r>
              <a:rPr sz="1200" b="0" i="0">
                <a:solidFill>
                  <a:srgbClr val="FFFFFF"/>
                </a:solidFill>
                <a:latin typeface="Calibri"/>
              </a:rPr>
              <a:t>Porting to a real open-source accelerator like Gemmini or NVDLA would test whether our clustering rules and features generalize beyond our own 4x4 toy design.</a:t>
            </a:r>
          </a:p>
          <a:p>
            <a:pPr>
              <a:spcAft>
                <a:spcPts val="700"/>
              </a:spcAft>
            </a:pPr>
            <a:r>
              <a:rPr sz="1200" b="1" i="0">
                <a:solidFill>
                  <a:srgbClr val="F0A500"/>
                </a:solidFill>
                <a:latin typeface="Calibri"/>
              </a:rPr>
              <a:t>•  </a:t>
            </a:r>
            <a:r>
              <a:rPr sz="1200" b="0" i="0">
                <a:solidFill>
                  <a:srgbClr val="FFFFFF"/>
                </a:solidFill>
                <a:latin typeface="Calibri"/>
              </a:rPr>
              <a:t>Systematic mutation testing — generating 100+ faults automatically instead of 13 hand-picked ones — would stress-test whether the rule-based accuracy holds at scale.</a:t>
            </a:r>
          </a:p>
          <a:p>
            <a:pPr>
              <a:spcAft>
                <a:spcPts val="700"/>
              </a:spcAft>
            </a:pPr>
            <a:r>
              <a:rPr sz="1200" b="1" i="0">
                <a:solidFill>
                  <a:srgbClr val="F0A500"/>
                </a:solidFill>
                <a:latin typeface="Calibri"/>
              </a:rPr>
              <a:t>•  </a:t>
            </a:r>
            <a:r>
              <a:rPr sz="1200" b="0" i="0">
                <a:solidFill>
                  <a:srgbClr val="FFFFFF"/>
                </a:solidFill>
                <a:latin typeface="Calibri"/>
              </a:rPr>
              <a:t>A small user study timing real verification engineers on this failure set would replace our estimated manual baseline with a measured one.</a:t>
            </a:r>
          </a:p>
          <a:p>
            <a:pPr>
              <a:spcAft>
                <a:spcPts val="700"/>
              </a:spcAft>
            </a:pPr>
            <a:r>
              <a:rPr sz="1200" b="1" i="0">
                <a:solidFill>
                  <a:srgbClr val="F0A500"/>
                </a:solidFill>
                <a:latin typeface="Calibri"/>
              </a:rPr>
              <a:t>•  </a:t>
            </a:r>
            <a:r>
              <a:rPr sz="1200" b="0" i="0">
                <a:solidFill>
                  <a:srgbClr val="FFFFFF"/>
                </a:solidFill>
                <a:latin typeface="Calibri"/>
              </a:rPr>
              <a:t>Replacing the 45-minute estimate with real timing data is the single change most likely to affect the headline speedup number.</a:t>
            </a:r>
          </a:p>
        </p:txBody>
      </p:sp>
      <p:sp>
        <p:nvSpPr>
          <p:cNvPr id="12" name="Rectangle 11"/>
          <p:cNvSpPr/>
          <p:nvPr/>
        </p:nvSpPr>
        <p:spPr>
          <a:xfrm>
            <a:off x="4368698" y="1508760"/>
            <a:ext cx="3454298" cy="50292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8426" y="1508760"/>
            <a:ext cx="3234842" cy="502920"/>
          </a:xfrm>
          <a:prstGeom prst="rect">
            <a:avLst/>
          </a:prstGeom>
          <a:noFill/>
        </p:spPr>
        <p:txBody>
          <a:bodyPr wrap="square" anchor="ctr" lIns="0" rIns="0" tIns="0" bIns="0">
            <a:noAutofit/>
          </a:bodyPr>
          <a:lstStyle/>
          <a:p>
            <a:r>
              <a:rPr sz="1400" b="1" i="0">
                <a:solidFill>
                  <a:srgbClr val="F0A500"/>
                </a:solidFill>
                <a:latin typeface="Calibri"/>
              </a:rPr>
              <a:t>Medium Term (3-6 mo)</a:t>
            </a:r>
          </a:p>
        </p:txBody>
      </p:sp>
      <p:sp>
        <p:nvSpPr>
          <p:cNvPr id="14" name="TextBox 13"/>
          <p:cNvSpPr txBox="1"/>
          <p:nvPr/>
        </p:nvSpPr>
        <p:spPr>
          <a:xfrm>
            <a:off x="4414418" y="2148840"/>
            <a:ext cx="3362858" cy="4114800"/>
          </a:xfrm>
          <a:prstGeom prst="rect">
            <a:avLst/>
          </a:prstGeom>
          <a:noFill/>
        </p:spPr>
        <p:txBody>
          <a:bodyPr wrap="square" lIns="0" rIns="0" tIns="0" bIns="0">
            <a:noAutofit/>
          </a:bodyPr>
          <a:lstStyle/>
          <a:p>
            <a:pPr>
              <a:spcAft>
                <a:spcPts val="700"/>
              </a:spcAft>
            </a:pPr>
            <a:r>
              <a:rPr sz="1200" b="1" i="0">
                <a:solidFill>
                  <a:srgbClr val="F0A500"/>
                </a:solidFill>
                <a:latin typeface="Calibri"/>
              </a:rPr>
              <a:t>•  </a:t>
            </a:r>
            <a:r>
              <a:rPr sz="1200" b="0" i="0">
                <a:solidFill>
                  <a:srgbClr val="FFFFFF"/>
                </a:solidFill>
                <a:latin typeface="Calibri"/>
              </a:rPr>
              <a:t>Timing fault detection via waveform analysis would extend the VCD parser beyond first-divergence-cycle into a real source of new fault categories.</a:t>
            </a:r>
          </a:p>
          <a:p>
            <a:pPr>
              <a:spcAft>
                <a:spcPts val="700"/>
              </a:spcAft>
            </a:pPr>
            <a:r>
              <a:rPr sz="1200" b="1" i="0">
                <a:solidFill>
                  <a:srgbClr val="F0A500"/>
                </a:solidFill>
                <a:latin typeface="Calibri"/>
              </a:rPr>
              <a:t>•  </a:t>
            </a:r>
            <a:r>
              <a:rPr sz="1200" b="0" i="0">
                <a:solidFill>
                  <a:srgbClr val="FFFFFF"/>
                </a:solidFill>
                <a:latin typeface="Calibri"/>
              </a:rPr>
              <a:t>Adding memory-system fault categories would close the gap left by mem_arbiter.sv never having been a fault-injection target.</a:t>
            </a:r>
          </a:p>
          <a:p>
            <a:pPr>
              <a:spcAft>
                <a:spcPts val="700"/>
              </a:spcAft>
            </a:pPr>
            <a:r>
              <a:rPr sz="1200" b="1" i="0">
                <a:solidFill>
                  <a:srgbClr val="F0A500"/>
                </a:solidFill>
                <a:latin typeface="Calibri"/>
              </a:rPr>
              <a:t>•  </a:t>
            </a:r>
            <a:r>
              <a:rPr sz="1200" b="0" i="0">
                <a:solidFill>
                  <a:srgbClr val="FFFFFF"/>
                </a:solidFill>
                <a:latin typeface="Calibri"/>
              </a:rPr>
              <a:t>Testing on a second, structurally different design would show whether the 13-feature schema is accelerator-specific or genuinely general-purpose.</a:t>
            </a:r>
          </a:p>
          <a:p>
            <a:pPr>
              <a:spcAft>
                <a:spcPts val="700"/>
              </a:spcAft>
            </a:pPr>
            <a:r>
              <a:rPr sz="1200" b="1" i="0">
                <a:solidFill>
                  <a:srgbClr val="F0A500"/>
                </a:solidFill>
                <a:latin typeface="Calibri"/>
              </a:rPr>
              <a:t>•  </a:t>
            </a:r>
            <a:r>
              <a:rPr sz="1200" b="0" i="0">
                <a:solidFill>
                  <a:srgbClr val="FFFFFF"/>
                </a:solidFill>
                <a:latin typeface="Calibri"/>
              </a:rPr>
              <a:t>An ablation comparing Claude against GPT-4 and Llama would clarify how much of triage quality is model-specific versus pipeline-specific.</a:t>
            </a:r>
          </a:p>
        </p:txBody>
      </p:sp>
      <p:sp>
        <p:nvSpPr>
          <p:cNvPr id="15" name="Rectangle 14"/>
          <p:cNvSpPr/>
          <p:nvPr/>
        </p:nvSpPr>
        <p:spPr>
          <a:xfrm>
            <a:off x="8097316" y="1508760"/>
            <a:ext cx="3454298" cy="50292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07044" y="1508760"/>
            <a:ext cx="3234842" cy="502920"/>
          </a:xfrm>
          <a:prstGeom prst="rect">
            <a:avLst/>
          </a:prstGeom>
          <a:noFill/>
        </p:spPr>
        <p:txBody>
          <a:bodyPr wrap="square" anchor="ctr" lIns="0" rIns="0" tIns="0" bIns="0">
            <a:noAutofit/>
          </a:bodyPr>
          <a:lstStyle/>
          <a:p>
            <a:r>
              <a:rPr sz="1400" b="1" i="0">
                <a:solidFill>
                  <a:srgbClr val="F0A500"/>
                </a:solidFill>
                <a:latin typeface="Calibri"/>
              </a:rPr>
              <a:t>Long Term (6-12 mo)</a:t>
            </a:r>
          </a:p>
        </p:txBody>
      </p:sp>
      <p:sp>
        <p:nvSpPr>
          <p:cNvPr id="17" name="TextBox 16"/>
          <p:cNvSpPr txBox="1"/>
          <p:nvPr/>
        </p:nvSpPr>
        <p:spPr>
          <a:xfrm>
            <a:off x="8143036" y="2148840"/>
            <a:ext cx="3362858" cy="4114800"/>
          </a:xfrm>
          <a:prstGeom prst="rect">
            <a:avLst/>
          </a:prstGeom>
          <a:noFill/>
        </p:spPr>
        <p:txBody>
          <a:bodyPr wrap="square" lIns="0" rIns="0" tIns="0" bIns="0">
            <a:noAutofit/>
          </a:bodyPr>
          <a:lstStyle/>
          <a:p>
            <a:pPr>
              <a:spcAft>
                <a:spcPts val="700"/>
              </a:spcAft>
            </a:pPr>
            <a:r>
              <a:rPr sz="1200" b="1" i="0">
                <a:solidFill>
                  <a:srgbClr val="F0A500"/>
                </a:solidFill>
                <a:latin typeface="Calibri"/>
              </a:rPr>
              <a:t>•  </a:t>
            </a:r>
            <a:r>
              <a:rPr sz="1200" b="0" i="0">
                <a:solidFill>
                  <a:srgbClr val="FFFFFF"/>
                </a:solidFill>
                <a:latin typeface="Calibri"/>
              </a:rPr>
              <a:t>A paper submission to a venue like ASP-DAC 2027 or DATE 2027 would subject the methodology to peer review beyond this internal benchmark.</a:t>
            </a:r>
          </a:p>
          <a:p>
            <a:pPr>
              <a:spcAft>
                <a:spcPts val="700"/>
              </a:spcAft>
            </a:pPr>
            <a:r>
              <a:rPr sz="1200" b="1" i="0">
                <a:solidFill>
                  <a:srgbClr val="F0A500"/>
                </a:solidFill>
                <a:latin typeface="Calibri"/>
              </a:rPr>
              <a:t>•  </a:t>
            </a:r>
            <a:r>
              <a:rPr sz="1200" b="0" i="0">
                <a:solidFill>
                  <a:srgbClr val="FFFFFF"/>
                </a:solidFill>
                <a:latin typeface="Calibri"/>
              </a:rPr>
              <a:t>A VS Code or EDA-tool plugin would put triage hints directly in front of engineers the moment they see a failing test, instead of requiring a separate dashboard.</a:t>
            </a:r>
          </a:p>
          <a:p>
            <a:pPr>
              <a:spcAft>
                <a:spcPts val="700"/>
              </a:spcAft>
            </a:pPr>
            <a:r>
              <a:rPr sz="1200" b="1" i="0">
                <a:solidFill>
                  <a:srgbClr val="F0A500"/>
                </a:solidFill>
                <a:latin typeface="Calibri"/>
              </a:rPr>
              <a:t>•  </a:t>
            </a:r>
            <a:r>
              <a:rPr sz="1200" b="0" i="0">
                <a:solidFill>
                  <a:srgbClr val="FFFFFF"/>
                </a:solidFill>
                <a:latin typeface="Calibri"/>
              </a:rPr>
              <a:t>Partnering with industry to triage a proprietary failure database would be the real test of whether these results hold outside a controlled academic dataset.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CONCLUSION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Summary of Contributions</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38 / 40</a:t>
            </a:r>
          </a:p>
        </p:txBody>
      </p:sp>
      <p:sp>
        <p:nvSpPr>
          <p:cNvPr id="9" name="TextBox 8"/>
          <p:cNvSpPr txBox="1"/>
          <p:nvPr/>
        </p:nvSpPr>
        <p:spPr>
          <a:xfrm>
            <a:off x="640080" y="1508760"/>
            <a:ext cx="10911535" cy="4892040"/>
          </a:xfrm>
          <a:prstGeom prst="rect">
            <a:avLst/>
          </a:prstGeom>
          <a:noFill/>
        </p:spPr>
        <p:txBody>
          <a:bodyPr wrap="square" lIns="0" rIns="0" tIns="0" bIns="0">
            <a:noAutofit/>
          </a:bodyPr>
          <a:lstStyle/>
          <a:p>
            <a:pPr>
              <a:spcAft>
                <a:spcPts val="800"/>
              </a:spcAft>
            </a:pPr>
            <a:r>
              <a:rPr sz="1300" b="1" i="0">
                <a:solidFill>
                  <a:srgbClr val="F0A500"/>
                </a:solidFill>
                <a:latin typeface="Calibri"/>
              </a:rPr>
              <a:t>•  </a:t>
            </a:r>
            <a:r>
              <a:rPr sz="1300" b="0" i="0">
                <a:solidFill>
                  <a:srgbClr val="FFFFFF"/>
                </a:solidFill>
                <a:latin typeface="Calibri"/>
              </a:rPr>
              <a:t>We built a complete, working, end-to-end agentic AI pipeline for RTL verification triage — not a prototype, but a system that runs unattended from raw simulation logs to a finished dashboard.</a:t>
            </a:r>
          </a:p>
          <a:p>
            <a:pPr>
              <a:spcAft>
                <a:spcPts val="800"/>
              </a:spcAft>
            </a:pPr>
            <a:r>
              <a:rPr sz="1300" b="1" i="0">
                <a:solidFill>
                  <a:srgbClr val="F0A500"/>
                </a:solidFill>
                <a:latin typeface="Calibri"/>
              </a:rPr>
              <a:t>•  </a:t>
            </a:r>
            <a:r>
              <a:rPr sz="1300" b="0" i="0">
                <a:solidFill>
                  <a:srgbClr val="FFFFFF"/>
                </a:solidFill>
                <a:latin typeface="Calibri"/>
              </a:rPr>
              <a:t>We release an open-source benchmark dataset of 255 regression records spanning </a:t>
            </a:r>
            <a:r>
              <a:rPr sz="1300" b="1" i="0">
                <a:solidFill>
                  <a:srgbClr val="F0A500"/>
                </a:solidFill>
                <a:latin typeface="Calibri"/>
              </a:rPr>
              <a:t>13 fault variants</a:t>
            </a:r>
            <a:r>
              <a:rPr sz="1300" b="0" i="0">
                <a:solidFill>
                  <a:srgbClr val="FFFFFF"/>
                </a:solidFill>
                <a:latin typeface="Calibri"/>
              </a:rPr>
              <a:t> across </a:t>
            </a:r>
            <a:r>
              <a:rPr sz="1300" b="1" i="0">
                <a:solidFill>
                  <a:srgbClr val="F0A500"/>
                </a:solidFill>
                <a:latin typeface="Calibri"/>
              </a:rPr>
              <a:t>9 fault categories</a:t>
            </a:r>
            <a:r>
              <a:rPr sz="1300" b="0" i="0">
                <a:solidFill>
                  <a:srgbClr val="FFFFFF"/>
                </a:solidFill>
                <a:latin typeface="Calibri"/>
              </a:rPr>
              <a:t>, giving other researchers a ready-made testbed for failure-triage methods.</a:t>
            </a:r>
          </a:p>
          <a:p>
            <a:pPr>
              <a:spcAft>
                <a:spcPts val="800"/>
              </a:spcAft>
            </a:pPr>
            <a:r>
              <a:rPr sz="1300" b="1" i="0">
                <a:solidFill>
                  <a:srgbClr val="F0A500"/>
                </a:solidFill>
                <a:latin typeface="Calibri"/>
              </a:rPr>
              <a:t>•  </a:t>
            </a:r>
            <a:r>
              <a:rPr sz="1300" b="0" i="0">
                <a:solidFill>
                  <a:srgbClr val="FFFFFF"/>
                </a:solidFill>
                <a:latin typeface="Calibri"/>
              </a:rPr>
              <a:t>We are, to our knowledge, the first to systematically detect latent faults in an NN accelerator context, correctly flagging all 33 simulation-passing bugs instead of letting them hide behind green checkmarks.</a:t>
            </a:r>
          </a:p>
          <a:p>
            <a:pPr>
              <a:spcAft>
                <a:spcPts val="800"/>
              </a:spcAft>
            </a:pPr>
            <a:r>
              <a:rPr sz="1300" b="1" i="0">
                <a:solidFill>
                  <a:srgbClr val="F0A500"/>
                </a:solidFill>
                <a:latin typeface="Calibri"/>
              </a:rPr>
              <a:t>•  </a:t>
            </a:r>
            <a:r>
              <a:rPr sz="1300" b="0" i="0">
                <a:solidFill>
                  <a:srgbClr val="FFFFFF"/>
                </a:solidFill>
                <a:latin typeface="Calibri"/>
              </a:rPr>
              <a:t>We back every claim with a measured quantitative evaluation — </a:t>
            </a:r>
            <a:r>
              <a:rPr sz="1300" b="1" i="0">
                <a:solidFill>
                  <a:srgbClr val="F0A500"/>
                </a:solidFill>
                <a:latin typeface="Calibri"/>
              </a:rPr>
              <a:t>96.5%</a:t>
            </a:r>
            <a:r>
              <a:rPr sz="1300" b="0" i="0">
                <a:solidFill>
                  <a:srgbClr val="FFFFFF"/>
                </a:solidFill>
                <a:latin typeface="Calibri"/>
              </a:rPr>
              <a:t> classification accuracy and a </a:t>
            </a:r>
            <a:r>
              <a:rPr sz="1300" b="1" i="0">
                <a:solidFill>
                  <a:srgbClr val="F0A500"/>
                </a:solidFill>
                <a:latin typeface="Calibri"/>
              </a:rPr>
              <a:t>293x</a:t>
            </a:r>
            <a:r>
              <a:rPr sz="1300" b="0" i="0">
                <a:solidFill>
                  <a:srgbClr val="FFFFFF"/>
                </a:solidFill>
                <a:latin typeface="Calibri"/>
              </a:rPr>
              <a:t> speedup over a defined manual baseline — rather than qualitative impressions.</a:t>
            </a:r>
          </a:p>
          <a:p>
            <a:pPr>
              <a:spcAft>
                <a:spcPts val="800"/>
              </a:spcAft>
            </a:pPr>
            <a:r>
              <a:rPr sz="1300" b="1" i="0">
                <a:solidFill>
                  <a:srgbClr val="F0A500"/>
                </a:solidFill>
                <a:latin typeface="Calibri"/>
              </a:rPr>
              <a:t>•  </a:t>
            </a:r>
            <a:r>
              <a:rPr sz="1300" b="0" i="0">
                <a:solidFill>
                  <a:srgbClr val="FFFFFF"/>
                </a:solidFill>
                <a:latin typeface="Calibri"/>
              </a:rPr>
              <a:t>We report an honest ablation showing rule-based and LLM-augmented triage reach identical accuracy, and we explain precisely where the LLM's real value lies instead of overselling it.</a:t>
            </a:r>
          </a:p>
          <a:p>
            <a:pPr>
              <a:spcAft>
                <a:spcPts val="800"/>
              </a:spcAft>
            </a:pPr>
            <a:r>
              <a:rPr sz="1300" b="1" i="0">
                <a:solidFill>
                  <a:srgbClr val="F0A500"/>
                </a:solidFill>
                <a:latin typeface="Calibri"/>
              </a:rPr>
              <a:t>•  </a:t>
            </a:r>
            <a:r>
              <a:rPr sz="1300" b="0" i="0">
                <a:solidFill>
                  <a:srgbClr val="FFFFFF"/>
                </a:solidFill>
                <a:latin typeface="Calibri"/>
              </a:rPr>
              <a:t>The entire project is fully reproducible: Docker packaging, a 131-test pytest suite, and a one-command pipeline mean any of these results can be independently verified.</a:t>
            </a:r>
          </a:p>
          <a:p>
            <a:pPr>
              <a:spcAft>
                <a:spcPts val="800"/>
              </a:spcAft>
            </a:pPr>
            <a:r>
              <a:rPr sz="1300" b="1" i="0">
                <a:solidFill>
                  <a:srgbClr val="F0A500"/>
                </a:solidFill>
                <a:latin typeface="Calibri"/>
              </a:rPr>
              <a:t>•  </a:t>
            </a:r>
            <a:r>
              <a:rPr sz="1300" b="0" i="0">
                <a:solidFill>
                  <a:srgbClr val="FFFFFF"/>
                </a:solidFill>
                <a:latin typeface="Calibri"/>
              </a:rPr>
              <a:t>Zero test failures across all 20 development sessions demonstrate that speed of iteration and correctness were maintained together, not traded off against each other.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635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8229600" cy="274320"/>
          </a:xfrm>
          <a:prstGeom prst="rect">
            <a:avLst/>
          </a:prstGeom>
          <a:noFill/>
        </p:spPr>
        <p:txBody>
          <a:bodyPr wrap="square" lIns="0" rIns="0" tIns="0" bIns="0">
            <a:noAutofit/>
          </a:bodyPr>
          <a:lstStyle/>
          <a:p>
            <a:pPr>
              <a:spcAft>
                <a:spcPts val="0"/>
              </a:spcAft>
            </a:pPr>
            <a:r>
              <a:rPr sz="1200" b="1" i="0">
                <a:solidFill>
                  <a:srgbClr val="F0A500"/>
                </a:solidFill>
                <a:latin typeface="Calibri"/>
              </a:rPr>
              <a:t>CONCLUSION</a:t>
            </a:r>
          </a:p>
        </p:txBody>
      </p:sp>
      <p:sp>
        <p:nvSpPr>
          <p:cNvPr id="4" name="TextBox 3"/>
          <p:cNvSpPr txBox="1"/>
          <p:nvPr/>
        </p:nvSpPr>
        <p:spPr>
          <a:xfrm>
            <a:off x="640080" y="530352"/>
            <a:ext cx="10911535" cy="822960"/>
          </a:xfrm>
          <a:prstGeom prst="rect">
            <a:avLst/>
          </a:prstGeom>
          <a:noFill/>
        </p:spPr>
        <p:txBody>
          <a:bodyPr wrap="square" lIns="0" rIns="0" tIns="0" bIns="0">
            <a:noAutofit/>
          </a:bodyPr>
          <a:lstStyle/>
          <a:p>
            <a:r>
              <a:rPr sz="3000" b="1" i="0">
                <a:solidFill>
                  <a:srgbClr val="FFFFFF"/>
                </a:solidFill>
                <a:latin typeface="Calibri"/>
              </a:rPr>
              <a:t>Open Source Release</a:t>
            </a:r>
          </a:p>
        </p:txBody>
      </p:sp>
      <p:sp>
        <p:nvSpPr>
          <p:cNvPr id="5" name="Rectangle 4"/>
          <p:cNvSpPr/>
          <p:nvPr/>
        </p:nvSpPr>
        <p:spPr>
          <a:xfrm>
            <a:off x="640080" y="1234440"/>
            <a:ext cx="1005840" cy="381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528816"/>
            <a:ext cx="10911535" cy="12700"/>
          </a:xfrm>
          <a:prstGeom prst="rect">
            <a:avLst/>
          </a:prstGeom>
          <a:solidFill>
            <a:srgbClr val="28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65392"/>
            <a:ext cx="5486400" cy="256032"/>
          </a:xfrm>
          <a:prstGeom prst="rect">
            <a:avLst/>
          </a:prstGeom>
          <a:noFill/>
        </p:spPr>
        <p:txBody>
          <a:bodyPr wrap="square" lIns="0" rIns="0" tIns="0" bIns="0">
            <a:noAutofit/>
          </a:bodyPr>
          <a:lstStyle/>
          <a:p>
            <a:r>
              <a:rPr sz="900" b="0" i="0">
                <a:solidFill>
                  <a:srgbClr val="C7C9D9"/>
                </a:solidFill>
                <a:latin typeface="Calibri"/>
              </a:rPr>
              <a:t>NN Accelerator Triage  |  Agentic AI for RTL Verification</a:t>
            </a:r>
          </a:p>
        </p:txBody>
      </p:sp>
      <p:sp>
        <p:nvSpPr>
          <p:cNvPr id="8" name="TextBox 7"/>
          <p:cNvSpPr txBox="1"/>
          <p:nvPr/>
        </p:nvSpPr>
        <p:spPr>
          <a:xfrm>
            <a:off x="9722815" y="6565392"/>
            <a:ext cx="1828800" cy="256032"/>
          </a:xfrm>
          <a:prstGeom prst="rect">
            <a:avLst/>
          </a:prstGeom>
          <a:noFill/>
        </p:spPr>
        <p:txBody>
          <a:bodyPr wrap="square" lIns="0" rIns="0" tIns="0" bIns="0">
            <a:noAutofit/>
          </a:bodyPr>
          <a:lstStyle/>
          <a:p>
            <a:pPr algn="r"/>
            <a:r>
              <a:rPr sz="900" b="0" i="0">
                <a:solidFill>
                  <a:srgbClr val="C7C9D9"/>
                </a:solidFill>
                <a:latin typeface="Calibri"/>
              </a:rPr>
              <a:t>39 / 40</a:t>
            </a:r>
          </a:p>
        </p:txBody>
      </p:sp>
      <p:sp>
        <p:nvSpPr>
          <p:cNvPr id="9" name="TextBox 8"/>
          <p:cNvSpPr txBox="1"/>
          <p:nvPr/>
        </p:nvSpPr>
        <p:spPr>
          <a:xfrm>
            <a:off x="640080" y="1508760"/>
            <a:ext cx="10911535" cy="777240"/>
          </a:xfrm>
          <a:prstGeom prst="rect">
            <a:avLst/>
          </a:prstGeom>
          <a:noFill/>
        </p:spPr>
        <p:txBody>
          <a:bodyPr wrap="square" lIns="0" rIns="0" tIns="0" bIns="0">
            <a:noAutofit/>
          </a:bodyPr>
          <a:lstStyle/>
          <a:p>
            <a:pPr>
              <a:lnSpc>
                <a:spcPct val="115000"/>
              </a:lnSpc>
            </a:pPr>
            <a:r>
              <a:rPr sz="1400" b="0" i="0">
                <a:solidFill>
                  <a:srgbClr val="C7C9D9"/>
                </a:solidFill>
                <a:latin typeface="Calibri"/>
              </a:rPr>
              <a:t>Every artifact described in this presentation is public on GitHub under a single repository, with no private dependencies or held-back components. The goal is that a stranger can clone the repo, run one Docker command, and reproduce every number in this deck.</a:t>
            </a:r>
          </a:p>
        </p:txBody>
      </p:sp>
      <p:sp>
        <p:nvSpPr>
          <p:cNvPr id="10" name="TextBox 9"/>
          <p:cNvSpPr txBox="1"/>
          <p:nvPr/>
        </p:nvSpPr>
        <p:spPr>
          <a:xfrm>
            <a:off x="640080" y="2377440"/>
            <a:ext cx="10911535" cy="4023360"/>
          </a:xfrm>
          <a:prstGeom prst="rect">
            <a:avLst/>
          </a:prstGeom>
          <a:noFill/>
        </p:spPr>
        <p:txBody>
          <a:bodyPr wrap="square" lIns="0" rIns="0" tIns="0" bIns="0">
            <a:noAutofit/>
          </a:bodyPr>
          <a:lstStyle/>
          <a:p>
            <a:pPr>
              <a:spcAft>
                <a:spcPts val="900"/>
              </a:spcAft>
            </a:pPr>
            <a:r>
              <a:rPr sz="1300" b="1" i="0">
                <a:solidFill>
                  <a:srgbClr val="F0A500"/>
                </a:solidFill>
                <a:latin typeface="Calibri"/>
              </a:rPr>
              <a:t>•  Full RTL source:  </a:t>
            </a:r>
            <a:r>
              <a:rPr sz="1300" b="0" i="0">
                <a:solidFill>
                  <a:srgbClr val="FFFFFF"/>
                </a:solidFill>
                <a:latin typeface="Calibri"/>
              </a:rPr>
              <a:t>mac_array, quant_unit, mem_arbiter, control_fsm — every module described in this deck, unmodified from what generated these results.</a:t>
            </a:r>
          </a:p>
          <a:p>
            <a:pPr>
              <a:spcAft>
                <a:spcPts val="900"/>
              </a:spcAft>
            </a:pPr>
            <a:r>
              <a:rPr sz="1300" b="1" i="0">
                <a:solidFill>
                  <a:srgbClr val="F0A500"/>
                </a:solidFill>
                <a:latin typeface="Calibri"/>
              </a:rPr>
              <a:t>•  Fault variants:  </a:t>
            </a:r>
            <a:r>
              <a:rPr sz="1300" b="0" i="0">
                <a:solidFill>
                  <a:srgbClr val="FFFFFF"/>
                </a:solidFill>
                <a:latin typeface="Calibri"/>
              </a:rPr>
              <a:t>All 13, with the generate_faults.py script that produced them, so the injection methodology is auditable, not just the outcomes.</a:t>
            </a:r>
          </a:p>
          <a:p>
            <a:pPr>
              <a:spcAft>
                <a:spcPts val="900"/>
              </a:spcAft>
            </a:pPr>
            <a:r>
              <a:rPr sz="1300" b="1" i="0">
                <a:solidFill>
                  <a:srgbClr val="F0A500"/>
                </a:solidFill>
                <a:latin typeface="Calibri"/>
              </a:rPr>
              <a:t>•  Regression database:  </a:t>
            </a:r>
            <a:r>
              <a:rPr sz="1300" b="0" i="0">
                <a:solidFill>
                  <a:srgbClr val="FFFFFF"/>
                </a:solidFill>
                <a:latin typeface="Calibri"/>
              </a:rPr>
              <a:t>The full 255-record dataset with its JSON schema, ready to re-run through the pipeline or use as a benchmark for other triage methods.</a:t>
            </a:r>
          </a:p>
          <a:p>
            <a:pPr>
              <a:spcAft>
                <a:spcPts val="900"/>
              </a:spcAft>
            </a:pPr>
            <a:r>
              <a:rPr sz="1300" b="1" i="0">
                <a:solidFill>
                  <a:srgbClr val="F0A500"/>
                </a:solidFill>
                <a:latin typeface="Calibri"/>
              </a:rPr>
              <a:t>•  Triage pipeline:  </a:t>
            </a:r>
            <a:r>
              <a:rPr sz="1300" b="0" i="0">
                <a:solidFill>
                  <a:srgbClr val="FFFFFF"/>
                </a:solidFill>
                <a:latin typeface="Calibri"/>
              </a:rPr>
              <a:t>Feature extractor, clusterer, triage agent, RAG store, and debug loop — the complete AI system, not just a script.</a:t>
            </a:r>
          </a:p>
          <a:p>
            <a:pPr>
              <a:spcAft>
                <a:spcPts val="900"/>
              </a:spcAft>
            </a:pPr>
            <a:r>
              <a:rPr sz="1300" b="1" i="0">
                <a:solidFill>
                  <a:srgbClr val="F0A500"/>
                </a:solidFill>
                <a:latin typeface="Calibri"/>
              </a:rPr>
              <a:t>•  Benchmark tooling:  </a:t>
            </a:r>
            <a:r>
              <a:rPr sz="1300" b="0" i="0">
                <a:solidFill>
                  <a:srgbClr val="FFFFFF"/>
                </a:solidFill>
                <a:latin typeface="Calibri"/>
              </a:rPr>
              <a:t>The runner and evaluator that produced every number in this presentation, so the results can be independently reproduced.</a:t>
            </a:r>
          </a:p>
          <a:p>
            <a:pPr>
              <a:spcAft>
                <a:spcPts val="900"/>
              </a:spcAft>
            </a:pPr>
            <a:r>
              <a:rPr sz="1300" b="1" i="0">
                <a:solidFill>
                  <a:srgbClr val="F0A500"/>
                </a:solidFill>
                <a:latin typeface="Calibri"/>
              </a:rPr>
              <a:t>•  Dashboard:  </a:t>
            </a:r>
            <a:r>
              <a:rPr sz="1300" b="0" i="0">
                <a:solidFill>
                  <a:srgbClr val="FFFFFF"/>
                </a:solidFill>
                <a:latin typeface="Calibri"/>
              </a:rPr>
              <a:t>The interactive HTML report generator, self-contained with no server or JS framework required.</a:t>
            </a:r>
          </a:p>
          <a:p>
            <a:pPr>
              <a:spcAft>
                <a:spcPts val="900"/>
              </a:spcAft>
            </a:pPr>
            <a:r>
              <a:rPr sz="1300" b="1" i="0">
                <a:solidFill>
                  <a:srgbClr val="F0A500"/>
                </a:solidFill>
                <a:latin typeface="Calibri"/>
              </a:rPr>
              <a:t>•  Reproducibility:  </a:t>
            </a:r>
            <a:r>
              <a:rPr sz="1300" b="0" i="0">
                <a:solidFill>
                  <a:srgbClr val="FFFFFF"/>
                </a:solidFill>
                <a:latin typeface="Calibri"/>
              </a:rPr>
              <a:t>A Docker setup that takes the project from a clean checkout to a finished dashboard in one command.</a:t>
            </a:r>
          </a:p>
          <a:p>
            <a:pPr>
              <a:spcAft>
                <a:spcPts val="900"/>
              </a:spcAft>
            </a:pPr>
            <a:r>
              <a:rPr sz="1300" b="1" i="0">
                <a:solidFill>
                  <a:srgbClr val="F0A500"/>
                </a:solidFill>
                <a:latin typeface="Calibri"/>
              </a:rPr>
              <a:t>•  Test suite:  </a:t>
            </a:r>
            <a:r>
              <a:rPr sz="1300" b="0" i="0">
                <a:solidFill>
                  <a:srgbClr val="FFFFFF"/>
                </a:solidFill>
                <a:latin typeface="Calibri"/>
              </a:rPr>
              <a:t>All 131 pytest tests that have passed on every one of the 20 development sessions.</a:t>
            </a:r>
          </a:p>
        </p:txBody>
      </p:sp>
      <p:sp>
        <p:nvSpPr>
          <p:cNvPr id="11" name="TextBox 10"/>
          <p:cNvSpPr txBox="1"/>
          <p:nvPr/>
        </p:nvSpPr>
        <p:spPr>
          <a:xfrm>
            <a:off x="640080" y="1261872"/>
            <a:ext cx="10911535" cy="219456"/>
          </a:xfrm>
          <a:prstGeom prst="rect">
            <a:avLst/>
          </a:prstGeom>
          <a:noFill/>
        </p:spPr>
        <p:txBody>
          <a:bodyPr wrap="square" lIns="0" rIns="0" tIns="0" bIns="0">
            <a:noAutofit/>
          </a:bodyPr>
          <a:lstStyle/>
          <a:p>
            <a:r>
              <a:rPr sz="1200" b="0" i="0">
                <a:solidFill>
                  <a:srgbClr val="C7C9D9"/>
                </a:solidFill>
                <a:latin typeface="Calibri"/>
              </a:rPr>
              <a:t>GitHub: </a:t>
            </a:r>
            <a:r>
              <a:rPr sz="1200" b="1" i="0">
                <a:solidFill>
                  <a:srgbClr val="6F9CC4"/>
                </a:solidFill>
                <a:latin typeface="Calibri"/>
              </a:rPr>
              <a:t>https://github.com/Sumedh350/nn-accel-triage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2194560"/>
            <a:ext cx="12191695" cy="50800"/>
          </a:xfrm>
          <a:prstGeom prst="rect">
            <a:avLst/>
          </a:prstGeom>
          <a:solidFill>
            <a:srgbClr val="4A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40"/>
            <a:ext cx="10332720" cy="914400"/>
          </a:xfrm>
          <a:prstGeom prst="rect">
            <a:avLst/>
          </a:prstGeom>
          <a:noFill/>
        </p:spPr>
        <p:txBody>
          <a:bodyPr wrap="square" lIns="0" rIns="0" tIns="0" bIns="0">
            <a:noAutofit/>
          </a:bodyPr>
          <a:lstStyle/>
          <a:p>
            <a:pPr algn="l"/>
            <a:r>
              <a:rPr sz="5400" b="1" i="0">
                <a:solidFill>
                  <a:srgbClr val="FFFFFF"/>
                </a:solidFill>
                <a:latin typeface="Calibri"/>
              </a:rPr>
              <a:t>Questions?</a:t>
            </a:r>
          </a:p>
        </p:txBody>
      </p:sp>
      <p:sp>
        <p:nvSpPr>
          <p:cNvPr id="5" name="TextBox 4"/>
          <p:cNvSpPr txBox="1"/>
          <p:nvPr/>
        </p:nvSpPr>
        <p:spPr>
          <a:xfrm>
            <a:off x="640080" y="2880360"/>
            <a:ext cx="2011680" cy="457200"/>
          </a:xfrm>
          <a:prstGeom prst="rect">
            <a:avLst/>
          </a:prstGeom>
          <a:noFill/>
        </p:spPr>
        <p:txBody>
          <a:bodyPr wrap="square" lIns="0" rIns="0" tIns="0" bIns="0">
            <a:noAutofit/>
          </a:bodyPr>
          <a:lstStyle/>
          <a:p>
            <a:pPr algn="ctr"/>
            <a:r>
              <a:rPr sz="1400" b="1" i="0">
                <a:solidFill>
                  <a:srgbClr val="F0A500"/>
                </a:solidFill>
                <a:latin typeface="Calibri"/>
              </a:rPr>
              <a:t>342x speedup</a:t>
            </a:r>
          </a:p>
        </p:txBody>
      </p:sp>
      <p:sp>
        <p:nvSpPr>
          <p:cNvPr id="6" name="TextBox 5"/>
          <p:cNvSpPr txBox="1"/>
          <p:nvPr/>
        </p:nvSpPr>
        <p:spPr>
          <a:xfrm>
            <a:off x="2865043" y="2880360"/>
            <a:ext cx="2011680" cy="457200"/>
          </a:xfrm>
          <a:prstGeom prst="rect">
            <a:avLst/>
          </a:prstGeom>
          <a:noFill/>
        </p:spPr>
        <p:txBody>
          <a:bodyPr wrap="square" lIns="0" rIns="0" tIns="0" bIns="0">
            <a:noAutofit/>
          </a:bodyPr>
          <a:lstStyle/>
          <a:p>
            <a:pPr algn="ctr"/>
            <a:r>
              <a:rPr sz="1400" b="1" i="0">
                <a:solidFill>
                  <a:srgbClr val="F0A500"/>
                </a:solidFill>
                <a:latin typeface="Calibri"/>
              </a:rPr>
              <a:t>96.5% accuracy</a:t>
            </a:r>
          </a:p>
        </p:txBody>
      </p:sp>
      <p:sp>
        <p:nvSpPr>
          <p:cNvPr id="7" name="TextBox 6"/>
          <p:cNvSpPr txBox="1"/>
          <p:nvPr/>
        </p:nvSpPr>
        <p:spPr>
          <a:xfrm>
            <a:off x="5090007" y="2880360"/>
            <a:ext cx="2011680" cy="457200"/>
          </a:xfrm>
          <a:prstGeom prst="rect">
            <a:avLst/>
          </a:prstGeom>
          <a:noFill/>
        </p:spPr>
        <p:txBody>
          <a:bodyPr wrap="square" lIns="0" rIns="0" tIns="0" bIns="0">
            <a:noAutofit/>
          </a:bodyPr>
          <a:lstStyle/>
          <a:p>
            <a:pPr algn="ctr"/>
            <a:r>
              <a:rPr sz="1400" b="1" i="0">
                <a:solidFill>
                  <a:srgbClr val="F0A500"/>
                </a:solidFill>
                <a:latin typeface="Calibri"/>
              </a:rPr>
              <a:t>131 tests</a:t>
            </a:r>
          </a:p>
        </p:txBody>
      </p:sp>
      <p:sp>
        <p:nvSpPr>
          <p:cNvPr id="8" name="TextBox 7"/>
          <p:cNvSpPr txBox="1"/>
          <p:nvPr/>
        </p:nvSpPr>
        <p:spPr>
          <a:xfrm>
            <a:off x="7314971" y="2880360"/>
            <a:ext cx="2011680" cy="457200"/>
          </a:xfrm>
          <a:prstGeom prst="rect">
            <a:avLst/>
          </a:prstGeom>
          <a:noFill/>
        </p:spPr>
        <p:txBody>
          <a:bodyPr wrap="square" lIns="0" rIns="0" tIns="0" bIns="0">
            <a:noAutofit/>
          </a:bodyPr>
          <a:lstStyle/>
          <a:p>
            <a:pPr algn="ctr"/>
            <a:r>
              <a:rPr sz="1400" b="1" i="0">
                <a:solidFill>
                  <a:srgbClr val="F0A500"/>
                </a:solidFill>
                <a:latin typeface="Calibri"/>
              </a:rPr>
              <a:t>13 fault variants</a:t>
            </a:r>
          </a:p>
        </p:txBody>
      </p:sp>
      <p:sp>
        <p:nvSpPr>
          <p:cNvPr id="9" name="TextBox 8"/>
          <p:cNvSpPr txBox="1"/>
          <p:nvPr/>
        </p:nvSpPr>
        <p:spPr>
          <a:xfrm>
            <a:off x="9539935" y="2880360"/>
            <a:ext cx="2011680" cy="457200"/>
          </a:xfrm>
          <a:prstGeom prst="rect">
            <a:avLst/>
          </a:prstGeom>
          <a:noFill/>
        </p:spPr>
        <p:txBody>
          <a:bodyPr wrap="square" lIns="0" rIns="0" tIns="0" bIns="0">
            <a:noAutofit/>
          </a:bodyPr>
          <a:lstStyle/>
          <a:p>
            <a:pPr algn="ctr"/>
            <a:r>
              <a:rPr sz="1400" b="1" i="0">
                <a:solidFill>
                  <a:srgbClr val="F0A500"/>
                </a:solidFill>
                <a:latin typeface="Calibri"/>
              </a:rPr>
              <a:t>255 records</a:t>
            </a:r>
          </a:p>
        </p:txBody>
      </p:sp>
      <p:sp>
        <p:nvSpPr>
          <p:cNvPr id="10" name="TextBox 9"/>
          <p:cNvSpPr txBox="1"/>
          <p:nvPr/>
        </p:nvSpPr>
        <p:spPr>
          <a:xfrm>
            <a:off x="914400" y="4206240"/>
            <a:ext cx="10332720" cy="457200"/>
          </a:xfrm>
          <a:prstGeom prst="rect">
            <a:avLst/>
          </a:prstGeom>
          <a:noFill/>
        </p:spPr>
        <p:txBody>
          <a:bodyPr wrap="square" lIns="0" rIns="0" tIns="0" bIns="0">
            <a:noAutofit/>
          </a:bodyPr>
          <a:lstStyle/>
          <a:p>
            <a:r>
              <a:rPr sz="1600" b="0" i="0">
                <a:solidFill>
                  <a:srgbClr val="C7C9D9"/>
                </a:solidFill>
                <a:latin typeface="Calibri"/>
              </a:rPr>
              <a:t>GitHub: </a:t>
            </a:r>
            <a:r>
              <a:rPr sz="1600" b="1" i="0">
                <a:solidFill>
                  <a:srgbClr val="6F9CC4"/>
                </a:solidFill>
                <a:latin typeface="Calibri"/>
              </a:rPr>
              <a:t>https://github.com/Sumedh350/nn-accel-triage</a:t>
            </a:r>
          </a:p>
        </p:txBody>
      </p:sp>
      <p:sp>
        <p:nvSpPr>
          <p:cNvPr id="11" name="TextBox 10"/>
          <p:cNvSpPr txBox="1"/>
          <p:nvPr/>
        </p:nvSpPr>
        <p:spPr>
          <a:xfrm>
            <a:off x="914400" y="6309360"/>
            <a:ext cx="10332720" cy="365760"/>
          </a:xfrm>
          <a:prstGeom prst="rect">
            <a:avLst/>
          </a:prstGeom>
          <a:noFill/>
        </p:spPr>
        <p:txBody>
          <a:bodyPr wrap="square" lIns="0" rIns="0" tIns="0" bIns="0">
            <a:noAutofit/>
          </a:bodyPr>
          <a:lstStyle/>
          <a:p>
            <a:r>
              <a:rPr sz="1000" b="0" i="0">
                <a:solidFill>
                  <a:srgbClr val="C7C9D9"/>
                </a:solidFill>
                <a:latin typeface="Calibri"/>
              </a:rPr>
              <a:t>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